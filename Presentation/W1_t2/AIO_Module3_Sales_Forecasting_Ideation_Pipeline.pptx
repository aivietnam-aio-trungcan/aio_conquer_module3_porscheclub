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86" r:id="rId5"/>
    <p:sldId id="292" r:id="rId6"/>
    <p:sldId id="288" r:id="rId7"/>
    <p:sldId id="294" r:id="rId8"/>
    <p:sldId id="296" r:id="rId9"/>
    <p:sldId id="291" r:id="rId10"/>
    <p:sldId id="265" r:id="rId11"/>
    <p:sldId id="279" r:id="rId12"/>
    <p:sldId id="266" r:id="rId13"/>
    <p:sldId id="284"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3" d="100"/>
          <a:sy n="133" d="100"/>
        </p:scale>
        <p:origin x="39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472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065A82">
              <a:alpha val="45000"/>
            </a:srgbClr>
          </a:solidFill>
          <a:ln/>
        </p:spPr>
        <p:txBody>
          <a:bodyPr/>
          <a:lstStyle/>
          <a:p>
            <a:endParaRPr lang="en-US"/>
          </a:p>
        </p:txBody>
      </p:sp>
      <p:sp>
        <p:nvSpPr>
          <p:cNvPr id="3" name="Shape 1"/>
          <p:cNvSpPr/>
          <p:nvPr/>
        </p:nvSpPr>
        <p:spPr>
          <a:xfrm>
            <a:off x="10607040" y="4389120"/>
            <a:ext cx="2926080" cy="2926080"/>
          </a:xfrm>
          <a:prstGeom prst="ellipse">
            <a:avLst/>
          </a:prstGeom>
          <a:solidFill>
            <a:srgbClr val="1C7293">
              <a:alpha val="55000"/>
            </a:srgbClr>
          </a:solidFill>
          <a:ln/>
        </p:spPr>
        <p:txBody>
          <a:bodyPr/>
          <a:lstStyle/>
          <a:p>
            <a:endParaRPr lang="en-US"/>
          </a:p>
        </p:txBody>
      </p:sp>
      <p:sp>
        <p:nvSpPr>
          <p:cNvPr id="4" name="Text 2"/>
          <p:cNvSpPr/>
          <p:nvPr/>
        </p:nvSpPr>
        <p:spPr>
          <a:xfrm>
            <a:off x="731520" y="1965960"/>
            <a:ext cx="9601200" cy="457200"/>
          </a:xfrm>
          <a:prstGeom prst="rect">
            <a:avLst/>
          </a:prstGeom>
          <a:noFill/>
          <a:ln/>
        </p:spPr>
        <p:txBody>
          <a:bodyPr wrap="square" rtlCol="0" anchor="ctr"/>
          <a:lstStyle/>
          <a:p>
            <a:pPr marL="0" indent="0">
              <a:buNone/>
            </a:pPr>
            <a:r>
              <a:rPr lang="en-US" sz="1400" b="1" kern="0" spc="300" dirty="0">
                <a:solidFill>
                  <a:srgbClr val="8FC1DB"/>
                </a:solidFill>
                <a:latin typeface="Calibri" pitchFamily="34" charset="0"/>
                <a:ea typeface="Calibri" pitchFamily="34" charset="-122"/>
                <a:cs typeface="Calibri" pitchFamily="34" charset="-120"/>
              </a:rPr>
              <a:t>SALES &amp; DEMAND FORECASTING</a:t>
            </a:r>
            <a:endParaRPr lang="en-US" sz="1400" dirty="0"/>
          </a:p>
        </p:txBody>
      </p:sp>
      <p:sp>
        <p:nvSpPr>
          <p:cNvPr id="5" name="Text 3"/>
          <p:cNvSpPr/>
          <p:nvPr/>
        </p:nvSpPr>
        <p:spPr>
          <a:xfrm>
            <a:off x="731520" y="2423160"/>
            <a:ext cx="10515600" cy="13716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Ideation &amp; Kiến Trúc Pipeline Sơ Khởi</a:t>
            </a:r>
            <a:endParaRPr lang="en-US" sz="4400" dirty="0"/>
          </a:p>
        </p:txBody>
      </p:sp>
      <p:sp>
        <p:nvSpPr>
          <p:cNvPr id="6" name="Text 4"/>
          <p:cNvSpPr/>
          <p:nvPr/>
        </p:nvSpPr>
        <p:spPr>
          <a:xfrm>
            <a:off x="731520" y="3429000"/>
            <a:ext cx="9875520" cy="548640"/>
          </a:xfrm>
          <a:prstGeom prst="rect">
            <a:avLst/>
          </a:prstGeom>
          <a:noFill/>
          <a:ln/>
        </p:spPr>
        <p:txBody>
          <a:bodyPr wrap="square" rtlCol="0" anchor="ctr"/>
          <a:lstStyle/>
          <a:p>
            <a:pPr marL="0" indent="0">
              <a:buNone/>
            </a:pPr>
            <a:r>
              <a:rPr lang="en-US" sz="1500" dirty="0">
                <a:solidFill>
                  <a:srgbClr val="CFE8F3"/>
                </a:solidFill>
                <a:latin typeface="Calibri" pitchFamily="34" charset="0"/>
                <a:ea typeface="Calibri" pitchFamily="34" charset="-122"/>
                <a:cs typeface="Calibri" pitchFamily="34" charset="-120"/>
              </a:rPr>
              <a:t>AIO Conquer 2026 — Module 03  |  Project 3.2: Sales Forecasting and Demand Prediction Using LightGBM and SHAP</a:t>
            </a:r>
            <a:endParaRPr lang="en-US" sz="1500" dirty="0"/>
          </a:p>
        </p:txBody>
      </p:sp>
      <p:sp>
        <p:nvSpPr>
          <p:cNvPr id="7" name="Shape 5"/>
          <p:cNvSpPr/>
          <p:nvPr/>
        </p:nvSpPr>
        <p:spPr>
          <a:xfrm>
            <a:off x="731520" y="4297680"/>
            <a:ext cx="640080" cy="640080"/>
          </a:xfrm>
          <a:prstGeom prst="ellipse">
            <a:avLst/>
          </a:prstGeom>
          <a:solidFill>
            <a:srgbClr val="065A82"/>
          </a:solidFill>
          <a:ln/>
        </p:spPr>
        <p:txBody>
          <a:bodyPr/>
          <a:lstStyle/>
          <a:p>
            <a:endParaRPr lang="en-US"/>
          </a:p>
        </p:txBody>
      </p:sp>
      <p:pic>
        <p:nvPicPr>
          <p:cNvPr id="8" name="Image 0" descr="/tmp/deck/icon_chartline_white.png"/>
          <p:cNvPicPr>
            <a:picLocks noChangeAspect="1"/>
          </p:cNvPicPr>
          <p:nvPr/>
        </p:nvPicPr>
        <p:blipFill>
          <a:blip r:embed="rId3"/>
          <a:stretch>
            <a:fillRect/>
          </a:stretch>
        </p:blipFill>
        <p:spPr>
          <a:xfrm>
            <a:off x="814730" y="4380890"/>
            <a:ext cx="473659" cy="473659"/>
          </a:xfrm>
          <a:prstGeom prst="rect">
            <a:avLst/>
          </a:prstGeom>
        </p:spPr>
      </p:pic>
      <p:sp>
        <p:nvSpPr>
          <p:cNvPr id="9" name="Text 6"/>
          <p:cNvSpPr/>
          <p:nvPr/>
        </p:nvSpPr>
        <p:spPr>
          <a:xfrm>
            <a:off x="1554480" y="4370832"/>
            <a:ext cx="7315200" cy="502920"/>
          </a:xfrm>
          <a:prstGeom prst="rect">
            <a:avLst/>
          </a:prstGeom>
          <a:noFill/>
          <a:ln/>
        </p:spPr>
        <p:txBody>
          <a:bodyPr wrap="square" rtlCol="0" anchor="ctr"/>
          <a:lstStyle/>
          <a:p>
            <a:pPr marL="0" indent="0">
              <a:buNone/>
            </a:pPr>
            <a:r>
              <a:rPr lang="en-US" sz="1300" dirty="0">
                <a:solidFill>
                  <a:srgbClr val="AFC6DE"/>
                </a:solidFill>
                <a:latin typeface="Calibri" pitchFamily="34" charset="0"/>
                <a:ea typeface="Calibri" pitchFamily="34" charset="-122"/>
                <a:cs typeface="Calibri" pitchFamily="34" charset="-120"/>
              </a:rPr>
              <a:t>Trình </a:t>
            </a:r>
            <a:r>
              <a:rPr lang="en-US" sz="1300" dirty="0" err="1">
                <a:solidFill>
                  <a:srgbClr val="AFC6DE"/>
                </a:solidFill>
                <a:latin typeface="Calibri" pitchFamily="34" charset="0"/>
                <a:ea typeface="Calibri" pitchFamily="34" charset="-122"/>
                <a:cs typeface="Calibri" pitchFamily="34" charset="-120"/>
              </a:rPr>
              <a:t>bày</a:t>
            </a:r>
            <a:r>
              <a:rPr lang="en-US" sz="1300" dirty="0">
                <a:solidFill>
                  <a:srgbClr val="AFC6DE"/>
                </a:solidFill>
                <a:latin typeface="Calibri" pitchFamily="34" charset="0"/>
                <a:ea typeface="Calibri" pitchFamily="34" charset="-122"/>
                <a:cs typeface="Calibri" pitchFamily="34" charset="-120"/>
              </a:rPr>
              <a:t> </a:t>
            </a:r>
            <a:r>
              <a:rPr lang="en-US" sz="1300" dirty="0" err="1">
                <a:solidFill>
                  <a:srgbClr val="AFC6DE"/>
                </a:solidFill>
                <a:latin typeface="Calibri" pitchFamily="34" charset="0"/>
                <a:ea typeface="Calibri" pitchFamily="34" charset="-122"/>
                <a:cs typeface="Calibri" pitchFamily="34" charset="-120"/>
              </a:rPr>
              <a:t>bởi</a:t>
            </a:r>
            <a:r>
              <a:rPr lang="en-US" sz="1300" dirty="0">
                <a:solidFill>
                  <a:srgbClr val="AFC6DE"/>
                </a:solidFill>
                <a:latin typeface="Calibri" pitchFamily="34" charset="0"/>
                <a:ea typeface="Calibri" pitchFamily="34" charset="-122"/>
                <a:cs typeface="Calibri" pitchFamily="34" charset="-120"/>
              </a:rPr>
              <a:t>: Dao Trung Can – Porsche Club  ·  ML Architect / AI Engineer Pipeline</a:t>
            </a:r>
            <a:endParaRPr lang="en-US" sz="1300" dirty="0"/>
          </a:p>
        </p:txBody>
      </p:sp>
      <p:sp>
        <p:nvSpPr>
          <p:cNvPr id="10" name="Text 7"/>
          <p:cNvSpPr/>
          <p:nvPr/>
        </p:nvSpPr>
        <p:spPr>
          <a:xfrm>
            <a:off x="731520" y="6126480"/>
            <a:ext cx="7315200" cy="320040"/>
          </a:xfrm>
          <a:prstGeom prst="rect">
            <a:avLst/>
          </a:prstGeom>
          <a:noFill/>
          <a:ln/>
        </p:spPr>
        <p:txBody>
          <a:bodyPr wrap="square" rtlCol="0" anchor="ctr"/>
          <a:lstStyle/>
          <a:p>
            <a:pPr marL="0" indent="0">
              <a:buNone/>
            </a:pPr>
            <a:r>
              <a:rPr lang="en-US" sz="1100" i="1" dirty="0">
                <a:solidFill>
                  <a:srgbClr val="6E85A8"/>
                </a:solidFill>
                <a:latin typeface="Calibri" pitchFamily="34" charset="0"/>
                <a:ea typeface="Calibri" pitchFamily="34" charset="-122"/>
                <a:cs typeface="Calibri" pitchFamily="34" charset="-120"/>
              </a:rPr>
              <a:t>Bản thảo kiến trúc — nội bộ team, chưa phải bản triển khai cuối cùng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BỐI CẢNH</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Đề tài &amp; ràng buộc từ chương trình</a:t>
            </a:r>
            <a:endParaRPr lang="en-US" sz="3000" dirty="0"/>
          </a:p>
        </p:txBody>
      </p:sp>
      <p:sp>
        <p:nvSpPr>
          <p:cNvPr id="4" name="Shape 2"/>
          <p:cNvSpPr/>
          <p:nvPr/>
        </p:nvSpPr>
        <p:spPr>
          <a:xfrm>
            <a:off x="548640" y="1600200"/>
            <a:ext cx="5394960" cy="4480560"/>
          </a:xfrm>
          <a:prstGeom prst="roundRect">
            <a:avLst>
              <a:gd name="adj" fmla="val 2449"/>
            </a:avLst>
          </a:prstGeom>
          <a:solidFill>
            <a:srgbClr val="F5F9FB"/>
          </a:solidFill>
          <a:ln w="12700">
            <a:solidFill>
              <a:srgbClr val="E1E8EC"/>
            </a:solidFill>
            <a:prstDash val="solid"/>
          </a:ln>
        </p:spPr>
        <p:txBody>
          <a:bodyPr/>
          <a:lstStyle/>
          <a:p>
            <a:endParaRPr lang="en-US"/>
          </a:p>
        </p:txBody>
      </p:sp>
      <p:sp>
        <p:nvSpPr>
          <p:cNvPr id="5" name="Shape 3"/>
          <p:cNvSpPr/>
          <p:nvPr/>
        </p:nvSpPr>
        <p:spPr>
          <a:xfrm>
            <a:off x="868680" y="1920240"/>
            <a:ext cx="548640" cy="548640"/>
          </a:xfrm>
          <a:prstGeom prst="ellipse">
            <a:avLst/>
          </a:prstGeom>
          <a:solidFill>
            <a:srgbClr val="065A82"/>
          </a:solidFill>
          <a:ln/>
        </p:spPr>
        <p:txBody>
          <a:bodyPr/>
          <a:lstStyle/>
          <a:p>
            <a:endParaRPr lang="en-US"/>
          </a:p>
        </p:txBody>
      </p:sp>
      <p:pic>
        <p:nvPicPr>
          <p:cNvPr id="6" name="Image 0" descr="/tmp/deck/icon_clipboard_white.png"/>
          <p:cNvPicPr>
            <a:picLocks noChangeAspect="1"/>
          </p:cNvPicPr>
          <p:nvPr/>
        </p:nvPicPr>
        <p:blipFill>
          <a:blip r:embed="rId3"/>
          <a:stretch>
            <a:fillRect/>
          </a:stretch>
        </p:blipFill>
        <p:spPr>
          <a:xfrm>
            <a:off x="940003" y="1991563"/>
            <a:ext cx="405994" cy="405994"/>
          </a:xfrm>
          <a:prstGeom prst="rect">
            <a:avLst/>
          </a:prstGeom>
        </p:spPr>
      </p:pic>
      <p:sp>
        <p:nvSpPr>
          <p:cNvPr id="7" name="Text 4"/>
          <p:cNvSpPr/>
          <p:nvPr/>
        </p:nvSpPr>
        <p:spPr>
          <a:xfrm>
            <a:off x="1600200" y="1965960"/>
            <a:ext cx="411480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Project 3.2 (chính thức)</a:t>
            </a:r>
            <a:endParaRPr lang="en-US" sz="1600" dirty="0"/>
          </a:p>
        </p:txBody>
      </p:sp>
      <p:sp>
        <p:nvSpPr>
          <p:cNvPr id="8" name="Text 5"/>
          <p:cNvSpPr/>
          <p:nvPr/>
        </p:nvSpPr>
        <p:spPr>
          <a:xfrm>
            <a:off x="868680" y="2514600"/>
            <a:ext cx="4754880" cy="548640"/>
          </a:xfrm>
          <a:prstGeom prst="rect">
            <a:avLst/>
          </a:prstGeom>
          <a:noFill/>
          <a:ln/>
        </p:spPr>
        <p:txBody>
          <a:bodyPr wrap="square"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Sales Forecasting and Demand Prediction Using LightGBM and SHAP</a:t>
            </a:r>
            <a:endParaRPr lang="en-US" sz="1300" dirty="0"/>
          </a:p>
        </p:txBody>
      </p:sp>
      <p:sp>
        <p:nvSpPr>
          <p:cNvPr id="9" name="Text 6"/>
          <p:cNvSpPr/>
          <p:nvPr/>
        </p:nvSpPr>
        <p:spPr>
          <a:xfrm>
            <a:off x="868680" y="3154680"/>
            <a:ext cx="48006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3A4750"/>
                </a:solidFill>
                <a:latin typeface="Calibri" pitchFamily="34" charset="0"/>
                <a:ea typeface="Calibri" pitchFamily="34" charset="-122"/>
                <a:cs typeface="Calibri" pitchFamily="34" charset="-120"/>
              </a:rPr>
              <a:t>Mô hình cây: Decision Tree → Random Forest → AdaBoost → Gradient Boost → LightGBM (chính) / XGBoost (so sánh)</a:t>
            </a:r>
            <a:endParaRPr lang="en-US" sz="1300" dirty="0"/>
          </a:p>
          <a:p>
            <a:pPr marL="342900" indent="-342900">
              <a:spcAft>
                <a:spcPts val="1000"/>
              </a:spcAft>
              <a:buSzPct val="100000"/>
              <a:buChar char="•"/>
            </a:pPr>
            <a:r>
              <a:rPr lang="en-US" sz="1300" dirty="0">
                <a:solidFill>
                  <a:srgbClr val="3A4750"/>
                </a:solidFill>
                <a:latin typeface="Calibri" pitchFamily="34" charset="0"/>
                <a:ea typeface="Calibri" pitchFamily="34" charset="-122"/>
                <a:cs typeface="Calibri" pitchFamily="34" charset="-120"/>
              </a:rPr>
              <a:t>Time-series Feature Engineering: Lag, Rolling window</a:t>
            </a:r>
            <a:endParaRPr lang="en-US" sz="1300" dirty="0"/>
          </a:p>
          <a:p>
            <a:pPr marL="342900" indent="-342900">
              <a:spcAft>
                <a:spcPts val="1000"/>
              </a:spcAft>
              <a:buSzPct val="100000"/>
              <a:buChar char="•"/>
            </a:pPr>
            <a:r>
              <a:rPr lang="en-US" sz="1300" dirty="0">
                <a:solidFill>
                  <a:srgbClr val="3A4750"/>
                </a:solidFill>
                <a:latin typeface="Calibri" pitchFamily="34" charset="0"/>
                <a:ea typeface="Calibri" pitchFamily="34" charset="-122"/>
                <a:cs typeface="Calibri" pitchFamily="34" charset="-120"/>
              </a:rPr>
              <a:t>TimeSeriesSplit — bắt buộc, không dùng random K-Fold</a:t>
            </a:r>
            <a:endParaRPr lang="en-US" sz="1300" dirty="0"/>
          </a:p>
          <a:p>
            <a:pPr marL="342900" indent="-342900">
              <a:spcAft>
                <a:spcPts val="1000"/>
              </a:spcAft>
              <a:buSzPct val="100000"/>
              <a:buChar char="•"/>
            </a:pPr>
            <a:r>
              <a:rPr lang="en-US" sz="1300" dirty="0">
                <a:solidFill>
                  <a:srgbClr val="3A4750"/>
                </a:solidFill>
                <a:latin typeface="Calibri" pitchFamily="34" charset="0"/>
                <a:ea typeface="Calibri" pitchFamily="34" charset="-122"/>
                <a:cs typeface="Calibri" pitchFamily="34" charset="-120"/>
              </a:rPr>
              <a:t>Tối ưu tham số bằng Optuna</a:t>
            </a:r>
            <a:endParaRPr lang="en-US" sz="1300" dirty="0"/>
          </a:p>
          <a:p>
            <a:pPr marL="342900" indent="-342900">
              <a:spcAft>
                <a:spcPts val="1000"/>
              </a:spcAft>
              <a:buSzPct val="100000"/>
              <a:buChar char="•"/>
            </a:pPr>
            <a:r>
              <a:rPr lang="en-US" sz="1300" dirty="0">
                <a:solidFill>
                  <a:srgbClr val="3A4750"/>
                </a:solidFill>
                <a:latin typeface="Calibri" pitchFamily="34" charset="0"/>
                <a:ea typeface="Calibri" pitchFamily="34" charset="-122"/>
                <a:cs typeface="Calibri" pitchFamily="34" charset="-120"/>
              </a:rPr>
              <a:t>Giải thích mô hình bằng TreeSHAP</a:t>
            </a:r>
            <a:endParaRPr lang="en-US" sz="1300" dirty="0"/>
          </a:p>
        </p:txBody>
      </p:sp>
      <p:sp>
        <p:nvSpPr>
          <p:cNvPr id="10" name="Shape 7"/>
          <p:cNvSpPr/>
          <p:nvPr/>
        </p:nvSpPr>
        <p:spPr>
          <a:xfrm>
            <a:off x="6217920" y="1600200"/>
            <a:ext cx="5394960" cy="4480560"/>
          </a:xfrm>
          <a:prstGeom prst="roundRect">
            <a:avLst>
              <a:gd name="adj" fmla="val 2449"/>
            </a:avLst>
          </a:prstGeom>
          <a:solidFill>
            <a:srgbClr val="21295C"/>
          </a:solidFill>
          <a:ln/>
        </p:spPr>
        <p:txBody>
          <a:bodyPr/>
          <a:lstStyle/>
          <a:p>
            <a:endParaRPr lang="en-US"/>
          </a:p>
        </p:txBody>
      </p:sp>
      <p:sp>
        <p:nvSpPr>
          <p:cNvPr id="11" name="Shape 8"/>
          <p:cNvSpPr/>
          <p:nvPr/>
        </p:nvSpPr>
        <p:spPr>
          <a:xfrm>
            <a:off x="6537960" y="1920240"/>
            <a:ext cx="548640" cy="548640"/>
          </a:xfrm>
          <a:prstGeom prst="ellipse">
            <a:avLst/>
          </a:prstGeom>
          <a:solidFill>
            <a:srgbClr val="1C7293"/>
          </a:solidFill>
          <a:ln/>
        </p:spPr>
        <p:txBody>
          <a:bodyPr/>
          <a:lstStyle/>
          <a:p>
            <a:endParaRPr lang="en-US"/>
          </a:p>
        </p:txBody>
      </p:sp>
      <p:pic>
        <p:nvPicPr>
          <p:cNvPr id="12" name="Image 1" descr="/tmp/deck/icon_clock_white.png"/>
          <p:cNvPicPr>
            <a:picLocks noChangeAspect="1"/>
          </p:cNvPicPr>
          <p:nvPr/>
        </p:nvPicPr>
        <p:blipFill>
          <a:blip r:embed="rId4"/>
          <a:stretch>
            <a:fillRect/>
          </a:stretch>
        </p:blipFill>
        <p:spPr>
          <a:xfrm>
            <a:off x="6609283" y="1991563"/>
            <a:ext cx="405994" cy="405994"/>
          </a:xfrm>
          <a:prstGeom prst="rect">
            <a:avLst/>
          </a:prstGeom>
        </p:spPr>
      </p:pic>
      <p:sp>
        <p:nvSpPr>
          <p:cNvPr id="13" name="Text 9"/>
          <p:cNvSpPr/>
          <p:nvPr/>
        </p:nvSpPr>
        <p:spPr>
          <a:xfrm>
            <a:off x="7269480" y="1965960"/>
            <a:ext cx="411480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Timeline còn lại</a:t>
            </a:r>
            <a:endParaRPr lang="en-US" sz="1600" dirty="0"/>
          </a:p>
        </p:txBody>
      </p:sp>
      <p:sp>
        <p:nvSpPr>
          <p:cNvPr id="14" name="Shape 10"/>
          <p:cNvSpPr/>
          <p:nvPr/>
        </p:nvSpPr>
        <p:spPr>
          <a:xfrm>
            <a:off x="6537960" y="2660904"/>
            <a:ext cx="109728" cy="109728"/>
          </a:xfrm>
          <a:prstGeom prst="ellipse">
            <a:avLst/>
          </a:prstGeom>
          <a:solidFill>
            <a:srgbClr val="5FB8DE"/>
          </a:solidFill>
          <a:ln/>
        </p:spPr>
        <p:txBody>
          <a:bodyPr/>
          <a:lstStyle/>
          <a:p>
            <a:endParaRPr lang="en-US"/>
          </a:p>
        </p:txBody>
      </p:sp>
      <p:sp>
        <p:nvSpPr>
          <p:cNvPr id="15" name="Text 11"/>
          <p:cNvSpPr/>
          <p:nvPr/>
        </p:nvSpPr>
        <p:spPr>
          <a:xfrm>
            <a:off x="6812280" y="2532888"/>
            <a:ext cx="1554480" cy="320040"/>
          </a:xfrm>
          <a:prstGeom prst="rect">
            <a:avLst/>
          </a:prstGeom>
          <a:noFill/>
          <a:ln/>
        </p:spPr>
        <p:txBody>
          <a:bodyPr wrap="square" rtlCol="0" anchor="ctr"/>
          <a:lstStyle/>
          <a:p>
            <a:pPr marL="0" indent="0">
              <a:buNone/>
            </a:pPr>
            <a:r>
              <a:rPr lang="en-US" sz="1250" b="1" dirty="0">
                <a:solidFill>
                  <a:srgbClr val="5FB8DE"/>
                </a:solidFill>
                <a:latin typeface="Calibri" pitchFamily="34" charset="0"/>
                <a:ea typeface="Calibri" pitchFamily="34" charset="-122"/>
                <a:cs typeface="Calibri" pitchFamily="34" charset="-120"/>
              </a:rPr>
              <a:t>16/8 – 6/9</a:t>
            </a:r>
            <a:endParaRPr lang="en-US" sz="1250" dirty="0"/>
          </a:p>
        </p:txBody>
      </p:sp>
      <p:sp>
        <p:nvSpPr>
          <p:cNvPr id="16" name="Text 12"/>
          <p:cNvSpPr/>
          <p:nvPr/>
        </p:nvSpPr>
        <p:spPr>
          <a:xfrm>
            <a:off x="8366760" y="2532888"/>
            <a:ext cx="3017520" cy="548640"/>
          </a:xfrm>
          <a:prstGeom prst="rect">
            <a:avLst/>
          </a:prstGeom>
          <a:noFill/>
          <a:ln/>
        </p:spPr>
        <p:txBody>
          <a:bodyPr wrap="square" rtlCol="0" anchor="ctr"/>
          <a:lstStyle/>
          <a:p>
            <a:pPr marL="0" indent="0">
              <a:buNone/>
            </a:pPr>
            <a:r>
              <a:rPr lang="en-US" sz="1200" dirty="0">
                <a:solidFill>
                  <a:srgbClr val="D7E4EE"/>
                </a:solidFill>
                <a:latin typeface="Calibri" pitchFamily="34" charset="0"/>
                <a:ea typeface="Calibri" pitchFamily="34" charset="-122"/>
                <a:cs typeface="Calibri" pitchFamily="34" charset="-120"/>
              </a:rPr>
              <a:t>Meeting team, teamwork, xây dựng pipeline</a:t>
            </a:r>
            <a:endParaRPr lang="en-US" sz="1200" dirty="0"/>
          </a:p>
        </p:txBody>
      </p:sp>
      <p:sp>
        <p:nvSpPr>
          <p:cNvPr id="17" name="Shape 13"/>
          <p:cNvSpPr/>
          <p:nvPr/>
        </p:nvSpPr>
        <p:spPr>
          <a:xfrm>
            <a:off x="6537960" y="3483864"/>
            <a:ext cx="109728" cy="109728"/>
          </a:xfrm>
          <a:prstGeom prst="ellipse">
            <a:avLst/>
          </a:prstGeom>
          <a:solidFill>
            <a:srgbClr val="5FB8DE"/>
          </a:solidFill>
          <a:ln/>
        </p:spPr>
        <p:txBody>
          <a:bodyPr/>
          <a:lstStyle/>
          <a:p>
            <a:endParaRPr lang="en-US"/>
          </a:p>
        </p:txBody>
      </p:sp>
      <p:sp>
        <p:nvSpPr>
          <p:cNvPr id="18" name="Text 14"/>
          <p:cNvSpPr/>
          <p:nvPr/>
        </p:nvSpPr>
        <p:spPr>
          <a:xfrm>
            <a:off x="6812280" y="3355848"/>
            <a:ext cx="1554480" cy="320040"/>
          </a:xfrm>
          <a:prstGeom prst="rect">
            <a:avLst/>
          </a:prstGeom>
          <a:noFill/>
          <a:ln/>
        </p:spPr>
        <p:txBody>
          <a:bodyPr wrap="square" rtlCol="0" anchor="ctr"/>
          <a:lstStyle/>
          <a:p>
            <a:pPr marL="0" indent="0">
              <a:buNone/>
            </a:pPr>
            <a:r>
              <a:rPr lang="en-US" sz="1250" b="1" dirty="0">
                <a:solidFill>
                  <a:srgbClr val="5FB8DE"/>
                </a:solidFill>
                <a:latin typeface="Calibri" pitchFamily="34" charset="0"/>
                <a:ea typeface="Calibri" pitchFamily="34" charset="-122"/>
                <a:cs typeface="Calibri" pitchFamily="34" charset="-120"/>
              </a:rPr>
              <a:t>7/9 – 9/9</a:t>
            </a:r>
            <a:endParaRPr lang="en-US" sz="1250" dirty="0"/>
          </a:p>
        </p:txBody>
      </p:sp>
      <p:sp>
        <p:nvSpPr>
          <p:cNvPr id="19" name="Text 15"/>
          <p:cNvSpPr/>
          <p:nvPr/>
        </p:nvSpPr>
        <p:spPr>
          <a:xfrm>
            <a:off x="8366760" y="3355848"/>
            <a:ext cx="3017520" cy="548640"/>
          </a:xfrm>
          <a:prstGeom prst="rect">
            <a:avLst/>
          </a:prstGeom>
          <a:noFill/>
          <a:ln/>
        </p:spPr>
        <p:txBody>
          <a:bodyPr wrap="square" rtlCol="0" anchor="ctr"/>
          <a:lstStyle/>
          <a:p>
            <a:pPr marL="0" indent="0">
              <a:buNone/>
            </a:pPr>
            <a:r>
              <a:rPr lang="en-US" sz="1200" dirty="0">
                <a:solidFill>
                  <a:srgbClr val="D7E4EE"/>
                </a:solidFill>
                <a:latin typeface="Calibri" pitchFamily="34" charset="0"/>
                <a:ea typeface="Calibri" pitchFamily="34" charset="-122"/>
                <a:cs typeface="Calibri" pitchFamily="34" charset="-120"/>
              </a:rPr>
              <a:t>Submit project + Feedback</a:t>
            </a:r>
            <a:endParaRPr lang="en-US" sz="1200" dirty="0"/>
          </a:p>
        </p:txBody>
      </p:sp>
      <p:sp>
        <p:nvSpPr>
          <p:cNvPr id="20" name="Shape 16"/>
          <p:cNvSpPr/>
          <p:nvPr/>
        </p:nvSpPr>
        <p:spPr>
          <a:xfrm>
            <a:off x="6537960" y="4306824"/>
            <a:ext cx="109728" cy="109728"/>
          </a:xfrm>
          <a:prstGeom prst="ellipse">
            <a:avLst/>
          </a:prstGeom>
          <a:solidFill>
            <a:srgbClr val="5FB8DE"/>
          </a:solidFill>
          <a:ln/>
        </p:spPr>
        <p:txBody>
          <a:bodyPr/>
          <a:lstStyle/>
          <a:p>
            <a:endParaRPr lang="en-US"/>
          </a:p>
        </p:txBody>
      </p:sp>
      <p:sp>
        <p:nvSpPr>
          <p:cNvPr id="21" name="Text 17"/>
          <p:cNvSpPr/>
          <p:nvPr/>
        </p:nvSpPr>
        <p:spPr>
          <a:xfrm>
            <a:off x="6812280" y="4178808"/>
            <a:ext cx="1554480" cy="320040"/>
          </a:xfrm>
          <a:prstGeom prst="rect">
            <a:avLst/>
          </a:prstGeom>
          <a:noFill/>
          <a:ln/>
        </p:spPr>
        <p:txBody>
          <a:bodyPr wrap="square" rtlCol="0" anchor="ctr"/>
          <a:lstStyle/>
          <a:p>
            <a:pPr marL="0" indent="0">
              <a:buNone/>
            </a:pPr>
            <a:r>
              <a:rPr lang="en-US" sz="1250" b="1" dirty="0">
                <a:solidFill>
                  <a:srgbClr val="5FB8DE"/>
                </a:solidFill>
                <a:latin typeface="Calibri" pitchFamily="34" charset="0"/>
                <a:ea typeface="Calibri" pitchFamily="34" charset="-122"/>
                <a:cs typeface="Calibri" pitchFamily="34" charset="-120"/>
              </a:rPr>
              <a:t>10/9 – 12/9</a:t>
            </a:r>
            <a:endParaRPr lang="en-US" sz="1250" dirty="0"/>
          </a:p>
        </p:txBody>
      </p:sp>
      <p:sp>
        <p:nvSpPr>
          <p:cNvPr id="22" name="Text 18"/>
          <p:cNvSpPr/>
          <p:nvPr/>
        </p:nvSpPr>
        <p:spPr>
          <a:xfrm>
            <a:off x="8366760" y="4178808"/>
            <a:ext cx="3017520" cy="548640"/>
          </a:xfrm>
          <a:prstGeom prst="rect">
            <a:avLst/>
          </a:prstGeom>
          <a:noFill/>
          <a:ln/>
        </p:spPr>
        <p:txBody>
          <a:bodyPr wrap="square" rtlCol="0" anchor="ctr"/>
          <a:lstStyle/>
          <a:p>
            <a:pPr marL="0" indent="0">
              <a:buNone/>
            </a:pPr>
            <a:r>
              <a:rPr lang="en-US" sz="1200" dirty="0">
                <a:solidFill>
                  <a:srgbClr val="D7E4EE"/>
                </a:solidFill>
                <a:latin typeface="Calibri" pitchFamily="34" charset="0"/>
                <a:ea typeface="Calibri" pitchFamily="34" charset="-122"/>
                <a:cs typeface="Calibri" pitchFamily="34" charset="-120"/>
              </a:rPr>
              <a:t>Peer Review</a:t>
            </a:r>
            <a:endParaRPr lang="en-US" sz="1200" dirty="0"/>
          </a:p>
        </p:txBody>
      </p:sp>
      <p:sp>
        <p:nvSpPr>
          <p:cNvPr id="23" name="Shape 19"/>
          <p:cNvSpPr/>
          <p:nvPr/>
        </p:nvSpPr>
        <p:spPr>
          <a:xfrm>
            <a:off x="6537960" y="5129784"/>
            <a:ext cx="109728" cy="109728"/>
          </a:xfrm>
          <a:prstGeom prst="ellipse">
            <a:avLst/>
          </a:prstGeom>
          <a:solidFill>
            <a:srgbClr val="5FB8DE"/>
          </a:solidFill>
          <a:ln/>
        </p:spPr>
        <p:txBody>
          <a:bodyPr/>
          <a:lstStyle/>
          <a:p>
            <a:endParaRPr lang="en-US"/>
          </a:p>
        </p:txBody>
      </p:sp>
      <p:sp>
        <p:nvSpPr>
          <p:cNvPr id="24" name="Text 20"/>
          <p:cNvSpPr/>
          <p:nvPr/>
        </p:nvSpPr>
        <p:spPr>
          <a:xfrm>
            <a:off x="6812280" y="5001768"/>
            <a:ext cx="1554480" cy="320040"/>
          </a:xfrm>
          <a:prstGeom prst="rect">
            <a:avLst/>
          </a:prstGeom>
          <a:noFill/>
          <a:ln/>
        </p:spPr>
        <p:txBody>
          <a:bodyPr wrap="square" rtlCol="0" anchor="ctr"/>
          <a:lstStyle/>
          <a:p>
            <a:pPr marL="0" indent="0">
              <a:buNone/>
            </a:pPr>
            <a:r>
              <a:rPr lang="en-US" sz="1250" b="1" dirty="0">
                <a:solidFill>
                  <a:srgbClr val="5FB8DE"/>
                </a:solidFill>
                <a:latin typeface="Calibri" pitchFamily="34" charset="0"/>
                <a:ea typeface="Calibri" pitchFamily="34" charset="-122"/>
                <a:cs typeface="Calibri" pitchFamily="34" charset="-120"/>
              </a:rPr>
              <a:t>13/9</a:t>
            </a:r>
            <a:endParaRPr lang="en-US" sz="1250" dirty="0"/>
          </a:p>
        </p:txBody>
      </p:sp>
      <p:sp>
        <p:nvSpPr>
          <p:cNvPr id="25" name="Text 21"/>
          <p:cNvSpPr/>
          <p:nvPr/>
        </p:nvSpPr>
        <p:spPr>
          <a:xfrm>
            <a:off x="8366760" y="5001768"/>
            <a:ext cx="3017520" cy="548640"/>
          </a:xfrm>
          <a:prstGeom prst="rect">
            <a:avLst/>
          </a:prstGeom>
          <a:noFill/>
          <a:ln/>
        </p:spPr>
        <p:txBody>
          <a:bodyPr wrap="square" rtlCol="0" anchor="ctr"/>
          <a:lstStyle/>
          <a:p>
            <a:pPr marL="0" indent="0">
              <a:buNone/>
            </a:pPr>
            <a:r>
              <a:rPr lang="en-US" sz="1200" dirty="0">
                <a:solidFill>
                  <a:srgbClr val="D7E4EE"/>
                </a:solidFill>
                <a:latin typeface="Calibri" pitchFamily="34" charset="0"/>
                <a:ea typeface="Calibri" pitchFamily="34" charset="-122"/>
                <a:cs typeface="Calibri" pitchFamily="34" charset="-120"/>
              </a:rPr>
              <a:t>Kiểm tra toàn bộ bài nộp</a:t>
            </a:r>
            <a:endParaRPr lang="en-US" sz="1200" dirty="0"/>
          </a:p>
        </p:txBody>
      </p:sp>
      <p:sp>
        <p:nvSpPr>
          <p:cNvPr id="26" name="Text 22"/>
          <p:cNvSpPr/>
          <p:nvPr/>
        </p:nvSpPr>
        <p:spPr>
          <a:xfrm>
            <a:off x="6537960" y="5623560"/>
            <a:ext cx="4846320" cy="36576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 Còn khoảng 3 tuần đến hạn nộp. Quyết định kiến trúc nền tảng cần chốt sớm.</a:t>
            </a:r>
            <a:endParaRPr lang="en-US" sz="1150" dirty="0"/>
          </a:p>
        </p:txBody>
      </p:sp>
      <p:sp>
        <p:nvSpPr>
          <p:cNvPr id="27" name="Text 2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AFDCF0"/>
                </a:solidFill>
                <a:latin typeface="Calibri" pitchFamily="34" charset="0"/>
                <a:ea typeface="Calibri" pitchFamily="34" charset="-122"/>
                <a:cs typeface="Calibri" pitchFamily="34" charset="-120"/>
              </a:rPr>
              <a:t>FRAMING</a:t>
            </a:r>
            <a:endParaRPr lang="en-US" sz="1200" dirty="0"/>
          </a:p>
        </p:txBody>
      </p:sp>
      <p:sp>
        <p:nvSpPr>
          <p:cNvPr id="3" name="Text 1"/>
          <p:cNvSpPr/>
          <p:nvPr/>
        </p:nvSpPr>
        <p:spPr>
          <a:xfrm>
            <a:off x="640080" y="914400"/>
            <a:ext cx="10881360" cy="1463040"/>
          </a:xfrm>
          <a:prstGeom prst="rect">
            <a:avLst/>
          </a:prstGeom>
          <a:noFill/>
          <a:ln/>
        </p:spPr>
        <p:txBody>
          <a:bodyPr wrap="square"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“Dự báo doanh số” nghe đơn giản —</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nhưng là một trong những bài toán khó nhất</a:t>
            </a:r>
            <a:endParaRPr lang="en-US" sz="3000" dirty="0"/>
          </a:p>
        </p:txBody>
      </p:sp>
      <p:sp>
        <p:nvSpPr>
          <p:cNvPr id="4" name="Text 2"/>
          <p:cNvSpPr/>
          <p:nvPr/>
        </p:nvSpPr>
        <p:spPr>
          <a:xfrm>
            <a:off x="640080" y="2331720"/>
            <a:ext cx="9144000" cy="457200"/>
          </a:xfrm>
          <a:prstGeom prst="rect">
            <a:avLst/>
          </a:prstGeom>
          <a:noFill/>
          <a:ln/>
        </p:spPr>
        <p:txBody>
          <a:bodyPr wrap="square" rtlCol="0" anchor="ctr"/>
          <a:lstStyle/>
          <a:p>
            <a:pPr marL="0" indent="0">
              <a:buNone/>
            </a:pPr>
            <a:r>
              <a:rPr lang="en-US" sz="1500" i="1" dirty="0">
                <a:solidFill>
                  <a:srgbClr val="CFE8F3"/>
                </a:solidFill>
                <a:latin typeface="Calibri" pitchFamily="34" charset="0"/>
                <a:ea typeface="Calibri" pitchFamily="34" charset="-122"/>
                <a:cs typeface="Calibri" pitchFamily="34" charset="-120"/>
              </a:rPr>
              <a:t>Input: lịch sử bán hàng   →   Output: số lượng bán trong tương lai</a:t>
            </a:r>
            <a:endParaRPr lang="en-US" sz="1500" dirty="0"/>
          </a:p>
        </p:txBody>
      </p:sp>
      <p:sp>
        <p:nvSpPr>
          <p:cNvPr id="5" name="Shape 3"/>
          <p:cNvSpPr/>
          <p:nvPr/>
        </p:nvSpPr>
        <p:spPr>
          <a:xfrm>
            <a:off x="640080" y="3291840"/>
            <a:ext cx="2606040" cy="2468880"/>
          </a:xfrm>
          <a:prstGeom prst="roundRect">
            <a:avLst>
              <a:gd name="adj" fmla="val 3704"/>
            </a:avLst>
          </a:prstGeom>
          <a:solidFill>
            <a:srgbClr val="21295C">
              <a:alpha val="85000"/>
            </a:srgbClr>
          </a:solidFill>
          <a:ln/>
        </p:spPr>
        <p:txBody>
          <a:bodyPr/>
          <a:lstStyle/>
          <a:p>
            <a:endParaRPr lang="en-US"/>
          </a:p>
        </p:txBody>
      </p:sp>
      <p:sp>
        <p:nvSpPr>
          <p:cNvPr id="6" name="Shape 4"/>
          <p:cNvSpPr/>
          <p:nvPr/>
        </p:nvSpPr>
        <p:spPr>
          <a:xfrm>
            <a:off x="868680" y="3566160"/>
            <a:ext cx="594360" cy="594360"/>
          </a:xfrm>
          <a:prstGeom prst="ellipse">
            <a:avLst/>
          </a:prstGeom>
          <a:solidFill>
            <a:srgbClr val="1C7293"/>
          </a:solidFill>
          <a:ln/>
        </p:spPr>
        <p:txBody>
          <a:bodyPr/>
          <a:lstStyle/>
          <a:p>
            <a:endParaRPr lang="en-US"/>
          </a:p>
        </p:txBody>
      </p:sp>
      <p:pic>
        <p:nvPicPr>
          <p:cNvPr id="7" name="Image 0" descr="/tmp/deck/icon_snowflake_white.png"/>
          <p:cNvPicPr>
            <a:picLocks noChangeAspect="1"/>
          </p:cNvPicPr>
          <p:nvPr/>
        </p:nvPicPr>
        <p:blipFill>
          <a:blip r:embed="rId3"/>
          <a:stretch>
            <a:fillRect/>
          </a:stretch>
        </p:blipFill>
        <p:spPr>
          <a:xfrm>
            <a:off x="945947" y="3643427"/>
            <a:ext cx="439826" cy="439826"/>
          </a:xfrm>
          <a:prstGeom prst="rect">
            <a:avLst/>
          </a:prstGeom>
        </p:spPr>
      </p:pic>
      <p:sp>
        <p:nvSpPr>
          <p:cNvPr id="8" name="Text 5"/>
          <p:cNvSpPr/>
          <p:nvPr/>
        </p:nvSpPr>
        <p:spPr>
          <a:xfrm>
            <a:off x="868680" y="4297680"/>
            <a:ext cx="214884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Rời rạc</a:t>
            </a:r>
            <a:endParaRPr lang="en-US" sz="1500" dirty="0"/>
          </a:p>
        </p:txBody>
      </p:sp>
      <p:sp>
        <p:nvSpPr>
          <p:cNvPr id="9" name="Text 6"/>
          <p:cNvSpPr/>
          <p:nvPr/>
        </p:nvSpPr>
        <p:spPr>
          <a:xfrm>
            <a:off x="868680" y="4754880"/>
            <a:ext cx="2148840" cy="822960"/>
          </a:xfrm>
          <a:prstGeom prst="rect">
            <a:avLst/>
          </a:prstGeom>
          <a:noFill/>
          <a:ln/>
        </p:spPr>
        <p:txBody>
          <a:bodyPr wrap="square" rtlCol="0" anchor="ctr"/>
          <a:lstStyle/>
          <a:p>
            <a:pPr marL="0" indent="0">
              <a:buNone/>
            </a:pPr>
            <a:r>
              <a:rPr lang="en-US" sz="1150" dirty="0">
                <a:solidFill>
                  <a:srgbClr val="C9DFEC"/>
                </a:solidFill>
                <a:latin typeface="Calibri" pitchFamily="34" charset="0"/>
                <a:ea typeface="Calibri" pitchFamily="34" charset="-122"/>
                <a:cs typeface="Calibri" pitchFamily="34" charset="-120"/>
              </a:rPr>
              <a:t>Nhiều ngày bán = 0, xen kẽ đột biến</a:t>
            </a:r>
            <a:endParaRPr lang="en-US" sz="1150" dirty="0"/>
          </a:p>
        </p:txBody>
      </p:sp>
      <p:sp>
        <p:nvSpPr>
          <p:cNvPr id="10" name="Shape 7"/>
          <p:cNvSpPr/>
          <p:nvPr/>
        </p:nvSpPr>
        <p:spPr>
          <a:xfrm>
            <a:off x="3474720" y="3291840"/>
            <a:ext cx="2606040" cy="2468880"/>
          </a:xfrm>
          <a:prstGeom prst="roundRect">
            <a:avLst>
              <a:gd name="adj" fmla="val 3704"/>
            </a:avLst>
          </a:prstGeom>
          <a:solidFill>
            <a:srgbClr val="21295C">
              <a:alpha val="85000"/>
            </a:srgbClr>
          </a:solidFill>
          <a:ln/>
        </p:spPr>
        <p:txBody>
          <a:bodyPr/>
          <a:lstStyle/>
          <a:p>
            <a:endParaRPr lang="en-US"/>
          </a:p>
        </p:txBody>
      </p:sp>
      <p:sp>
        <p:nvSpPr>
          <p:cNvPr id="11" name="Shape 8"/>
          <p:cNvSpPr/>
          <p:nvPr/>
        </p:nvSpPr>
        <p:spPr>
          <a:xfrm>
            <a:off x="3703320" y="3566160"/>
            <a:ext cx="594360" cy="594360"/>
          </a:xfrm>
          <a:prstGeom prst="ellipse">
            <a:avLst/>
          </a:prstGeom>
          <a:solidFill>
            <a:srgbClr val="1C7293"/>
          </a:solidFill>
          <a:ln/>
        </p:spPr>
        <p:txBody>
          <a:bodyPr/>
          <a:lstStyle/>
          <a:p>
            <a:endParaRPr lang="en-US"/>
          </a:p>
        </p:txBody>
      </p:sp>
      <p:pic>
        <p:nvPicPr>
          <p:cNvPr id="12" name="Image 1" descr="/tmp/deck/icon_network_white.png"/>
          <p:cNvPicPr>
            <a:picLocks noChangeAspect="1"/>
          </p:cNvPicPr>
          <p:nvPr/>
        </p:nvPicPr>
        <p:blipFill>
          <a:blip r:embed="rId4"/>
          <a:stretch>
            <a:fillRect/>
          </a:stretch>
        </p:blipFill>
        <p:spPr>
          <a:xfrm>
            <a:off x="3780587" y="3643427"/>
            <a:ext cx="439826" cy="439826"/>
          </a:xfrm>
          <a:prstGeom prst="rect">
            <a:avLst/>
          </a:prstGeom>
        </p:spPr>
      </p:pic>
      <p:sp>
        <p:nvSpPr>
          <p:cNvPr id="13" name="Text 9"/>
          <p:cNvSpPr/>
          <p:nvPr/>
        </p:nvSpPr>
        <p:spPr>
          <a:xfrm>
            <a:off x="3703320" y="4297680"/>
            <a:ext cx="214884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Hàng nghìn chuỗi</a:t>
            </a:r>
            <a:endParaRPr lang="en-US" sz="1500" dirty="0"/>
          </a:p>
        </p:txBody>
      </p:sp>
      <p:sp>
        <p:nvSpPr>
          <p:cNvPr id="14" name="Text 10"/>
          <p:cNvSpPr/>
          <p:nvPr/>
        </p:nvSpPr>
        <p:spPr>
          <a:xfrm>
            <a:off x="3703320" y="4754880"/>
            <a:ext cx="2148840" cy="822960"/>
          </a:xfrm>
          <a:prstGeom prst="rect">
            <a:avLst/>
          </a:prstGeom>
          <a:noFill/>
          <a:ln/>
        </p:spPr>
        <p:txBody>
          <a:bodyPr wrap="square" rtlCol="0" anchor="ctr"/>
          <a:lstStyle/>
          <a:p>
            <a:pPr marL="0" indent="0">
              <a:buNone/>
            </a:pPr>
            <a:r>
              <a:rPr lang="en-US" sz="1150" dirty="0">
                <a:solidFill>
                  <a:srgbClr val="C9DFEC"/>
                </a:solidFill>
                <a:latin typeface="Calibri" pitchFamily="34" charset="0"/>
                <a:ea typeface="Calibri" pitchFamily="34" charset="-122"/>
                <a:cs typeface="Calibri" pitchFamily="34" charset="-120"/>
              </a:rPr>
              <a:t>Mỗi SKU × mỗi cửa hàng là 1 chuỗi riêng</a:t>
            </a:r>
            <a:endParaRPr lang="en-US" sz="1150" dirty="0"/>
          </a:p>
        </p:txBody>
      </p:sp>
      <p:sp>
        <p:nvSpPr>
          <p:cNvPr id="15" name="Shape 11"/>
          <p:cNvSpPr/>
          <p:nvPr/>
        </p:nvSpPr>
        <p:spPr>
          <a:xfrm>
            <a:off x="6309360" y="3291840"/>
            <a:ext cx="2606040" cy="2468880"/>
          </a:xfrm>
          <a:prstGeom prst="roundRect">
            <a:avLst>
              <a:gd name="adj" fmla="val 3704"/>
            </a:avLst>
          </a:prstGeom>
          <a:solidFill>
            <a:srgbClr val="21295C">
              <a:alpha val="85000"/>
            </a:srgbClr>
          </a:solidFill>
          <a:ln/>
        </p:spPr>
        <p:txBody>
          <a:bodyPr/>
          <a:lstStyle/>
          <a:p>
            <a:endParaRPr lang="en-US"/>
          </a:p>
        </p:txBody>
      </p:sp>
      <p:sp>
        <p:nvSpPr>
          <p:cNvPr id="16" name="Shape 12"/>
          <p:cNvSpPr/>
          <p:nvPr/>
        </p:nvSpPr>
        <p:spPr>
          <a:xfrm>
            <a:off x="6537960" y="3566160"/>
            <a:ext cx="594360" cy="594360"/>
          </a:xfrm>
          <a:prstGeom prst="ellipse">
            <a:avLst/>
          </a:prstGeom>
          <a:solidFill>
            <a:srgbClr val="1C7293"/>
          </a:solidFill>
          <a:ln/>
        </p:spPr>
        <p:txBody>
          <a:bodyPr/>
          <a:lstStyle/>
          <a:p>
            <a:endParaRPr lang="en-US"/>
          </a:p>
        </p:txBody>
      </p:sp>
      <p:pic>
        <p:nvPicPr>
          <p:cNvPr id="17" name="Image 2" descr="/tmp/deck/icon_tags_white.png"/>
          <p:cNvPicPr>
            <a:picLocks noChangeAspect="1"/>
          </p:cNvPicPr>
          <p:nvPr/>
        </p:nvPicPr>
        <p:blipFill>
          <a:blip r:embed="rId5"/>
          <a:stretch>
            <a:fillRect/>
          </a:stretch>
        </p:blipFill>
        <p:spPr>
          <a:xfrm>
            <a:off x="6615227" y="3643427"/>
            <a:ext cx="439826" cy="439826"/>
          </a:xfrm>
          <a:prstGeom prst="rect">
            <a:avLst/>
          </a:prstGeom>
        </p:spPr>
      </p:pic>
      <p:sp>
        <p:nvSpPr>
          <p:cNvPr id="18" name="Text 13"/>
          <p:cNvSpPr/>
          <p:nvPr/>
        </p:nvSpPr>
        <p:spPr>
          <a:xfrm>
            <a:off x="6537960" y="4297680"/>
            <a:ext cx="214884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Nhiễu ngoại sinh</a:t>
            </a:r>
            <a:endParaRPr lang="en-US" sz="1500" dirty="0"/>
          </a:p>
        </p:txBody>
      </p:sp>
      <p:sp>
        <p:nvSpPr>
          <p:cNvPr id="19" name="Text 14"/>
          <p:cNvSpPr/>
          <p:nvPr/>
        </p:nvSpPr>
        <p:spPr>
          <a:xfrm>
            <a:off x="6537960" y="4754880"/>
            <a:ext cx="2148840" cy="822960"/>
          </a:xfrm>
          <a:prstGeom prst="rect">
            <a:avLst/>
          </a:prstGeom>
          <a:noFill/>
          <a:ln/>
        </p:spPr>
        <p:txBody>
          <a:bodyPr wrap="square" rtlCol="0" anchor="ctr"/>
          <a:lstStyle/>
          <a:p>
            <a:pPr marL="0" indent="0">
              <a:buNone/>
            </a:pPr>
            <a:r>
              <a:rPr lang="en-US" sz="1150" dirty="0">
                <a:solidFill>
                  <a:srgbClr val="C9DFEC"/>
                </a:solidFill>
                <a:latin typeface="Calibri" pitchFamily="34" charset="0"/>
                <a:ea typeface="Calibri" pitchFamily="34" charset="-122"/>
                <a:cs typeface="Calibri" pitchFamily="34" charset="-120"/>
              </a:rPr>
              <a:t>Khuyến mãi, giá, lễ tết chi phối mạnh</a:t>
            </a:r>
            <a:endParaRPr lang="en-US" sz="1150" dirty="0"/>
          </a:p>
        </p:txBody>
      </p:sp>
      <p:sp>
        <p:nvSpPr>
          <p:cNvPr id="20" name="Shape 15"/>
          <p:cNvSpPr/>
          <p:nvPr/>
        </p:nvSpPr>
        <p:spPr>
          <a:xfrm>
            <a:off x="9144000" y="3291840"/>
            <a:ext cx="2606040" cy="2468880"/>
          </a:xfrm>
          <a:prstGeom prst="roundRect">
            <a:avLst>
              <a:gd name="adj" fmla="val 3704"/>
            </a:avLst>
          </a:prstGeom>
          <a:solidFill>
            <a:srgbClr val="21295C">
              <a:alpha val="85000"/>
            </a:srgbClr>
          </a:solidFill>
          <a:ln/>
        </p:spPr>
        <p:txBody>
          <a:bodyPr/>
          <a:lstStyle/>
          <a:p>
            <a:endParaRPr lang="en-US"/>
          </a:p>
        </p:txBody>
      </p:sp>
      <p:sp>
        <p:nvSpPr>
          <p:cNvPr id="21" name="Shape 16"/>
          <p:cNvSpPr/>
          <p:nvPr/>
        </p:nvSpPr>
        <p:spPr>
          <a:xfrm>
            <a:off x="9372600" y="3566160"/>
            <a:ext cx="594360" cy="594360"/>
          </a:xfrm>
          <a:prstGeom prst="ellipse">
            <a:avLst/>
          </a:prstGeom>
          <a:solidFill>
            <a:srgbClr val="1C7293"/>
          </a:solidFill>
          <a:ln/>
        </p:spPr>
        <p:txBody>
          <a:bodyPr/>
          <a:lstStyle/>
          <a:p>
            <a:endParaRPr lang="en-US"/>
          </a:p>
        </p:txBody>
      </p:sp>
      <p:pic>
        <p:nvPicPr>
          <p:cNvPr id="22" name="Image 3" descr="/tmp/deck/icon_sitemap_white.png"/>
          <p:cNvPicPr>
            <a:picLocks noChangeAspect="1"/>
          </p:cNvPicPr>
          <p:nvPr/>
        </p:nvPicPr>
        <p:blipFill>
          <a:blip r:embed="rId6"/>
          <a:stretch>
            <a:fillRect/>
          </a:stretch>
        </p:blipFill>
        <p:spPr>
          <a:xfrm>
            <a:off x="9449867" y="3643427"/>
            <a:ext cx="439826" cy="439826"/>
          </a:xfrm>
          <a:prstGeom prst="rect">
            <a:avLst/>
          </a:prstGeom>
        </p:spPr>
      </p:pic>
      <p:sp>
        <p:nvSpPr>
          <p:cNvPr id="23" name="Text 17"/>
          <p:cNvSpPr/>
          <p:nvPr/>
        </p:nvSpPr>
        <p:spPr>
          <a:xfrm>
            <a:off x="9372600" y="4297680"/>
            <a:ext cx="214884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Đa cấp độ</a:t>
            </a:r>
            <a:endParaRPr lang="en-US" sz="1500" dirty="0"/>
          </a:p>
        </p:txBody>
      </p:sp>
      <p:sp>
        <p:nvSpPr>
          <p:cNvPr id="24" name="Text 18"/>
          <p:cNvSpPr/>
          <p:nvPr/>
        </p:nvSpPr>
        <p:spPr>
          <a:xfrm>
            <a:off x="9372600" y="4754880"/>
            <a:ext cx="2148840" cy="822960"/>
          </a:xfrm>
          <a:prstGeom prst="rect">
            <a:avLst/>
          </a:prstGeom>
          <a:noFill/>
          <a:ln/>
        </p:spPr>
        <p:txBody>
          <a:bodyPr wrap="square" rtlCol="0" anchor="ctr"/>
          <a:lstStyle/>
          <a:p>
            <a:pPr marL="0" indent="0">
              <a:buNone/>
            </a:pPr>
            <a:r>
              <a:rPr lang="en-US" sz="1150" dirty="0">
                <a:solidFill>
                  <a:srgbClr val="C9DFEC"/>
                </a:solidFill>
                <a:latin typeface="Calibri" pitchFamily="34" charset="0"/>
                <a:ea typeface="Calibri" pitchFamily="34" charset="-122"/>
                <a:cs typeface="Calibri" pitchFamily="34" charset="-120"/>
              </a:rPr>
              <a:t>Item → category → store → toàn hệ thống</a:t>
            </a:r>
            <a:endParaRPr lang="en-US" sz="1150" dirty="0"/>
          </a:p>
        </p:txBody>
      </p:sp>
      <p:sp>
        <p:nvSpPr>
          <p:cNvPr id="25" name="Text 19"/>
          <p:cNvSpPr/>
          <p:nvPr/>
        </p:nvSpPr>
        <p:spPr>
          <a:xfrm>
            <a:off x="640080" y="5989320"/>
            <a:ext cx="9144000" cy="365760"/>
          </a:xfrm>
          <a:prstGeom prst="rect">
            <a:avLst/>
          </a:prstGeom>
          <a:noFill/>
          <a:ln/>
        </p:spPr>
        <p:txBody>
          <a:bodyPr wrap="square" rtlCol="0" anchor="ctr"/>
          <a:lstStyle/>
          <a:p>
            <a:pPr marL="0" indent="0">
              <a:buNone/>
            </a:pPr>
            <a:r>
              <a:rPr lang="en-US" sz="1250" i="1" dirty="0">
                <a:solidFill>
                  <a:srgbClr val="8FC1DB"/>
                </a:solidFill>
                <a:latin typeface="Calibri" pitchFamily="34" charset="0"/>
                <a:ea typeface="Calibri" pitchFamily="34" charset="-122"/>
                <a:cs typeface="Calibri" pitchFamily="34" charset="-120"/>
              </a:rPr>
              <a:t>7 vấn đề domain cốt lõi sẽ được phân tích ở các slide tiếp theo →</a:t>
            </a:r>
            <a:endParaRPr lang="en-US" sz="1250" dirty="0"/>
          </a:p>
        </p:txBody>
      </p:sp>
      <p:sp>
        <p:nvSpPr>
          <p:cNvPr id="26" name="Text 2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8FA6C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Text 1"/>
          <p:cNvSpPr/>
          <p:nvPr/>
        </p:nvSpPr>
        <p:spPr>
          <a:xfrm>
            <a:off x="457200" y="502920"/>
            <a:ext cx="2103120" cy="1188720"/>
          </a:xfrm>
          <a:prstGeom prst="rect">
            <a:avLst/>
          </a:prstGeom>
          <a:noFill/>
          <a:ln/>
        </p:spPr>
        <p:txBody>
          <a:bodyPr wrap="square" rtlCol="0" anchor="ctr"/>
          <a:lstStyle/>
          <a:p>
            <a:pPr marL="0" indent="0">
              <a:buNone/>
            </a:pPr>
            <a:r>
              <a:rPr lang="en-US" sz="6000" b="1" dirty="0">
                <a:solidFill>
                  <a:srgbClr val="5FB8DE"/>
                </a:solidFill>
                <a:latin typeface="Cambria" pitchFamily="34" charset="0"/>
                <a:ea typeface="Cambria" pitchFamily="34" charset="-122"/>
                <a:cs typeface="Cambria" pitchFamily="34" charset="-120"/>
              </a:rPr>
              <a:t>01</a:t>
            </a:r>
            <a:endParaRPr lang="en-US" sz="6000" dirty="0"/>
          </a:p>
        </p:txBody>
      </p:sp>
      <p:sp>
        <p:nvSpPr>
          <p:cNvPr id="4" name="Shape 2"/>
          <p:cNvSpPr/>
          <p:nvPr/>
        </p:nvSpPr>
        <p:spPr>
          <a:xfrm>
            <a:off x="457200" y="1737360"/>
            <a:ext cx="868680" cy="868680"/>
          </a:xfrm>
          <a:prstGeom prst="ellipse">
            <a:avLst/>
          </a:prstGeom>
          <a:solidFill>
            <a:srgbClr val="065A82"/>
          </a:solidFill>
          <a:ln/>
        </p:spPr>
        <p:txBody>
          <a:bodyPr/>
          <a:lstStyle/>
          <a:p>
            <a:endParaRPr lang="en-US"/>
          </a:p>
        </p:txBody>
      </p:sp>
      <p:pic>
        <p:nvPicPr>
          <p:cNvPr id="5" name="Image 0" descr="/tmp/deck/icon_chartline_white.png"/>
          <p:cNvPicPr>
            <a:picLocks noChangeAspect="1"/>
          </p:cNvPicPr>
          <p:nvPr/>
        </p:nvPicPr>
        <p:blipFill>
          <a:blip r:embed="rId3"/>
          <a:stretch>
            <a:fillRect/>
          </a:stretch>
        </p:blipFill>
        <p:spPr>
          <a:xfrm>
            <a:off x="570128" y="1850288"/>
            <a:ext cx="642823" cy="642823"/>
          </a:xfrm>
          <a:prstGeom prst="rect">
            <a:avLst/>
          </a:prstGeom>
        </p:spPr>
      </p:pic>
      <p:sp>
        <p:nvSpPr>
          <p:cNvPr id="6" name="Text 3"/>
          <p:cNvSpPr/>
          <p:nvPr/>
        </p:nvSpPr>
        <p:spPr>
          <a:xfrm>
            <a:off x="457200" y="2834640"/>
            <a:ext cx="2286000" cy="1371600"/>
          </a:xfrm>
          <a:prstGeom prst="rect">
            <a:avLst/>
          </a:prstGeom>
          <a:noFill/>
          <a:ln/>
        </p:spPr>
        <p:txBody>
          <a:bodyPr wrap="square"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Intermittent</a:t>
            </a:r>
            <a:endParaRPr lang="en-US" sz="2000" dirty="0"/>
          </a:p>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Demand</a:t>
            </a:r>
            <a:endParaRPr lang="en-US" sz="2000" dirty="0"/>
          </a:p>
        </p:txBody>
      </p:sp>
      <p:sp>
        <p:nvSpPr>
          <p:cNvPr id="7" name="Text 4"/>
          <p:cNvSpPr/>
          <p:nvPr/>
        </p:nvSpPr>
        <p:spPr>
          <a:xfrm>
            <a:off x="457200" y="4160520"/>
            <a:ext cx="2286000" cy="82296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Nhu cầu gián đoạn / thưa</a:t>
            </a:r>
            <a:endParaRPr lang="en-US" sz="1150" dirty="0"/>
          </a:p>
        </p:txBody>
      </p:sp>
      <p:sp>
        <p:nvSpPr>
          <p:cNvPr id="8" name="Text 5"/>
          <p:cNvSpPr/>
          <p:nvPr/>
        </p:nvSpPr>
        <p:spPr>
          <a:xfrm>
            <a:off x="3429000" y="5080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VẤN ĐỀ LÀ GÌ</a:t>
            </a:r>
            <a:endParaRPr lang="en-US" sz="1200" dirty="0"/>
          </a:p>
        </p:txBody>
      </p:sp>
      <p:sp>
        <p:nvSpPr>
          <p:cNvPr id="9" name="Text 6"/>
          <p:cNvSpPr/>
          <p:nvPr/>
        </p:nvSpPr>
        <p:spPr>
          <a:xfrm>
            <a:off x="3429000" y="787400"/>
            <a:ext cx="7950200" cy="5080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Ở cấp SKU–cửa hàng–ngày, phần lớn sản phẩm không bán mỗi ngày: chuỗi đầy giá trị 0 xen vài đợt bán đột biến.</a:t>
            </a:r>
            <a:endParaRPr lang="en-US" sz="1350" dirty="0"/>
          </a:p>
        </p:txBody>
      </p:sp>
      <p:sp>
        <p:nvSpPr>
          <p:cNvPr id="10" name="Text 7"/>
          <p:cNvSpPr/>
          <p:nvPr/>
        </p:nvSpPr>
        <p:spPr>
          <a:xfrm>
            <a:off x="3429000" y="33782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TẠI SAO QUAN TRỌNG</a:t>
            </a:r>
            <a:endParaRPr lang="en-US" sz="1200" dirty="0"/>
          </a:p>
        </p:txBody>
      </p:sp>
      <p:sp>
        <p:nvSpPr>
          <p:cNvPr id="11" name="Text 8"/>
          <p:cNvSpPr/>
          <p:nvPr/>
        </p:nvSpPr>
        <p:spPr>
          <a:xfrm>
            <a:off x="3429000" y="36576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Regression thông thường (kể cả LightGBM mặc định) tối thiểu hóa loss bằng cách dự báo gần 0 — MAE/RMSE trông thấp nhưng vô dụng cho kế hoạch tồn kho.</a:t>
            </a:r>
            <a:endParaRPr lang="en-US" sz="1350" dirty="0"/>
          </a:p>
        </p:txBody>
      </p:sp>
      <p:sp>
        <p:nvSpPr>
          <p:cNvPr id="12" name="Shape 9"/>
          <p:cNvSpPr/>
          <p:nvPr/>
        </p:nvSpPr>
        <p:spPr>
          <a:xfrm>
            <a:off x="3429000" y="4526280"/>
            <a:ext cx="7955280" cy="1417320"/>
          </a:xfrm>
          <a:prstGeom prst="roundRect">
            <a:avLst>
              <a:gd name="adj" fmla="val 5161"/>
            </a:avLst>
          </a:prstGeom>
          <a:solidFill>
            <a:srgbClr val="F5F9FB"/>
          </a:solidFill>
          <a:ln w="12700">
            <a:solidFill>
              <a:srgbClr val="E1E8EC"/>
            </a:solidFill>
            <a:prstDash val="solid"/>
          </a:ln>
        </p:spPr>
        <p:txBody>
          <a:bodyPr/>
          <a:lstStyle/>
          <a:p>
            <a:endParaRPr lang="en-US"/>
          </a:p>
        </p:txBody>
      </p:sp>
      <p:sp>
        <p:nvSpPr>
          <p:cNvPr id="13" name="Shape 10"/>
          <p:cNvSpPr/>
          <p:nvPr/>
        </p:nvSpPr>
        <p:spPr>
          <a:xfrm>
            <a:off x="3630168" y="4709160"/>
            <a:ext cx="457200" cy="457200"/>
          </a:xfrm>
          <a:prstGeom prst="ellipse">
            <a:avLst/>
          </a:prstGeom>
          <a:solidFill>
            <a:srgbClr val="1C7293"/>
          </a:solidFill>
          <a:ln/>
        </p:spPr>
        <p:txBody>
          <a:bodyPr/>
          <a:lstStyle/>
          <a:p>
            <a:endParaRPr lang="en-US"/>
          </a:p>
        </p:txBody>
      </p:sp>
      <p:pic>
        <p:nvPicPr>
          <p:cNvPr id="14" name="Image 1" descr="/tmp/deck/icon_magic_white.png"/>
          <p:cNvPicPr>
            <a:picLocks noChangeAspect="1"/>
          </p:cNvPicPr>
          <p:nvPr/>
        </p:nvPicPr>
        <p:blipFill>
          <a:blip r:embed="rId4"/>
          <a:stretch>
            <a:fillRect/>
          </a:stretch>
        </p:blipFill>
        <p:spPr>
          <a:xfrm>
            <a:off x="3689604" y="4768596"/>
            <a:ext cx="338328" cy="338328"/>
          </a:xfrm>
          <a:prstGeom prst="rect">
            <a:avLst/>
          </a:prstGeom>
        </p:spPr>
      </p:pic>
      <p:sp>
        <p:nvSpPr>
          <p:cNvPr id="15" name="Text 11"/>
          <p:cNvSpPr/>
          <p:nvPr/>
        </p:nvSpPr>
        <p:spPr>
          <a:xfrm>
            <a:off x="4251960" y="4690872"/>
            <a:ext cx="548640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Hướng xử lý (ý tưởng)</a:t>
            </a:r>
            <a:endParaRPr lang="en-US" sz="1250" dirty="0"/>
          </a:p>
        </p:txBody>
      </p:sp>
      <p:sp>
        <p:nvSpPr>
          <p:cNvPr id="16" name="Text 12"/>
          <p:cNvSpPr/>
          <p:nvPr/>
        </p:nvSpPr>
        <p:spPr>
          <a:xfrm>
            <a:off x="4251960" y="5029200"/>
            <a:ext cx="6766560" cy="868680"/>
          </a:xfrm>
          <a:prstGeom prst="rect">
            <a:avLst/>
          </a:prstGeom>
          <a:noFill/>
          <a:ln/>
        </p:spPr>
        <p:txBody>
          <a:bodyPr wrap="square" rtlCol="0" anchor="ctr"/>
          <a:lstStyle/>
          <a:p>
            <a:pPr marL="0" indent="0">
              <a:lnSpc>
                <a:spcPts val="1500"/>
              </a:lnSpc>
              <a:buNone/>
            </a:pPr>
            <a:r>
              <a:rPr lang="en-US" sz="1150" dirty="0">
                <a:solidFill>
                  <a:srgbClr val="3A4750"/>
                </a:solidFill>
                <a:latin typeface="Calibri" pitchFamily="34" charset="0"/>
                <a:ea typeface="Calibri" pitchFamily="34" charset="-122"/>
                <a:cs typeface="Calibri" pitchFamily="34" charset="-120"/>
              </a:rPr>
              <a:t>Cân nhắc mô hình 2 bước (classification "có bán không" + regression "bán bao nhiêu"), dùng loss Tweedie/Poisson thay MSE mặc định, và luôn báo cáo metric theo nhóm fast/slow-moving.</a:t>
            </a:r>
            <a:endParaRPr lang="en-US" sz="1150" dirty="0"/>
          </a:p>
        </p:txBody>
      </p:sp>
      <p:sp>
        <p:nvSpPr>
          <p:cNvPr id="17" name="Text 13"/>
          <p:cNvSpPr/>
          <p:nvPr/>
        </p:nvSpPr>
        <p:spPr>
          <a:xfrm>
            <a:off x="3429000" y="6172200"/>
            <a:ext cx="7955280" cy="32004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Forecasting Intermittent Sales in Fashion Retail — Forecast, 2025 (doi.org/10.3390/forecast8040056)</a:t>
            </a:r>
            <a:endParaRPr lang="en-US" sz="950" dirty="0"/>
          </a:p>
        </p:txBody>
      </p:sp>
      <p:sp>
        <p:nvSpPr>
          <p:cNvPr id="18"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04</a:t>
            </a:r>
            <a:endParaRPr lang="en-US" sz="1000" dirty="0"/>
          </a:p>
        </p:txBody>
      </p:sp>
      <p:sp>
        <p:nvSpPr>
          <p:cNvPr id="300" name="ExT300"/>
          <p:cNvSpPr txBox="1"/>
          <p:nvPr/>
        </p:nvSpPr>
        <p:spPr>
          <a:xfrm>
            <a:off x="3429000" y="1371600"/>
            <a:ext cx="7772400" cy="254000"/>
          </a:xfrm>
          <a:prstGeom prst="rect">
            <a:avLst/>
          </a:prstGeom>
          <a:noFill/>
        </p:spPr>
        <p:txBody>
          <a:bodyPr wrap="square" lIns="0" tIns="0" rIns="0" bIns="0" anchor="t"/>
          <a:lstStyle/>
          <a:p>
            <a:pPr marL="0" indent="0" algn="l">
              <a:lnSpc>
                <a:spcPts val="1500"/>
              </a:lnSpc>
              <a:buNone/>
            </a:pPr>
            <a:r>
              <a:rPr lang="en-US" sz="1200" b="1" spc="150" dirty="0">
                <a:solidFill>
                  <a:srgbClr val="065A82"/>
                </a:solidFill>
                <a:latin typeface="Calibri" pitchFamily="34" charset="0"/>
                <a:cs typeface="Calibri"/>
              </a:rPr>
              <a:t>VÍ DỤ TRÊN M5</a:t>
            </a:r>
          </a:p>
        </p:txBody>
      </p:sp>
      <p:sp>
        <p:nvSpPr>
          <p:cNvPr id="301" name="Ex301"/>
          <p:cNvSpPr/>
          <p:nvPr/>
        </p:nvSpPr>
        <p:spPr>
          <a:xfrm>
            <a:off x="3429000" y="1651000"/>
            <a:ext cx="7950200" cy="1625600"/>
          </a:xfrm>
          <a:prstGeom prst="roundRect">
            <a:avLst>
              <a:gd name="adj" fmla="val 6000"/>
            </a:avLst>
          </a:prstGeom>
          <a:solidFill>
            <a:srgbClr val="F5F9FB"/>
          </a:solidFill>
          <a:ln w="12700">
            <a:solidFill>
              <a:srgbClr val="CFE1EA"/>
            </a:solidFill>
          </a:ln>
        </p:spPr>
        <p:txBody>
          <a:bodyPr/>
          <a:lstStyle/>
          <a:p>
            <a:endParaRPr lang="en-US"/>
          </a:p>
        </p:txBody>
      </p:sp>
      <p:sp>
        <p:nvSpPr>
          <p:cNvPr id="302" name="ExT302"/>
          <p:cNvSpPr txBox="1"/>
          <p:nvPr/>
        </p:nvSpPr>
        <p:spPr>
          <a:xfrm>
            <a:off x="3632200" y="1778000"/>
            <a:ext cx="7543800" cy="2540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Bán theo ngày · 28 ngày cuối (d_1914 → d_1941) · cửa hàng CA_1</a:t>
            </a:r>
          </a:p>
        </p:txBody>
      </p:sp>
      <p:sp>
        <p:nvSpPr>
          <p:cNvPr id="303" name="ExT303"/>
          <p:cNvSpPr txBox="1"/>
          <p:nvPr/>
        </p:nvSpPr>
        <p:spPr>
          <a:xfrm>
            <a:off x="3632200" y="2108200"/>
            <a:ext cx="1676400" cy="228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HOBBIES_2 · chậm</a:t>
            </a:r>
          </a:p>
        </p:txBody>
      </p:sp>
      <p:sp>
        <p:nvSpPr>
          <p:cNvPr id="304" name="Ex304"/>
          <p:cNvSpPr/>
          <p:nvPr/>
        </p:nvSpPr>
        <p:spPr>
          <a:xfrm>
            <a:off x="5384800" y="2108200"/>
            <a:ext cx="177800" cy="190500"/>
          </a:xfrm>
          <a:prstGeom prst="roundRect">
            <a:avLst>
              <a:gd name="adj" fmla="val 14000"/>
            </a:avLst>
          </a:prstGeom>
          <a:solidFill>
            <a:srgbClr val="E6EAED"/>
          </a:solidFill>
          <a:ln>
            <a:noFill/>
          </a:ln>
        </p:spPr>
        <p:txBody>
          <a:bodyPr/>
          <a:lstStyle/>
          <a:p>
            <a:endParaRPr lang="en-US"/>
          </a:p>
        </p:txBody>
      </p:sp>
      <p:sp>
        <p:nvSpPr>
          <p:cNvPr id="305" name="Ex305"/>
          <p:cNvSpPr/>
          <p:nvPr/>
        </p:nvSpPr>
        <p:spPr>
          <a:xfrm>
            <a:off x="5582920" y="2108200"/>
            <a:ext cx="177800" cy="190500"/>
          </a:xfrm>
          <a:prstGeom prst="roundRect">
            <a:avLst>
              <a:gd name="adj" fmla="val 14000"/>
            </a:avLst>
          </a:prstGeom>
          <a:solidFill>
            <a:srgbClr val="E6EAED"/>
          </a:solidFill>
          <a:ln>
            <a:noFill/>
          </a:ln>
        </p:spPr>
        <p:txBody>
          <a:bodyPr/>
          <a:lstStyle/>
          <a:p>
            <a:endParaRPr lang="en-US"/>
          </a:p>
        </p:txBody>
      </p:sp>
      <p:sp>
        <p:nvSpPr>
          <p:cNvPr id="306" name="Ex306"/>
          <p:cNvSpPr/>
          <p:nvPr/>
        </p:nvSpPr>
        <p:spPr>
          <a:xfrm>
            <a:off x="5781040" y="2108200"/>
            <a:ext cx="177800" cy="190500"/>
          </a:xfrm>
          <a:prstGeom prst="roundRect">
            <a:avLst>
              <a:gd name="adj" fmla="val 14000"/>
            </a:avLst>
          </a:prstGeom>
          <a:solidFill>
            <a:srgbClr val="E6EAED"/>
          </a:solidFill>
          <a:ln>
            <a:noFill/>
          </a:ln>
        </p:spPr>
        <p:txBody>
          <a:bodyPr/>
          <a:lstStyle/>
          <a:p>
            <a:endParaRPr lang="en-US"/>
          </a:p>
        </p:txBody>
      </p:sp>
      <p:sp>
        <p:nvSpPr>
          <p:cNvPr id="307" name="Ex307"/>
          <p:cNvSpPr/>
          <p:nvPr/>
        </p:nvSpPr>
        <p:spPr>
          <a:xfrm>
            <a:off x="5979160" y="2108200"/>
            <a:ext cx="177800" cy="190500"/>
          </a:xfrm>
          <a:prstGeom prst="roundRect">
            <a:avLst>
              <a:gd name="adj" fmla="val 14000"/>
            </a:avLst>
          </a:prstGeom>
          <a:solidFill>
            <a:srgbClr val="A8CBDB"/>
          </a:solidFill>
          <a:ln>
            <a:noFill/>
          </a:ln>
        </p:spPr>
        <p:txBody>
          <a:bodyPr/>
          <a:lstStyle/>
          <a:p>
            <a:endParaRPr lang="en-US"/>
          </a:p>
        </p:txBody>
      </p:sp>
      <p:sp>
        <p:nvSpPr>
          <p:cNvPr id="308" name="Ex308"/>
          <p:cNvSpPr/>
          <p:nvPr/>
        </p:nvSpPr>
        <p:spPr>
          <a:xfrm>
            <a:off x="6177280" y="2108200"/>
            <a:ext cx="177800" cy="190500"/>
          </a:xfrm>
          <a:prstGeom prst="roundRect">
            <a:avLst>
              <a:gd name="adj" fmla="val 14000"/>
            </a:avLst>
          </a:prstGeom>
          <a:solidFill>
            <a:srgbClr val="E6EAED"/>
          </a:solidFill>
          <a:ln>
            <a:noFill/>
          </a:ln>
        </p:spPr>
        <p:txBody>
          <a:bodyPr/>
          <a:lstStyle/>
          <a:p>
            <a:endParaRPr lang="en-US"/>
          </a:p>
        </p:txBody>
      </p:sp>
      <p:sp>
        <p:nvSpPr>
          <p:cNvPr id="309" name="Ex309"/>
          <p:cNvSpPr/>
          <p:nvPr/>
        </p:nvSpPr>
        <p:spPr>
          <a:xfrm>
            <a:off x="6375400" y="2108200"/>
            <a:ext cx="177800" cy="190500"/>
          </a:xfrm>
          <a:prstGeom prst="roundRect">
            <a:avLst>
              <a:gd name="adj" fmla="val 14000"/>
            </a:avLst>
          </a:prstGeom>
          <a:solidFill>
            <a:srgbClr val="E6EAED"/>
          </a:solidFill>
          <a:ln>
            <a:noFill/>
          </a:ln>
        </p:spPr>
        <p:txBody>
          <a:bodyPr/>
          <a:lstStyle/>
          <a:p>
            <a:endParaRPr lang="en-US"/>
          </a:p>
        </p:txBody>
      </p:sp>
      <p:sp>
        <p:nvSpPr>
          <p:cNvPr id="310" name="Ex310"/>
          <p:cNvSpPr/>
          <p:nvPr/>
        </p:nvSpPr>
        <p:spPr>
          <a:xfrm>
            <a:off x="6573520" y="2108200"/>
            <a:ext cx="177800" cy="190500"/>
          </a:xfrm>
          <a:prstGeom prst="roundRect">
            <a:avLst>
              <a:gd name="adj" fmla="val 14000"/>
            </a:avLst>
          </a:prstGeom>
          <a:solidFill>
            <a:srgbClr val="E6EAED"/>
          </a:solidFill>
          <a:ln>
            <a:noFill/>
          </a:ln>
        </p:spPr>
        <p:txBody>
          <a:bodyPr/>
          <a:lstStyle/>
          <a:p>
            <a:endParaRPr lang="en-US"/>
          </a:p>
        </p:txBody>
      </p:sp>
      <p:sp>
        <p:nvSpPr>
          <p:cNvPr id="311" name="Ex311"/>
          <p:cNvSpPr/>
          <p:nvPr/>
        </p:nvSpPr>
        <p:spPr>
          <a:xfrm>
            <a:off x="6771640" y="2108200"/>
            <a:ext cx="177800" cy="190500"/>
          </a:xfrm>
          <a:prstGeom prst="roundRect">
            <a:avLst>
              <a:gd name="adj" fmla="val 14000"/>
            </a:avLst>
          </a:prstGeom>
          <a:solidFill>
            <a:srgbClr val="E6EAED"/>
          </a:solidFill>
          <a:ln>
            <a:noFill/>
          </a:ln>
        </p:spPr>
        <p:txBody>
          <a:bodyPr/>
          <a:lstStyle/>
          <a:p>
            <a:endParaRPr lang="en-US"/>
          </a:p>
        </p:txBody>
      </p:sp>
      <p:sp>
        <p:nvSpPr>
          <p:cNvPr id="312" name="Ex312"/>
          <p:cNvSpPr/>
          <p:nvPr/>
        </p:nvSpPr>
        <p:spPr>
          <a:xfrm>
            <a:off x="6969760" y="2108200"/>
            <a:ext cx="177800" cy="190500"/>
          </a:xfrm>
          <a:prstGeom prst="roundRect">
            <a:avLst>
              <a:gd name="adj" fmla="val 14000"/>
            </a:avLst>
          </a:prstGeom>
          <a:solidFill>
            <a:srgbClr val="E6EAED"/>
          </a:solidFill>
          <a:ln>
            <a:noFill/>
          </a:ln>
        </p:spPr>
        <p:txBody>
          <a:bodyPr/>
          <a:lstStyle/>
          <a:p>
            <a:endParaRPr lang="en-US"/>
          </a:p>
        </p:txBody>
      </p:sp>
      <p:sp>
        <p:nvSpPr>
          <p:cNvPr id="313" name="Ex313"/>
          <p:cNvSpPr/>
          <p:nvPr/>
        </p:nvSpPr>
        <p:spPr>
          <a:xfrm>
            <a:off x="7167880" y="2108200"/>
            <a:ext cx="177800" cy="190500"/>
          </a:xfrm>
          <a:prstGeom prst="roundRect">
            <a:avLst>
              <a:gd name="adj" fmla="val 14000"/>
            </a:avLst>
          </a:prstGeom>
          <a:solidFill>
            <a:srgbClr val="E6EAED"/>
          </a:solidFill>
          <a:ln>
            <a:noFill/>
          </a:ln>
        </p:spPr>
        <p:txBody>
          <a:bodyPr/>
          <a:lstStyle/>
          <a:p>
            <a:endParaRPr lang="en-US"/>
          </a:p>
        </p:txBody>
      </p:sp>
      <p:sp>
        <p:nvSpPr>
          <p:cNvPr id="314" name="Ex314"/>
          <p:cNvSpPr/>
          <p:nvPr/>
        </p:nvSpPr>
        <p:spPr>
          <a:xfrm>
            <a:off x="7366000" y="2108200"/>
            <a:ext cx="177800" cy="190500"/>
          </a:xfrm>
          <a:prstGeom prst="roundRect">
            <a:avLst>
              <a:gd name="adj" fmla="val 14000"/>
            </a:avLst>
          </a:prstGeom>
          <a:solidFill>
            <a:srgbClr val="A8CBDB"/>
          </a:solidFill>
          <a:ln>
            <a:noFill/>
          </a:ln>
        </p:spPr>
        <p:txBody>
          <a:bodyPr/>
          <a:lstStyle/>
          <a:p>
            <a:endParaRPr lang="en-US"/>
          </a:p>
        </p:txBody>
      </p:sp>
      <p:sp>
        <p:nvSpPr>
          <p:cNvPr id="315" name="Ex315"/>
          <p:cNvSpPr/>
          <p:nvPr/>
        </p:nvSpPr>
        <p:spPr>
          <a:xfrm>
            <a:off x="7564120" y="2108200"/>
            <a:ext cx="177800" cy="190500"/>
          </a:xfrm>
          <a:prstGeom prst="roundRect">
            <a:avLst>
              <a:gd name="adj" fmla="val 14000"/>
            </a:avLst>
          </a:prstGeom>
          <a:solidFill>
            <a:srgbClr val="E6EAED"/>
          </a:solidFill>
          <a:ln>
            <a:noFill/>
          </a:ln>
        </p:spPr>
        <p:txBody>
          <a:bodyPr/>
          <a:lstStyle/>
          <a:p>
            <a:endParaRPr lang="en-US"/>
          </a:p>
        </p:txBody>
      </p:sp>
      <p:sp>
        <p:nvSpPr>
          <p:cNvPr id="316" name="Ex316"/>
          <p:cNvSpPr/>
          <p:nvPr/>
        </p:nvSpPr>
        <p:spPr>
          <a:xfrm>
            <a:off x="7762240" y="2108200"/>
            <a:ext cx="177800" cy="190500"/>
          </a:xfrm>
          <a:prstGeom prst="roundRect">
            <a:avLst>
              <a:gd name="adj" fmla="val 14000"/>
            </a:avLst>
          </a:prstGeom>
          <a:solidFill>
            <a:srgbClr val="E6EAED"/>
          </a:solidFill>
          <a:ln>
            <a:noFill/>
          </a:ln>
        </p:spPr>
        <p:txBody>
          <a:bodyPr/>
          <a:lstStyle/>
          <a:p>
            <a:endParaRPr lang="en-US"/>
          </a:p>
        </p:txBody>
      </p:sp>
      <p:sp>
        <p:nvSpPr>
          <p:cNvPr id="317" name="Ex317"/>
          <p:cNvSpPr/>
          <p:nvPr/>
        </p:nvSpPr>
        <p:spPr>
          <a:xfrm>
            <a:off x="7960360" y="2108200"/>
            <a:ext cx="177800" cy="190500"/>
          </a:xfrm>
          <a:prstGeom prst="roundRect">
            <a:avLst>
              <a:gd name="adj" fmla="val 14000"/>
            </a:avLst>
          </a:prstGeom>
          <a:solidFill>
            <a:srgbClr val="E6EAED"/>
          </a:solidFill>
          <a:ln>
            <a:noFill/>
          </a:ln>
        </p:spPr>
        <p:txBody>
          <a:bodyPr/>
          <a:lstStyle/>
          <a:p>
            <a:endParaRPr lang="en-US"/>
          </a:p>
        </p:txBody>
      </p:sp>
      <p:sp>
        <p:nvSpPr>
          <p:cNvPr id="318" name="Ex318"/>
          <p:cNvSpPr/>
          <p:nvPr/>
        </p:nvSpPr>
        <p:spPr>
          <a:xfrm>
            <a:off x="8158480" y="2108200"/>
            <a:ext cx="177800" cy="190500"/>
          </a:xfrm>
          <a:prstGeom prst="roundRect">
            <a:avLst>
              <a:gd name="adj" fmla="val 14000"/>
            </a:avLst>
          </a:prstGeom>
          <a:solidFill>
            <a:srgbClr val="E6EAED"/>
          </a:solidFill>
          <a:ln>
            <a:noFill/>
          </a:ln>
        </p:spPr>
        <p:txBody>
          <a:bodyPr/>
          <a:lstStyle/>
          <a:p>
            <a:endParaRPr lang="en-US"/>
          </a:p>
        </p:txBody>
      </p:sp>
      <p:sp>
        <p:nvSpPr>
          <p:cNvPr id="319" name="Ex319"/>
          <p:cNvSpPr/>
          <p:nvPr/>
        </p:nvSpPr>
        <p:spPr>
          <a:xfrm>
            <a:off x="8356600" y="2108200"/>
            <a:ext cx="177800" cy="190500"/>
          </a:xfrm>
          <a:prstGeom prst="roundRect">
            <a:avLst>
              <a:gd name="adj" fmla="val 14000"/>
            </a:avLst>
          </a:prstGeom>
          <a:solidFill>
            <a:srgbClr val="E6EAED"/>
          </a:solidFill>
          <a:ln>
            <a:noFill/>
          </a:ln>
        </p:spPr>
        <p:txBody>
          <a:bodyPr/>
          <a:lstStyle/>
          <a:p>
            <a:endParaRPr lang="en-US"/>
          </a:p>
        </p:txBody>
      </p:sp>
      <p:sp>
        <p:nvSpPr>
          <p:cNvPr id="320" name="Ex320"/>
          <p:cNvSpPr/>
          <p:nvPr/>
        </p:nvSpPr>
        <p:spPr>
          <a:xfrm>
            <a:off x="8554720" y="2108200"/>
            <a:ext cx="177800" cy="190500"/>
          </a:xfrm>
          <a:prstGeom prst="roundRect">
            <a:avLst>
              <a:gd name="adj" fmla="val 14000"/>
            </a:avLst>
          </a:prstGeom>
          <a:solidFill>
            <a:srgbClr val="E6EAED"/>
          </a:solidFill>
          <a:ln>
            <a:noFill/>
          </a:ln>
        </p:spPr>
        <p:txBody>
          <a:bodyPr/>
          <a:lstStyle/>
          <a:p>
            <a:endParaRPr lang="en-US"/>
          </a:p>
        </p:txBody>
      </p:sp>
      <p:sp>
        <p:nvSpPr>
          <p:cNvPr id="321" name="Ex321"/>
          <p:cNvSpPr/>
          <p:nvPr/>
        </p:nvSpPr>
        <p:spPr>
          <a:xfrm>
            <a:off x="8752840" y="2108200"/>
            <a:ext cx="177800" cy="190500"/>
          </a:xfrm>
          <a:prstGeom prst="roundRect">
            <a:avLst>
              <a:gd name="adj" fmla="val 14000"/>
            </a:avLst>
          </a:prstGeom>
          <a:solidFill>
            <a:srgbClr val="A8CBDB"/>
          </a:solidFill>
          <a:ln>
            <a:noFill/>
          </a:ln>
        </p:spPr>
        <p:txBody>
          <a:bodyPr/>
          <a:lstStyle/>
          <a:p>
            <a:endParaRPr lang="en-US"/>
          </a:p>
        </p:txBody>
      </p:sp>
      <p:sp>
        <p:nvSpPr>
          <p:cNvPr id="322" name="Ex322"/>
          <p:cNvSpPr/>
          <p:nvPr/>
        </p:nvSpPr>
        <p:spPr>
          <a:xfrm>
            <a:off x="8950960" y="2108200"/>
            <a:ext cx="177800" cy="190500"/>
          </a:xfrm>
          <a:prstGeom prst="roundRect">
            <a:avLst>
              <a:gd name="adj" fmla="val 14000"/>
            </a:avLst>
          </a:prstGeom>
          <a:solidFill>
            <a:srgbClr val="E6EAED"/>
          </a:solidFill>
          <a:ln>
            <a:noFill/>
          </a:ln>
        </p:spPr>
        <p:txBody>
          <a:bodyPr/>
          <a:lstStyle/>
          <a:p>
            <a:endParaRPr lang="en-US"/>
          </a:p>
        </p:txBody>
      </p:sp>
      <p:sp>
        <p:nvSpPr>
          <p:cNvPr id="323" name="Ex323"/>
          <p:cNvSpPr/>
          <p:nvPr/>
        </p:nvSpPr>
        <p:spPr>
          <a:xfrm>
            <a:off x="9149080" y="2108200"/>
            <a:ext cx="177800" cy="190500"/>
          </a:xfrm>
          <a:prstGeom prst="roundRect">
            <a:avLst>
              <a:gd name="adj" fmla="val 14000"/>
            </a:avLst>
          </a:prstGeom>
          <a:solidFill>
            <a:srgbClr val="E6EAED"/>
          </a:solidFill>
          <a:ln>
            <a:noFill/>
          </a:ln>
        </p:spPr>
        <p:txBody>
          <a:bodyPr/>
          <a:lstStyle/>
          <a:p>
            <a:endParaRPr lang="en-US"/>
          </a:p>
        </p:txBody>
      </p:sp>
      <p:sp>
        <p:nvSpPr>
          <p:cNvPr id="324" name="Ex324"/>
          <p:cNvSpPr/>
          <p:nvPr/>
        </p:nvSpPr>
        <p:spPr>
          <a:xfrm>
            <a:off x="9347200" y="2108200"/>
            <a:ext cx="177800" cy="190500"/>
          </a:xfrm>
          <a:prstGeom prst="roundRect">
            <a:avLst>
              <a:gd name="adj" fmla="val 14000"/>
            </a:avLst>
          </a:prstGeom>
          <a:solidFill>
            <a:srgbClr val="E6EAED"/>
          </a:solidFill>
          <a:ln>
            <a:noFill/>
          </a:ln>
        </p:spPr>
        <p:txBody>
          <a:bodyPr/>
          <a:lstStyle/>
          <a:p>
            <a:endParaRPr lang="en-US"/>
          </a:p>
        </p:txBody>
      </p:sp>
      <p:sp>
        <p:nvSpPr>
          <p:cNvPr id="325" name="Ex325"/>
          <p:cNvSpPr/>
          <p:nvPr/>
        </p:nvSpPr>
        <p:spPr>
          <a:xfrm>
            <a:off x="9545320" y="2108200"/>
            <a:ext cx="177800" cy="190500"/>
          </a:xfrm>
          <a:prstGeom prst="roundRect">
            <a:avLst>
              <a:gd name="adj" fmla="val 14000"/>
            </a:avLst>
          </a:prstGeom>
          <a:solidFill>
            <a:srgbClr val="E6EAED"/>
          </a:solidFill>
          <a:ln>
            <a:noFill/>
          </a:ln>
        </p:spPr>
        <p:txBody>
          <a:bodyPr/>
          <a:lstStyle/>
          <a:p>
            <a:endParaRPr lang="en-US"/>
          </a:p>
        </p:txBody>
      </p:sp>
      <p:sp>
        <p:nvSpPr>
          <p:cNvPr id="326" name="Ex326"/>
          <p:cNvSpPr/>
          <p:nvPr/>
        </p:nvSpPr>
        <p:spPr>
          <a:xfrm>
            <a:off x="9743440" y="2108200"/>
            <a:ext cx="177800" cy="190500"/>
          </a:xfrm>
          <a:prstGeom prst="roundRect">
            <a:avLst>
              <a:gd name="adj" fmla="val 14000"/>
            </a:avLst>
          </a:prstGeom>
          <a:solidFill>
            <a:srgbClr val="E6EAED"/>
          </a:solidFill>
          <a:ln>
            <a:noFill/>
          </a:ln>
        </p:spPr>
        <p:txBody>
          <a:bodyPr/>
          <a:lstStyle/>
          <a:p>
            <a:endParaRPr lang="en-US"/>
          </a:p>
        </p:txBody>
      </p:sp>
      <p:sp>
        <p:nvSpPr>
          <p:cNvPr id="327" name="Ex327"/>
          <p:cNvSpPr/>
          <p:nvPr/>
        </p:nvSpPr>
        <p:spPr>
          <a:xfrm>
            <a:off x="9941560" y="2108200"/>
            <a:ext cx="177800" cy="190500"/>
          </a:xfrm>
          <a:prstGeom prst="roundRect">
            <a:avLst>
              <a:gd name="adj" fmla="val 14000"/>
            </a:avLst>
          </a:prstGeom>
          <a:solidFill>
            <a:srgbClr val="E6EAED"/>
          </a:solidFill>
          <a:ln>
            <a:noFill/>
          </a:ln>
        </p:spPr>
        <p:txBody>
          <a:bodyPr/>
          <a:lstStyle/>
          <a:p>
            <a:endParaRPr lang="en-US"/>
          </a:p>
        </p:txBody>
      </p:sp>
      <p:sp>
        <p:nvSpPr>
          <p:cNvPr id="328" name="Ex328"/>
          <p:cNvSpPr/>
          <p:nvPr/>
        </p:nvSpPr>
        <p:spPr>
          <a:xfrm>
            <a:off x="10139680" y="2108200"/>
            <a:ext cx="177800" cy="190500"/>
          </a:xfrm>
          <a:prstGeom prst="roundRect">
            <a:avLst>
              <a:gd name="adj" fmla="val 14000"/>
            </a:avLst>
          </a:prstGeom>
          <a:solidFill>
            <a:srgbClr val="E6EAED"/>
          </a:solidFill>
          <a:ln>
            <a:noFill/>
          </a:ln>
        </p:spPr>
        <p:txBody>
          <a:bodyPr/>
          <a:lstStyle/>
          <a:p>
            <a:endParaRPr lang="en-US"/>
          </a:p>
        </p:txBody>
      </p:sp>
      <p:sp>
        <p:nvSpPr>
          <p:cNvPr id="329" name="Ex329"/>
          <p:cNvSpPr/>
          <p:nvPr/>
        </p:nvSpPr>
        <p:spPr>
          <a:xfrm>
            <a:off x="10337800" y="2108200"/>
            <a:ext cx="177800" cy="190500"/>
          </a:xfrm>
          <a:prstGeom prst="roundRect">
            <a:avLst>
              <a:gd name="adj" fmla="val 14000"/>
            </a:avLst>
          </a:prstGeom>
          <a:solidFill>
            <a:srgbClr val="1C7293"/>
          </a:solidFill>
          <a:ln>
            <a:noFill/>
          </a:ln>
        </p:spPr>
        <p:txBody>
          <a:bodyPr/>
          <a:lstStyle/>
          <a:p>
            <a:endParaRPr lang="en-US"/>
          </a:p>
        </p:txBody>
      </p:sp>
      <p:sp>
        <p:nvSpPr>
          <p:cNvPr id="330" name="Ex330"/>
          <p:cNvSpPr/>
          <p:nvPr/>
        </p:nvSpPr>
        <p:spPr>
          <a:xfrm>
            <a:off x="10535920" y="2108200"/>
            <a:ext cx="177800" cy="190500"/>
          </a:xfrm>
          <a:prstGeom prst="roundRect">
            <a:avLst>
              <a:gd name="adj" fmla="val 14000"/>
            </a:avLst>
          </a:prstGeom>
          <a:solidFill>
            <a:srgbClr val="E6EAED"/>
          </a:solidFill>
          <a:ln>
            <a:noFill/>
          </a:ln>
        </p:spPr>
        <p:txBody>
          <a:bodyPr/>
          <a:lstStyle/>
          <a:p>
            <a:endParaRPr lang="en-US"/>
          </a:p>
        </p:txBody>
      </p:sp>
      <p:sp>
        <p:nvSpPr>
          <p:cNvPr id="331" name="Ex331"/>
          <p:cNvSpPr/>
          <p:nvPr/>
        </p:nvSpPr>
        <p:spPr>
          <a:xfrm>
            <a:off x="10734040" y="2108200"/>
            <a:ext cx="177800" cy="190500"/>
          </a:xfrm>
          <a:prstGeom prst="roundRect">
            <a:avLst>
              <a:gd name="adj" fmla="val 14000"/>
            </a:avLst>
          </a:prstGeom>
          <a:solidFill>
            <a:srgbClr val="E6EAED"/>
          </a:solidFill>
          <a:ln>
            <a:noFill/>
          </a:ln>
        </p:spPr>
        <p:txBody>
          <a:bodyPr/>
          <a:lstStyle/>
          <a:p>
            <a:endParaRPr lang="en-US"/>
          </a:p>
        </p:txBody>
      </p:sp>
      <p:sp>
        <p:nvSpPr>
          <p:cNvPr id="332" name="ExT332"/>
          <p:cNvSpPr txBox="1"/>
          <p:nvPr/>
        </p:nvSpPr>
        <p:spPr>
          <a:xfrm>
            <a:off x="3632200" y="2413000"/>
            <a:ext cx="1676400" cy="228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FOODS_3 · nhanh</a:t>
            </a:r>
          </a:p>
        </p:txBody>
      </p:sp>
      <p:sp>
        <p:nvSpPr>
          <p:cNvPr id="333" name="Ex333"/>
          <p:cNvSpPr/>
          <p:nvPr/>
        </p:nvSpPr>
        <p:spPr>
          <a:xfrm>
            <a:off x="5384800" y="2413000"/>
            <a:ext cx="177800" cy="190500"/>
          </a:xfrm>
          <a:prstGeom prst="roundRect">
            <a:avLst>
              <a:gd name="adj" fmla="val 14000"/>
            </a:avLst>
          </a:prstGeom>
          <a:solidFill>
            <a:srgbClr val="1C7293"/>
          </a:solidFill>
          <a:ln>
            <a:noFill/>
          </a:ln>
        </p:spPr>
        <p:txBody>
          <a:bodyPr/>
          <a:lstStyle/>
          <a:p>
            <a:endParaRPr lang="en-US"/>
          </a:p>
        </p:txBody>
      </p:sp>
      <p:sp>
        <p:nvSpPr>
          <p:cNvPr id="334" name="Ex334"/>
          <p:cNvSpPr/>
          <p:nvPr/>
        </p:nvSpPr>
        <p:spPr>
          <a:xfrm>
            <a:off x="5582920" y="2413000"/>
            <a:ext cx="177800" cy="190500"/>
          </a:xfrm>
          <a:prstGeom prst="roundRect">
            <a:avLst>
              <a:gd name="adj" fmla="val 14000"/>
            </a:avLst>
          </a:prstGeom>
          <a:solidFill>
            <a:srgbClr val="1C7293"/>
          </a:solidFill>
          <a:ln>
            <a:noFill/>
          </a:ln>
        </p:spPr>
        <p:txBody>
          <a:bodyPr/>
          <a:lstStyle/>
          <a:p>
            <a:endParaRPr lang="en-US"/>
          </a:p>
        </p:txBody>
      </p:sp>
      <p:sp>
        <p:nvSpPr>
          <p:cNvPr id="335" name="Ex335"/>
          <p:cNvSpPr/>
          <p:nvPr/>
        </p:nvSpPr>
        <p:spPr>
          <a:xfrm>
            <a:off x="5781040" y="2413000"/>
            <a:ext cx="177800" cy="190500"/>
          </a:xfrm>
          <a:prstGeom prst="roundRect">
            <a:avLst>
              <a:gd name="adj" fmla="val 14000"/>
            </a:avLst>
          </a:prstGeom>
          <a:solidFill>
            <a:srgbClr val="1C7293"/>
          </a:solidFill>
          <a:ln>
            <a:noFill/>
          </a:ln>
        </p:spPr>
        <p:txBody>
          <a:bodyPr/>
          <a:lstStyle/>
          <a:p>
            <a:endParaRPr lang="en-US"/>
          </a:p>
        </p:txBody>
      </p:sp>
      <p:sp>
        <p:nvSpPr>
          <p:cNvPr id="336" name="Ex336"/>
          <p:cNvSpPr/>
          <p:nvPr/>
        </p:nvSpPr>
        <p:spPr>
          <a:xfrm>
            <a:off x="5979160" y="2413000"/>
            <a:ext cx="177800" cy="190500"/>
          </a:xfrm>
          <a:prstGeom prst="roundRect">
            <a:avLst>
              <a:gd name="adj" fmla="val 14000"/>
            </a:avLst>
          </a:prstGeom>
          <a:solidFill>
            <a:srgbClr val="A8CBDB"/>
          </a:solidFill>
          <a:ln>
            <a:noFill/>
          </a:ln>
        </p:spPr>
        <p:txBody>
          <a:bodyPr/>
          <a:lstStyle/>
          <a:p>
            <a:endParaRPr lang="en-US"/>
          </a:p>
        </p:txBody>
      </p:sp>
      <p:sp>
        <p:nvSpPr>
          <p:cNvPr id="337" name="Ex337"/>
          <p:cNvSpPr/>
          <p:nvPr/>
        </p:nvSpPr>
        <p:spPr>
          <a:xfrm>
            <a:off x="6177280" y="2413000"/>
            <a:ext cx="177800" cy="190500"/>
          </a:xfrm>
          <a:prstGeom prst="roundRect">
            <a:avLst>
              <a:gd name="adj" fmla="val 14000"/>
            </a:avLst>
          </a:prstGeom>
          <a:solidFill>
            <a:srgbClr val="1C7293"/>
          </a:solidFill>
          <a:ln>
            <a:noFill/>
          </a:ln>
        </p:spPr>
        <p:txBody>
          <a:bodyPr/>
          <a:lstStyle/>
          <a:p>
            <a:endParaRPr lang="en-US"/>
          </a:p>
        </p:txBody>
      </p:sp>
      <p:sp>
        <p:nvSpPr>
          <p:cNvPr id="338" name="Ex338"/>
          <p:cNvSpPr/>
          <p:nvPr/>
        </p:nvSpPr>
        <p:spPr>
          <a:xfrm>
            <a:off x="6375400" y="2413000"/>
            <a:ext cx="177800" cy="190500"/>
          </a:xfrm>
          <a:prstGeom prst="roundRect">
            <a:avLst>
              <a:gd name="adj" fmla="val 14000"/>
            </a:avLst>
          </a:prstGeom>
          <a:solidFill>
            <a:srgbClr val="1C7293"/>
          </a:solidFill>
          <a:ln>
            <a:noFill/>
          </a:ln>
        </p:spPr>
        <p:txBody>
          <a:bodyPr/>
          <a:lstStyle/>
          <a:p>
            <a:endParaRPr lang="en-US"/>
          </a:p>
        </p:txBody>
      </p:sp>
      <p:sp>
        <p:nvSpPr>
          <p:cNvPr id="339" name="Ex339"/>
          <p:cNvSpPr/>
          <p:nvPr/>
        </p:nvSpPr>
        <p:spPr>
          <a:xfrm>
            <a:off x="6573520" y="2413000"/>
            <a:ext cx="177800" cy="190500"/>
          </a:xfrm>
          <a:prstGeom prst="roundRect">
            <a:avLst>
              <a:gd name="adj" fmla="val 14000"/>
            </a:avLst>
          </a:prstGeom>
          <a:solidFill>
            <a:srgbClr val="1C7293"/>
          </a:solidFill>
          <a:ln>
            <a:noFill/>
          </a:ln>
        </p:spPr>
        <p:txBody>
          <a:bodyPr/>
          <a:lstStyle/>
          <a:p>
            <a:endParaRPr lang="en-US"/>
          </a:p>
        </p:txBody>
      </p:sp>
      <p:sp>
        <p:nvSpPr>
          <p:cNvPr id="340" name="Ex340"/>
          <p:cNvSpPr/>
          <p:nvPr/>
        </p:nvSpPr>
        <p:spPr>
          <a:xfrm>
            <a:off x="6771640" y="2413000"/>
            <a:ext cx="177800" cy="190500"/>
          </a:xfrm>
          <a:prstGeom prst="roundRect">
            <a:avLst>
              <a:gd name="adj" fmla="val 14000"/>
            </a:avLst>
          </a:prstGeom>
          <a:solidFill>
            <a:srgbClr val="1C7293"/>
          </a:solidFill>
          <a:ln>
            <a:noFill/>
          </a:ln>
        </p:spPr>
        <p:txBody>
          <a:bodyPr/>
          <a:lstStyle/>
          <a:p>
            <a:endParaRPr lang="en-US"/>
          </a:p>
        </p:txBody>
      </p:sp>
      <p:sp>
        <p:nvSpPr>
          <p:cNvPr id="341" name="Ex341"/>
          <p:cNvSpPr/>
          <p:nvPr/>
        </p:nvSpPr>
        <p:spPr>
          <a:xfrm>
            <a:off x="6969760" y="2413000"/>
            <a:ext cx="177800" cy="190500"/>
          </a:xfrm>
          <a:prstGeom prst="roundRect">
            <a:avLst>
              <a:gd name="adj" fmla="val 14000"/>
            </a:avLst>
          </a:prstGeom>
          <a:solidFill>
            <a:srgbClr val="1C7293"/>
          </a:solidFill>
          <a:ln>
            <a:noFill/>
          </a:ln>
        </p:spPr>
        <p:txBody>
          <a:bodyPr/>
          <a:lstStyle/>
          <a:p>
            <a:endParaRPr lang="en-US"/>
          </a:p>
        </p:txBody>
      </p:sp>
      <p:sp>
        <p:nvSpPr>
          <p:cNvPr id="342" name="Ex342"/>
          <p:cNvSpPr/>
          <p:nvPr/>
        </p:nvSpPr>
        <p:spPr>
          <a:xfrm>
            <a:off x="7167880" y="2413000"/>
            <a:ext cx="177800" cy="190500"/>
          </a:xfrm>
          <a:prstGeom prst="roundRect">
            <a:avLst>
              <a:gd name="adj" fmla="val 14000"/>
            </a:avLst>
          </a:prstGeom>
          <a:solidFill>
            <a:srgbClr val="A8CBDB"/>
          </a:solidFill>
          <a:ln>
            <a:noFill/>
          </a:ln>
        </p:spPr>
        <p:txBody>
          <a:bodyPr/>
          <a:lstStyle/>
          <a:p>
            <a:endParaRPr lang="en-US"/>
          </a:p>
        </p:txBody>
      </p:sp>
      <p:sp>
        <p:nvSpPr>
          <p:cNvPr id="343" name="Ex343"/>
          <p:cNvSpPr/>
          <p:nvPr/>
        </p:nvSpPr>
        <p:spPr>
          <a:xfrm>
            <a:off x="7366000" y="2413000"/>
            <a:ext cx="177800" cy="190500"/>
          </a:xfrm>
          <a:prstGeom prst="roundRect">
            <a:avLst>
              <a:gd name="adj" fmla="val 14000"/>
            </a:avLst>
          </a:prstGeom>
          <a:solidFill>
            <a:srgbClr val="1C7293"/>
          </a:solidFill>
          <a:ln>
            <a:noFill/>
          </a:ln>
        </p:spPr>
        <p:txBody>
          <a:bodyPr/>
          <a:lstStyle/>
          <a:p>
            <a:endParaRPr lang="en-US"/>
          </a:p>
        </p:txBody>
      </p:sp>
      <p:sp>
        <p:nvSpPr>
          <p:cNvPr id="344" name="Ex344"/>
          <p:cNvSpPr/>
          <p:nvPr/>
        </p:nvSpPr>
        <p:spPr>
          <a:xfrm>
            <a:off x="7564120" y="2413000"/>
            <a:ext cx="177800" cy="190500"/>
          </a:xfrm>
          <a:prstGeom prst="roundRect">
            <a:avLst>
              <a:gd name="adj" fmla="val 14000"/>
            </a:avLst>
          </a:prstGeom>
          <a:solidFill>
            <a:srgbClr val="1C7293"/>
          </a:solidFill>
          <a:ln>
            <a:noFill/>
          </a:ln>
        </p:spPr>
        <p:txBody>
          <a:bodyPr/>
          <a:lstStyle/>
          <a:p>
            <a:endParaRPr lang="en-US"/>
          </a:p>
        </p:txBody>
      </p:sp>
      <p:sp>
        <p:nvSpPr>
          <p:cNvPr id="345" name="Ex345"/>
          <p:cNvSpPr/>
          <p:nvPr/>
        </p:nvSpPr>
        <p:spPr>
          <a:xfrm>
            <a:off x="7762240" y="2413000"/>
            <a:ext cx="177800" cy="190500"/>
          </a:xfrm>
          <a:prstGeom prst="roundRect">
            <a:avLst>
              <a:gd name="adj" fmla="val 14000"/>
            </a:avLst>
          </a:prstGeom>
          <a:solidFill>
            <a:srgbClr val="1C7293"/>
          </a:solidFill>
          <a:ln>
            <a:noFill/>
          </a:ln>
        </p:spPr>
        <p:txBody>
          <a:bodyPr/>
          <a:lstStyle/>
          <a:p>
            <a:endParaRPr lang="en-US"/>
          </a:p>
        </p:txBody>
      </p:sp>
      <p:sp>
        <p:nvSpPr>
          <p:cNvPr id="346" name="Ex346"/>
          <p:cNvSpPr/>
          <p:nvPr/>
        </p:nvSpPr>
        <p:spPr>
          <a:xfrm>
            <a:off x="7960360" y="2413000"/>
            <a:ext cx="177800" cy="190500"/>
          </a:xfrm>
          <a:prstGeom prst="roundRect">
            <a:avLst>
              <a:gd name="adj" fmla="val 14000"/>
            </a:avLst>
          </a:prstGeom>
          <a:solidFill>
            <a:srgbClr val="1C7293"/>
          </a:solidFill>
          <a:ln>
            <a:noFill/>
          </a:ln>
        </p:spPr>
        <p:txBody>
          <a:bodyPr/>
          <a:lstStyle/>
          <a:p>
            <a:endParaRPr lang="en-US"/>
          </a:p>
        </p:txBody>
      </p:sp>
      <p:sp>
        <p:nvSpPr>
          <p:cNvPr id="347" name="Ex347"/>
          <p:cNvSpPr/>
          <p:nvPr/>
        </p:nvSpPr>
        <p:spPr>
          <a:xfrm>
            <a:off x="8158480" y="2413000"/>
            <a:ext cx="177800" cy="190500"/>
          </a:xfrm>
          <a:prstGeom prst="roundRect">
            <a:avLst>
              <a:gd name="adj" fmla="val 14000"/>
            </a:avLst>
          </a:prstGeom>
          <a:solidFill>
            <a:srgbClr val="A8CBDB"/>
          </a:solidFill>
          <a:ln>
            <a:noFill/>
          </a:ln>
        </p:spPr>
        <p:txBody>
          <a:bodyPr/>
          <a:lstStyle/>
          <a:p>
            <a:endParaRPr lang="en-US"/>
          </a:p>
        </p:txBody>
      </p:sp>
      <p:sp>
        <p:nvSpPr>
          <p:cNvPr id="348" name="Ex348"/>
          <p:cNvSpPr/>
          <p:nvPr/>
        </p:nvSpPr>
        <p:spPr>
          <a:xfrm>
            <a:off x="8356600" y="2413000"/>
            <a:ext cx="177800" cy="190500"/>
          </a:xfrm>
          <a:prstGeom prst="roundRect">
            <a:avLst>
              <a:gd name="adj" fmla="val 14000"/>
            </a:avLst>
          </a:prstGeom>
          <a:solidFill>
            <a:srgbClr val="1C7293"/>
          </a:solidFill>
          <a:ln>
            <a:noFill/>
          </a:ln>
        </p:spPr>
        <p:txBody>
          <a:bodyPr/>
          <a:lstStyle/>
          <a:p>
            <a:endParaRPr lang="en-US"/>
          </a:p>
        </p:txBody>
      </p:sp>
      <p:sp>
        <p:nvSpPr>
          <p:cNvPr id="349" name="Ex349"/>
          <p:cNvSpPr/>
          <p:nvPr/>
        </p:nvSpPr>
        <p:spPr>
          <a:xfrm>
            <a:off x="8554720" y="2413000"/>
            <a:ext cx="177800" cy="190500"/>
          </a:xfrm>
          <a:prstGeom prst="roundRect">
            <a:avLst>
              <a:gd name="adj" fmla="val 14000"/>
            </a:avLst>
          </a:prstGeom>
          <a:solidFill>
            <a:srgbClr val="1C7293"/>
          </a:solidFill>
          <a:ln>
            <a:noFill/>
          </a:ln>
        </p:spPr>
        <p:txBody>
          <a:bodyPr/>
          <a:lstStyle/>
          <a:p>
            <a:endParaRPr lang="en-US"/>
          </a:p>
        </p:txBody>
      </p:sp>
      <p:sp>
        <p:nvSpPr>
          <p:cNvPr id="350" name="Ex350"/>
          <p:cNvSpPr/>
          <p:nvPr/>
        </p:nvSpPr>
        <p:spPr>
          <a:xfrm>
            <a:off x="8752840" y="2413000"/>
            <a:ext cx="177800" cy="190500"/>
          </a:xfrm>
          <a:prstGeom prst="roundRect">
            <a:avLst>
              <a:gd name="adj" fmla="val 14000"/>
            </a:avLst>
          </a:prstGeom>
          <a:solidFill>
            <a:srgbClr val="1C7293"/>
          </a:solidFill>
          <a:ln>
            <a:noFill/>
          </a:ln>
        </p:spPr>
        <p:txBody>
          <a:bodyPr/>
          <a:lstStyle/>
          <a:p>
            <a:endParaRPr lang="en-US"/>
          </a:p>
        </p:txBody>
      </p:sp>
      <p:sp>
        <p:nvSpPr>
          <p:cNvPr id="351" name="Ex351"/>
          <p:cNvSpPr/>
          <p:nvPr/>
        </p:nvSpPr>
        <p:spPr>
          <a:xfrm>
            <a:off x="8950960" y="2413000"/>
            <a:ext cx="177800" cy="190500"/>
          </a:xfrm>
          <a:prstGeom prst="roundRect">
            <a:avLst>
              <a:gd name="adj" fmla="val 14000"/>
            </a:avLst>
          </a:prstGeom>
          <a:solidFill>
            <a:srgbClr val="1C7293"/>
          </a:solidFill>
          <a:ln>
            <a:noFill/>
          </a:ln>
        </p:spPr>
        <p:txBody>
          <a:bodyPr/>
          <a:lstStyle/>
          <a:p>
            <a:endParaRPr lang="en-US"/>
          </a:p>
        </p:txBody>
      </p:sp>
      <p:sp>
        <p:nvSpPr>
          <p:cNvPr id="352" name="Ex352"/>
          <p:cNvSpPr/>
          <p:nvPr/>
        </p:nvSpPr>
        <p:spPr>
          <a:xfrm>
            <a:off x="9149080" y="2413000"/>
            <a:ext cx="177800" cy="190500"/>
          </a:xfrm>
          <a:prstGeom prst="roundRect">
            <a:avLst>
              <a:gd name="adj" fmla="val 14000"/>
            </a:avLst>
          </a:prstGeom>
          <a:solidFill>
            <a:srgbClr val="1C7293"/>
          </a:solidFill>
          <a:ln>
            <a:noFill/>
          </a:ln>
        </p:spPr>
        <p:txBody>
          <a:bodyPr/>
          <a:lstStyle/>
          <a:p>
            <a:endParaRPr lang="en-US"/>
          </a:p>
        </p:txBody>
      </p:sp>
      <p:sp>
        <p:nvSpPr>
          <p:cNvPr id="353" name="Ex353"/>
          <p:cNvSpPr/>
          <p:nvPr/>
        </p:nvSpPr>
        <p:spPr>
          <a:xfrm>
            <a:off x="9347200" y="2413000"/>
            <a:ext cx="177800" cy="190500"/>
          </a:xfrm>
          <a:prstGeom prst="roundRect">
            <a:avLst>
              <a:gd name="adj" fmla="val 14000"/>
            </a:avLst>
          </a:prstGeom>
          <a:solidFill>
            <a:srgbClr val="A8CBDB"/>
          </a:solidFill>
          <a:ln>
            <a:noFill/>
          </a:ln>
        </p:spPr>
        <p:txBody>
          <a:bodyPr/>
          <a:lstStyle/>
          <a:p>
            <a:endParaRPr lang="en-US"/>
          </a:p>
        </p:txBody>
      </p:sp>
      <p:sp>
        <p:nvSpPr>
          <p:cNvPr id="354" name="Ex354"/>
          <p:cNvSpPr/>
          <p:nvPr/>
        </p:nvSpPr>
        <p:spPr>
          <a:xfrm>
            <a:off x="9545320" y="2413000"/>
            <a:ext cx="177800" cy="190500"/>
          </a:xfrm>
          <a:prstGeom prst="roundRect">
            <a:avLst>
              <a:gd name="adj" fmla="val 14000"/>
            </a:avLst>
          </a:prstGeom>
          <a:solidFill>
            <a:srgbClr val="1C7293"/>
          </a:solidFill>
          <a:ln>
            <a:noFill/>
          </a:ln>
        </p:spPr>
        <p:txBody>
          <a:bodyPr/>
          <a:lstStyle/>
          <a:p>
            <a:endParaRPr lang="en-US"/>
          </a:p>
        </p:txBody>
      </p:sp>
      <p:sp>
        <p:nvSpPr>
          <p:cNvPr id="355" name="Ex355"/>
          <p:cNvSpPr/>
          <p:nvPr/>
        </p:nvSpPr>
        <p:spPr>
          <a:xfrm>
            <a:off x="9743440" y="2413000"/>
            <a:ext cx="177800" cy="190500"/>
          </a:xfrm>
          <a:prstGeom prst="roundRect">
            <a:avLst>
              <a:gd name="adj" fmla="val 14000"/>
            </a:avLst>
          </a:prstGeom>
          <a:solidFill>
            <a:srgbClr val="1C7293"/>
          </a:solidFill>
          <a:ln>
            <a:noFill/>
          </a:ln>
        </p:spPr>
        <p:txBody>
          <a:bodyPr/>
          <a:lstStyle/>
          <a:p>
            <a:endParaRPr lang="en-US"/>
          </a:p>
        </p:txBody>
      </p:sp>
      <p:sp>
        <p:nvSpPr>
          <p:cNvPr id="356" name="Ex356"/>
          <p:cNvSpPr/>
          <p:nvPr/>
        </p:nvSpPr>
        <p:spPr>
          <a:xfrm>
            <a:off x="9941560" y="2413000"/>
            <a:ext cx="177800" cy="190500"/>
          </a:xfrm>
          <a:prstGeom prst="roundRect">
            <a:avLst>
              <a:gd name="adj" fmla="val 14000"/>
            </a:avLst>
          </a:prstGeom>
          <a:solidFill>
            <a:srgbClr val="1C7293"/>
          </a:solidFill>
          <a:ln>
            <a:noFill/>
          </a:ln>
        </p:spPr>
        <p:txBody>
          <a:bodyPr/>
          <a:lstStyle/>
          <a:p>
            <a:endParaRPr lang="en-US"/>
          </a:p>
        </p:txBody>
      </p:sp>
      <p:sp>
        <p:nvSpPr>
          <p:cNvPr id="357" name="Ex357"/>
          <p:cNvSpPr/>
          <p:nvPr/>
        </p:nvSpPr>
        <p:spPr>
          <a:xfrm>
            <a:off x="10139680" y="2413000"/>
            <a:ext cx="177800" cy="190500"/>
          </a:xfrm>
          <a:prstGeom prst="roundRect">
            <a:avLst>
              <a:gd name="adj" fmla="val 14000"/>
            </a:avLst>
          </a:prstGeom>
          <a:solidFill>
            <a:srgbClr val="1C7293"/>
          </a:solidFill>
          <a:ln>
            <a:noFill/>
          </a:ln>
        </p:spPr>
        <p:txBody>
          <a:bodyPr/>
          <a:lstStyle/>
          <a:p>
            <a:endParaRPr lang="en-US"/>
          </a:p>
        </p:txBody>
      </p:sp>
      <p:sp>
        <p:nvSpPr>
          <p:cNvPr id="358" name="Ex358"/>
          <p:cNvSpPr/>
          <p:nvPr/>
        </p:nvSpPr>
        <p:spPr>
          <a:xfrm>
            <a:off x="10337800" y="2413000"/>
            <a:ext cx="177800" cy="190500"/>
          </a:xfrm>
          <a:prstGeom prst="roundRect">
            <a:avLst>
              <a:gd name="adj" fmla="val 14000"/>
            </a:avLst>
          </a:prstGeom>
          <a:solidFill>
            <a:srgbClr val="A8CBDB"/>
          </a:solidFill>
          <a:ln>
            <a:noFill/>
          </a:ln>
        </p:spPr>
        <p:txBody>
          <a:bodyPr/>
          <a:lstStyle/>
          <a:p>
            <a:endParaRPr lang="en-US"/>
          </a:p>
        </p:txBody>
      </p:sp>
      <p:sp>
        <p:nvSpPr>
          <p:cNvPr id="359" name="Ex359"/>
          <p:cNvSpPr/>
          <p:nvPr/>
        </p:nvSpPr>
        <p:spPr>
          <a:xfrm>
            <a:off x="10535920" y="2413000"/>
            <a:ext cx="177800" cy="190500"/>
          </a:xfrm>
          <a:prstGeom prst="roundRect">
            <a:avLst>
              <a:gd name="adj" fmla="val 14000"/>
            </a:avLst>
          </a:prstGeom>
          <a:solidFill>
            <a:srgbClr val="1C7293"/>
          </a:solidFill>
          <a:ln>
            <a:noFill/>
          </a:ln>
        </p:spPr>
        <p:txBody>
          <a:bodyPr/>
          <a:lstStyle/>
          <a:p>
            <a:endParaRPr lang="en-US"/>
          </a:p>
        </p:txBody>
      </p:sp>
      <p:sp>
        <p:nvSpPr>
          <p:cNvPr id="360" name="Ex360"/>
          <p:cNvSpPr/>
          <p:nvPr/>
        </p:nvSpPr>
        <p:spPr>
          <a:xfrm>
            <a:off x="10734040" y="2413000"/>
            <a:ext cx="177800" cy="190500"/>
          </a:xfrm>
          <a:prstGeom prst="roundRect">
            <a:avLst>
              <a:gd name="adj" fmla="val 14000"/>
            </a:avLst>
          </a:prstGeom>
          <a:solidFill>
            <a:srgbClr val="1C7293"/>
          </a:solidFill>
          <a:ln>
            <a:noFill/>
          </a:ln>
        </p:spPr>
        <p:txBody>
          <a:bodyPr/>
          <a:lstStyle/>
          <a:p>
            <a:endParaRPr lang="en-US"/>
          </a:p>
        </p:txBody>
      </p:sp>
      <p:sp>
        <p:nvSpPr>
          <p:cNvPr id="361" name="ExT361"/>
          <p:cNvSpPr txBox="1"/>
          <p:nvPr/>
        </p:nvSpPr>
        <p:spPr>
          <a:xfrm>
            <a:off x="3632200" y="2717800"/>
            <a:ext cx="7543800" cy="4572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Ô nhạt = 0 đơn vị · ô vừa = 1–2 · ô đậm = ≥ 3. Trong M5 khoảng 2/3 quan sát ngày·SKU·cửa hàng bằng 0 (minh họa mẫu).</a:t>
            </a:r>
          </a:p>
        </p:txBody>
      </p:sp>
    </p:spTree>
    <p:extLst>
      <p:ext uri="{BB962C8B-B14F-4D97-AF65-F5344CB8AC3E}">
        <p14:creationId xmlns:p14="http://schemas.microsoft.com/office/powerpoint/2010/main" val="95244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Text 1"/>
          <p:cNvSpPr/>
          <p:nvPr/>
        </p:nvSpPr>
        <p:spPr>
          <a:xfrm>
            <a:off x="457200" y="502920"/>
            <a:ext cx="2103120" cy="1188720"/>
          </a:xfrm>
          <a:prstGeom prst="rect">
            <a:avLst/>
          </a:prstGeom>
          <a:noFill/>
          <a:ln/>
        </p:spPr>
        <p:txBody>
          <a:bodyPr wrap="square" rtlCol="0" anchor="ctr"/>
          <a:lstStyle/>
          <a:p>
            <a:pPr marL="0" indent="0">
              <a:buNone/>
            </a:pPr>
            <a:r>
              <a:rPr lang="en-US" sz="6000" b="1" dirty="0">
                <a:solidFill>
                  <a:srgbClr val="5FB8DE"/>
                </a:solidFill>
                <a:latin typeface="Cambria" pitchFamily="34" charset="0"/>
                <a:ea typeface="Cambria" pitchFamily="34" charset="-122"/>
                <a:cs typeface="Cambria" pitchFamily="34" charset="-120"/>
              </a:rPr>
              <a:t>02</a:t>
            </a:r>
            <a:endParaRPr lang="en-US" sz="6000" dirty="0"/>
          </a:p>
        </p:txBody>
      </p:sp>
      <p:sp>
        <p:nvSpPr>
          <p:cNvPr id="4" name="Shape 2"/>
          <p:cNvSpPr/>
          <p:nvPr/>
        </p:nvSpPr>
        <p:spPr>
          <a:xfrm>
            <a:off x="457200" y="1737360"/>
            <a:ext cx="868680" cy="868680"/>
          </a:xfrm>
          <a:prstGeom prst="ellipse">
            <a:avLst/>
          </a:prstGeom>
          <a:solidFill>
            <a:srgbClr val="065A82"/>
          </a:solidFill>
          <a:ln/>
        </p:spPr>
        <p:txBody>
          <a:bodyPr/>
          <a:lstStyle/>
          <a:p>
            <a:endParaRPr lang="en-US"/>
          </a:p>
        </p:txBody>
      </p:sp>
      <p:pic>
        <p:nvPicPr>
          <p:cNvPr id="5" name="Image 0" descr="/tmp/deck/icon_snowflake_white.png"/>
          <p:cNvPicPr>
            <a:picLocks noChangeAspect="1"/>
          </p:cNvPicPr>
          <p:nvPr/>
        </p:nvPicPr>
        <p:blipFill>
          <a:blip r:embed="rId3"/>
          <a:stretch>
            <a:fillRect/>
          </a:stretch>
        </p:blipFill>
        <p:spPr>
          <a:xfrm>
            <a:off x="570128" y="1850288"/>
            <a:ext cx="642823" cy="642823"/>
          </a:xfrm>
          <a:prstGeom prst="rect">
            <a:avLst/>
          </a:prstGeom>
        </p:spPr>
      </p:pic>
      <p:sp>
        <p:nvSpPr>
          <p:cNvPr id="6" name="Text 3"/>
          <p:cNvSpPr/>
          <p:nvPr/>
        </p:nvSpPr>
        <p:spPr>
          <a:xfrm>
            <a:off x="457200" y="2834640"/>
            <a:ext cx="2286000" cy="1371600"/>
          </a:xfrm>
          <a:prstGeom prst="rect">
            <a:avLst/>
          </a:prstGeom>
          <a:noFill/>
          <a:ln/>
        </p:spPr>
        <p:txBody>
          <a:bodyPr wrap="square"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Cold-Start</a:t>
            </a:r>
            <a:endParaRPr lang="en-US" sz="2000" dirty="0"/>
          </a:p>
        </p:txBody>
      </p:sp>
      <p:sp>
        <p:nvSpPr>
          <p:cNvPr id="7" name="Text 4"/>
          <p:cNvSpPr/>
          <p:nvPr/>
        </p:nvSpPr>
        <p:spPr>
          <a:xfrm>
            <a:off x="457200" y="4160520"/>
            <a:ext cx="2286000" cy="82296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Sản phẩm / cửa hàng mới</a:t>
            </a:r>
            <a:endParaRPr lang="en-US" sz="1150" dirty="0"/>
          </a:p>
        </p:txBody>
      </p:sp>
      <p:sp>
        <p:nvSpPr>
          <p:cNvPr id="8" name="Text 5"/>
          <p:cNvSpPr/>
          <p:nvPr/>
        </p:nvSpPr>
        <p:spPr>
          <a:xfrm>
            <a:off x="3429000" y="5080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VẤN ĐỀ LÀ GÌ</a:t>
            </a:r>
            <a:endParaRPr lang="en-US" sz="1200" dirty="0"/>
          </a:p>
        </p:txBody>
      </p:sp>
      <p:sp>
        <p:nvSpPr>
          <p:cNvPr id="9" name="Text 6"/>
          <p:cNvSpPr/>
          <p:nvPr/>
        </p:nvSpPr>
        <p:spPr>
          <a:xfrm>
            <a:off x="3429000" y="787400"/>
            <a:ext cx="7950200" cy="5080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Lag và rolling-window — xương sống của time-series feature engineering — đòi hỏi lịch sử. Item mới ra mắt thì chưa có lịch sử để tính.</a:t>
            </a:r>
            <a:endParaRPr lang="en-US" sz="1350" dirty="0"/>
          </a:p>
        </p:txBody>
      </p:sp>
      <p:sp>
        <p:nvSpPr>
          <p:cNvPr id="10" name="Text 7"/>
          <p:cNvSpPr/>
          <p:nvPr/>
        </p:nvSpPr>
        <p:spPr>
          <a:xfrm>
            <a:off x="3429000" y="34798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TẠI SAO QUAN TRỌNG</a:t>
            </a:r>
            <a:endParaRPr lang="en-US" sz="1200" dirty="0"/>
          </a:p>
        </p:txBody>
      </p:sp>
      <p:sp>
        <p:nvSpPr>
          <p:cNvPr id="11" name="Text 8"/>
          <p:cNvSpPr/>
          <p:nvPr/>
        </p:nvSpPr>
        <p:spPr>
          <a:xfrm>
            <a:off x="3429000" y="37592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Không xử lý thì các dòng cold-start mang NaN ở cột lag/rolling. fillna(0) hay dropna tạo bias hệ thống hoặc làm mất chính các item chiến lược (hàng mới).</a:t>
            </a:r>
            <a:endParaRPr lang="en-US" sz="1350" dirty="0"/>
          </a:p>
        </p:txBody>
      </p:sp>
      <p:sp>
        <p:nvSpPr>
          <p:cNvPr id="12" name="Shape 9"/>
          <p:cNvSpPr/>
          <p:nvPr/>
        </p:nvSpPr>
        <p:spPr>
          <a:xfrm>
            <a:off x="3429000" y="4526280"/>
            <a:ext cx="7955280" cy="1417320"/>
          </a:xfrm>
          <a:prstGeom prst="roundRect">
            <a:avLst>
              <a:gd name="adj" fmla="val 5161"/>
            </a:avLst>
          </a:prstGeom>
          <a:solidFill>
            <a:srgbClr val="F5F9FB"/>
          </a:solidFill>
          <a:ln w="12700">
            <a:solidFill>
              <a:srgbClr val="E1E8EC"/>
            </a:solidFill>
            <a:prstDash val="solid"/>
          </a:ln>
        </p:spPr>
        <p:txBody>
          <a:bodyPr/>
          <a:lstStyle/>
          <a:p>
            <a:endParaRPr lang="en-US"/>
          </a:p>
        </p:txBody>
      </p:sp>
      <p:sp>
        <p:nvSpPr>
          <p:cNvPr id="13" name="Shape 10"/>
          <p:cNvSpPr/>
          <p:nvPr/>
        </p:nvSpPr>
        <p:spPr>
          <a:xfrm>
            <a:off x="3630168" y="4709160"/>
            <a:ext cx="457200" cy="457200"/>
          </a:xfrm>
          <a:prstGeom prst="ellipse">
            <a:avLst/>
          </a:prstGeom>
          <a:solidFill>
            <a:srgbClr val="1C7293"/>
          </a:solidFill>
          <a:ln/>
        </p:spPr>
        <p:txBody>
          <a:bodyPr/>
          <a:lstStyle/>
          <a:p>
            <a:endParaRPr lang="en-US"/>
          </a:p>
        </p:txBody>
      </p:sp>
      <p:pic>
        <p:nvPicPr>
          <p:cNvPr id="14" name="Image 1" descr="/tmp/deck/icon_magic_white.png"/>
          <p:cNvPicPr>
            <a:picLocks noChangeAspect="1"/>
          </p:cNvPicPr>
          <p:nvPr/>
        </p:nvPicPr>
        <p:blipFill>
          <a:blip r:embed="rId4"/>
          <a:stretch>
            <a:fillRect/>
          </a:stretch>
        </p:blipFill>
        <p:spPr>
          <a:xfrm>
            <a:off x="3689604" y="4768596"/>
            <a:ext cx="338328" cy="338328"/>
          </a:xfrm>
          <a:prstGeom prst="rect">
            <a:avLst/>
          </a:prstGeom>
        </p:spPr>
      </p:pic>
      <p:sp>
        <p:nvSpPr>
          <p:cNvPr id="15" name="Text 11"/>
          <p:cNvSpPr/>
          <p:nvPr/>
        </p:nvSpPr>
        <p:spPr>
          <a:xfrm>
            <a:off x="4251960" y="4690872"/>
            <a:ext cx="548640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Hướng xử lý (ý tưởng)</a:t>
            </a:r>
            <a:endParaRPr lang="en-US" sz="1250" dirty="0"/>
          </a:p>
        </p:txBody>
      </p:sp>
      <p:sp>
        <p:nvSpPr>
          <p:cNvPr id="16" name="Text 12"/>
          <p:cNvSpPr/>
          <p:nvPr/>
        </p:nvSpPr>
        <p:spPr>
          <a:xfrm>
            <a:off x="4251960" y="5029200"/>
            <a:ext cx="6766560" cy="868680"/>
          </a:xfrm>
          <a:prstGeom prst="rect">
            <a:avLst/>
          </a:prstGeom>
          <a:noFill/>
          <a:ln/>
        </p:spPr>
        <p:txBody>
          <a:bodyPr wrap="square" rtlCol="0" anchor="ctr"/>
          <a:lstStyle/>
          <a:p>
            <a:pPr marL="0" indent="0">
              <a:lnSpc>
                <a:spcPts val="1500"/>
              </a:lnSpc>
              <a:buNone/>
            </a:pPr>
            <a:r>
              <a:rPr lang="en-US" sz="1150" dirty="0">
                <a:solidFill>
                  <a:srgbClr val="3A4750"/>
                </a:solidFill>
                <a:latin typeface="Calibri" pitchFamily="34" charset="0"/>
                <a:ea typeface="Calibri" pitchFamily="34" charset="-122"/>
                <a:cs typeface="Calibri" pitchFamily="34" charset="-120"/>
              </a:rPr>
              <a:t>Trong scope Module 03: xử lý tường minh bằng feature "product age" + giá trị trung bình theo category thay cho lag cá nhân; không cần xây cơ chế similarity-based phức tạp — nêu rõ giới hạn trong discussion.</a:t>
            </a:r>
            <a:endParaRPr lang="en-US" sz="1150" dirty="0"/>
          </a:p>
        </p:txBody>
      </p:sp>
      <p:sp>
        <p:nvSpPr>
          <p:cNvPr id="17" name="Text 13"/>
          <p:cNvSpPr/>
          <p:nvPr/>
        </p:nvSpPr>
        <p:spPr>
          <a:xfrm>
            <a:off x="3429000" y="6172200"/>
            <a:ext cx="7955280" cy="32004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AI-Driven Cold Start Modeling for Retail Demand Forecasting — Impact Analytics, 2025</a:t>
            </a:r>
            <a:endParaRPr lang="en-US" sz="950" dirty="0"/>
          </a:p>
        </p:txBody>
      </p:sp>
      <p:sp>
        <p:nvSpPr>
          <p:cNvPr id="18"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05</a:t>
            </a:r>
            <a:endParaRPr lang="en-US" sz="1000" dirty="0"/>
          </a:p>
        </p:txBody>
      </p:sp>
      <p:sp>
        <p:nvSpPr>
          <p:cNvPr id="300" name="ExT300"/>
          <p:cNvSpPr txBox="1"/>
          <p:nvPr/>
        </p:nvSpPr>
        <p:spPr>
          <a:xfrm>
            <a:off x="3429000" y="1371600"/>
            <a:ext cx="7772400" cy="254000"/>
          </a:xfrm>
          <a:prstGeom prst="rect">
            <a:avLst/>
          </a:prstGeom>
          <a:noFill/>
        </p:spPr>
        <p:txBody>
          <a:bodyPr wrap="square" lIns="0" tIns="0" rIns="0" bIns="0" anchor="t"/>
          <a:lstStyle/>
          <a:p>
            <a:pPr marL="0" indent="0" algn="l">
              <a:lnSpc>
                <a:spcPts val="1500"/>
              </a:lnSpc>
              <a:buNone/>
            </a:pPr>
            <a:r>
              <a:rPr lang="en-US" sz="1200" b="1" spc="150" dirty="0">
                <a:solidFill>
                  <a:srgbClr val="065A82"/>
                </a:solidFill>
                <a:latin typeface="Calibri" pitchFamily="34" charset="0"/>
                <a:cs typeface="Calibri"/>
              </a:rPr>
              <a:t>VÍ DỤ TRÊN M5</a:t>
            </a:r>
          </a:p>
        </p:txBody>
      </p:sp>
      <p:sp>
        <p:nvSpPr>
          <p:cNvPr id="301" name="Ex301"/>
          <p:cNvSpPr/>
          <p:nvPr/>
        </p:nvSpPr>
        <p:spPr>
          <a:xfrm>
            <a:off x="3429000" y="1651000"/>
            <a:ext cx="7950200" cy="1727200"/>
          </a:xfrm>
          <a:prstGeom prst="roundRect">
            <a:avLst>
              <a:gd name="adj" fmla="val 6000"/>
            </a:avLst>
          </a:prstGeom>
          <a:solidFill>
            <a:srgbClr val="F5F9FB"/>
          </a:solidFill>
          <a:ln w="12700">
            <a:solidFill>
              <a:srgbClr val="CFE1EA"/>
            </a:solidFill>
          </a:ln>
        </p:spPr>
        <p:txBody>
          <a:bodyPr/>
          <a:lstStyle/>
          <a:p>
            <a:endParaRPr lang="en-US"/>
          </a:p>
        </p:txBody>
      </p:sp>
      <p:sp>
        <p:nvSpPr>
          <p:cNvPr id="302" name="ExT302"/>
          <p:cNvSpPr txBox="1"/>
          <p:nvPr/>
        </p:nvSpPr>
        <p:spPr>
          <a:xfrm>
            <a:off x="3632200" y="1778000"/>
            <a:ext cx="5080000" cy="2540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Vòng đời một item · d_1 → d_1913</a:t>
            </a:r>
          </a:p>
        </p:txBody>
      </p:sp>
      <p:sp>
        <p:nvSpPr>
          <p:cNvPr id="303" name="Ex303"/>
          <p:cNvSpPr/>
          <p:nvPr/>
        </p:nvSpPr>
        <p:spPr>
          <a:xfrm>
            <a:off x="8890000" y="1752600"/>
            <a:ext cx="2286000" cy="279400"/>
          </a:xfrm>
          <a:prstGeom prst="roundRect">
            <a:avLst>
              <a:gd name="adj" fmla="val 22000"/>
            </a:avLst>
          </a:prstGeom>
          <a:solidFill>
            <a:srgbClr val="E7EAF2"/>
          </a:solidFill>
          <a:ln>
            <a:noFill/>
          </a:ln>
        </p:spPr>
        <p:txBody>
          <a:bodyPr/>
          <a:lstStyle/>
          <a:p>
            <a:endParaRPr lang="en-US"/>
          </a:p>
        </p:txBody>
      </p:sp>
      <p:sp>
        <p:nvSpPr>
          <p:cNvPr id="304" name="ExT304"/>
          <p:cNvSpPr txBox="1"/>
          <p:nvPr/>
        </p:nvSpPr>
        <p:spPr>
          <a:xfrm>
            <a:off x="8890000" y="1803400"/>
            <a:ext cx="2286000" cy="228600"/>
          </a:xfrm>
          <a:prstGeom prst="rect">
            <a:avLst/>
          </a:prstGeom>
          <a:noFill/>
        </p:spPr>
        <p:txBody>
          <a:bodyPr wrap="square" lIns="0" tIns="0" rIns="0" bIns="0" anchor="t"/>
          <a:lstStyle/>
          <a:p>
            <a:pPr marL="0" indent="0" algn="ctr">
              <a:lnSpc>
                <a:spcPts val="1500"/>
              </a:lnSpc>
              <a:buNone/>
            </a:pPr>
            <a:r>
              <a:rPr lang="en-US" sz="1200" b="1" dirty="0">
                <a:solidFill>
                  <a:srgbClr val="21295C"/>
                </a:solidFill>
                <a:latin typeface="Calibri" pitchFamily="34" charset="0"/>
                <a:cs typeface="Calibri"/>
              </a:rPr>
              <a:t>NGOÀI M5: cửa hàng mới</a:t>
            </a:r>
          </a:p>
        </p:txBody>
      </p:sp>
      <p:sp>
        <p:nvSpPr>
          <p:cNvPr id="305" name="Ex305"/>
          <p:cNvSpPr/>
          <p:nvPr/>
        </p:nvSpPr>
        <p:spPr>
          <a:xfrm>
            <a:off x="3632200" y="2184400"/>
            <a:ext cx="3162300" cy="279400"/>
          </a:xfrm>
          <a:prstGeom prst="roundRect">
            <a:avLst>
              <a:gd name="adj" fmla="val 8000"/>
            </a:avLst>
          </a:prstGeom>
          <a:solidFill>
            <a:srgbClr val="E1E6EA"/>
          </a:solidFill>
          <a:ln>
            <a:noFill/>
          </a:ln>
        </p:spPr>
        <p:txBody>
          <a:bodyPr/>
          <a:lstStyle/>
          <a:p>
            <a:endParaRPr lang="en-US"/>
          </a:p>
        </p:txBody>
      </p:sp>
      <p:sp>
        <p:nvSpPr>
          <p:cNvPr id="306" name="Ex306"/>
          <p:cNvSpPr/>
          <p:nvPr/>
        </p:nvSpPr>
        <p:spPr>
          <a:xfrm>
            <a:off x="6794500" y="2184400"/>
            <a:ext cx="4381500" cy="279400"/>
          </a:xfrm>
          <a:prstGeom prst="roundRect">
            <a:avLst>
              <a:gd name="adj" fmla="val 8000"/>
            </a:avLst>
          </a:prstGeom>
          <a:solidFill>
            <a:srgbClr val="1C7293"/>
          </a:solidFill>
          <a:ln>
            <a:noFill/>
          </a:ln>
        </p:spPr>
        <p:txBody>
          <a:bodyPr/>
          <a:lstStyle/>
          <a:p>
            <a:endParaRPr lang="en-US"/>
          </a:p>
        </p:txBody>
      </p:sp>
      <p:sp>
        <p:nvSpPr>
          <p:cNvPr id="307" name="ExT307"/>
          <p:cNvSpPr txBox="1"/>
          <p:nvPr/>
        </p:nvSpPr>
        <p:spPr>
          <a:xfrm>
            <a:off x="3733800" y="2222500"/>
            <a:ext cx="2794000" cy="228600"/>
          </a:xfrm>
          <a:prstGeom prst="rect">
            <a:avLst/>
          </a:prstGeom>
          <a:noFill/>
        </p:spPr>
        <p:txBody>
          <a:bodyPr wrap="square" lIns="0" tIns="0" rIns="0" bIns="0" anchor="t"/>
          <a:lstStyle/>
          <a:p>
            <a:pPr marL="0" indent="0" algn="l">
              <a:lnSpc>
                <a:spcPts val="1700"/>
              </a:lnSpc>
              <a:buNone/>
            </a:pPr>
            <a:r>
              <a:rPr lang="en-US" sz="1400" b="1" dirty="0">
                <a:solidFill>
                  <a:srgbClr val="42555F"/>
                </a:solidFill>
                <a:latin typeface="Calibri" pitchFamily="34" charset="0"/>
                <a:cs typeface="Calibri"/>
              </a:rPr>
              <a:t>lag / rolling = NaN</a:t>
            </a:r>
          </a:p>
        </p:txBody>
      </p:sp>
      <p:sp>
        <p:nvSpPr>
          <p:cNvPr id="308" name="ExT308"/>
          <p:cNvSpPr txBox="1"/>
          <p:nvPr/>
        </p:nvSpPr>
        <p:spPr>
          <a:xfrm>
            <a:off x="6896100" y="2222500"/>
            <a:ext cx="3302000" cy="228600"/>
          </a:xfrm>
          <a:prstGeom prst="rect">
            <a:avLst/>
          </a:prstGeom>
          <a:noFill/>
        </p:spPr>
        <p:txBody>
          <a:bodyPr wrap="square" lIns="0" tIns="0" rIns="0" bIns="0" anchor="t"/>
          <a:lstStyle/>
          <a:p>
            <a:pPr marL="0" indent="0" algn="l">
              <a:lnSpc>
                <a:spcPts val="1700"/>
              </a:lnSpc>
              <a:buNone/>
            </a:pPr>
            <a:r>
              <a:rPr lang="en-US" sz="1400" b="1" dirty="0">
                <a:solidFill>
                  <a:srgbClr val="FFFFFF"/>
                </a:solidFill>
                <a:latin typeface="Calibri" pitchFamily="34" charset="0"/>
                <a:cs typeface="Calibri"/>
              </a:rPr>
              <a:t>đã bán · có sell_prices</a:t>
            </a:r>
          </a:p>
        </p:txBody>
      </p:sp>
      <p:sp>
        <p:nvSpPr>
          <p:cNvPr id="309" name="Ex309"/>
          <p:cNvSpPr/>
          <p:nvPr/>
        </p:nvSpPr>
        <p:spPr>
          <a:xfrm>
            <a:off x="6781800" y="2108200"/>
            <a:ext cx="25400" cy="431800"/>
          </a:xfrm>
          <a:prstGeom prst="rect">
            <a:avLst/>
          </a:prstGeom>
          <a:solidFill>
            <a:srgbClr val="065A82"/>
          </a:solidFill>
          <a:ln>
            <a:noFill/>
          </a:ln>
        </p:spPr>
        <p:txBody>
          <a:bodyPr/>
          <a:lstStyle/>
          <a:p>
            <a:endParaRPr lang="en-US"/>
          </a:p>
        </p:txBody>
      </p:sp>
      <p:sp>
        <p:nvSpPr>
          <p:cNvPr id="310" name="ExT310"/>
          <p:cNvSpPr txBox="1"/>
          <p:nvPr/>
        </p:nvSpPr>
        <p:spPr>
          <a:xfrm>
            <a:off x="3632200" y="2540000"/>
            <a:ext cx="1905000" cy="228600"/>
          </a:xfrm>
          <a:prstGeom prst="rect">
            <a:avLst/>
          </a:prstGeom>
          <a:noFill/>
        </p:spPr>
        <p:txBody>
          <a:bodyPr wrap="square" lIns="0" tIns="0" rIns="0" bIns="0" anchor="t"/>
          <a:lstStyle/>
          <a:p>
            <a:pPr marL="0" indent="0" algn="l">
              <a:lnSpc>
                <a:spcPts val="1700"/>
              </a:lnSpc>
              <a:buNone/>
            </a:pPr>
            <a:r>
              <a:rPr lang="en-US" sz="1400" dirty="0">
                <a:solidFill>
                  <a:srgbClr val="5C6E79"/>
                </a:solidFill>
                <a:latin typeface="Calibri" pitchFamily="34" charset="0"/>
                <a:cs typeface="Calibri"/>
              </a:rPr>
              <a:t>d_1 (2011-01-29)</a:t>
            </a:r>
          </a:p>
        </p:txBody>
      </p:sp>
      <p:sp>
        <p:nvSpPr>
          <p:cNvPr id="311" name="ExT311"/>
          <p:cNvSpPr txBox="1"/>
          <p:nvPr/>
        </p:nvSpPr>
        <p:spPr>
          <a:xfrm>
            <a:off x="5969000" y="2540000"/>
            <a:ext cx="1651000" cy="228600"/>
          </a:xfrm>
          <a:prstGeom prst="rect">
            <a:avLst/>
          </a:prstGeom>
          <a:noFill/>
        </p:spPr>
        <p:txBody>
          <a:bodyPr wrap="square" lIns="0" tIns="0" rIns="0" bIns="0" anchor="t"/>
          <a:lstStyle/>
          <a:p>
            <a:pPr marL="0" indent="0" algn="ctr">
              <a:lnSpc>
                <a:spcPts val="1700"/>
              </a:lnSpc>
              <a:buNone/>
            </a:pPr>
            <a:r>
              <a:rPr lang="en-US" sz="1400" b="1" dirty="0">
                <a:solidFill>
                  <a:srgbClr val="065A82"/>
                </a:solidFill>
                <a:latin typeface="Calibri" pitchFamily="34" charset="0"/>
                <a:cs typeface="Calibri"/>
              </a:rPr>
              <a:t>ngày ra mắt item</a:t>
            </a:r>
          </a:p>
        </p:txBody>
      </p:sp>
      <p:sp>
        <p:nvSpPr>
          <p:cNvPr id="312" name="ExT312"/>
          <p:cNvSpPr txBox="1"/>
          <p:nvPr/>
        </p:nvSpPr>
        <p:spPr>
          <a:xfrm>
            <a:off x="9144000" y="2540000"/>
            <a:ext cx="2032000" cy="228600"/>
          </a:xfrm>
          <a:prstGeom prst="rect">
            <a:avLst/>
          </a:prstGeom>
          <a:noFill/>
        </p:spPr>
        <p:txBody>
          <a:bodyPr wrap="square" lIns="0" tIns="0" rIns="0" bIns="0" anchor="t"/>
          <a:lstStyle/>
          <a:p>
            <a:pPr marL="0" indent="0" algn="r">
              <a:lnSpc>
                <a:spcPts val="1700"/>
              </a:lnSpc>
              <a:buNone/>
            </a:pPr>
            <a:r>
              <a:rPr lang="en-US" sz="1400" dirty="0">
                <a:solidFill>
                  <a:srgbClr val="5C6E79"/>
                </a:solidFill>
                <a:latin typeface="Calibri" pitchFamily="34" charset="0"/>
                <a:cs typeface="Calibri"/>
              </a:rPr>
              <a:t>d_1913</a:t>
            </a:r>
          </a:p>
        </p:txBody>
      </p:sp>
      <p:sp>
        <p:nvSpPr>
          <p:cNvPr id="313" name="ExT313"/>
          <p:cNvSpPr txBox="1"/>
          <p:nvPr/>
        </p:nvSpPr>
        <p:spPr>
          <a:xfrm>
            <a:off x="3632200" y="2844800"/>
            <a:ext cx="7543800" cy="4572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Trước mốc ra mắt, lag/rolling là NaN — không phải 0. Điền 0 nghĩa là "có bán nhưng bán được 0", sai bản chất. Ca cửa hàng mới phải lấy ví dụ ngoài: M5 có đủ 10 cửa hàng suốt 1.941 ngày.</a:t>
            </a:r>
          </a:p>
        </p:txBody>
      </p:sp>
    </p:spTree>
    <p:extLst>
      <p:ext uri="{BB962C8B-B14F-4D97-AF65-F5344CB8AC3E}">
        <p14:creationId xmlns:p14="http://schemas.microsoft.com/office/powerpoint/2010/main" val="2321534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C0392B"/>
          </a:solidFill>
          <a:ln/>
        </p:spPr>
        <p:txBody>
          <a:bodyPr/>
          <a:lstStyle/>
          <a:p>
            <a:endParaRPr lang="en-US"/>
          </a:p>
        </p:txBody>
      </p:sp>
      <p:sp>
        <p:nvSpPr>
          <p:cNvPr id="3" name="Text 1"/>
          <p:cNvSpPr/>
          <p:nvPr/>
        </p:nvSpPr>
        <p:spPr>
          <a:xfrm>
            <a:off x="457200" y="502920"/>
            <a:ext cx="2103120" cy="1188720"/>
          </a:xfrm>
          <a:prstGeom prst="rect">
            <a:avLst/>
          </a:prstGeom>
          <a:noFill/>
          <a:ln/>
        </p:spPr>
        <p:txBody>
          <a:bodyPr wrap="square" rtlCol="0" anchor="ctr"/>
          <a:lstStyle/>
          <a:p>
            <a:pPr marL="0" indent="0">
              <a:buNone/>
            </a:pPr>
            <a:r>
              <a:rPr lang="en-US" sz="6000" b="1" dirty="0">
                <a:solidFill>
                  <a:srgbClr val="FFD9D3"/>
                </a:solidFill>
                <a:latin typeface="Cambria" pitchFamily="34" charset="0"/>
                <a:ea typeface="Cambria" pitchFamily="34" charset="-122"/>
                <a:cs typeface="Cambria" pitchFamily="34" charset="-120"/>
              </a:rPr>
              <a:t>03</a:t>
            </a:r>
            <a:endParaRPr lang="en-US" sz="6000" dirty="0"/>
          </a:p>
        </p:txBody>
      </p:sp>
      <p:sp>
        <p:nvSpPr>
          <p:cNvPr id="4" name="Shape 2"/>
          <p:cNvSpPr/>
          <p:nvPr/>
        </p:nvSpPr>
        <p:spPr>
          <a:xfrm>
            <a:off x="457200" y="1737360"/>
            <a:ext cx="868680" cy="868680"/>
          </a:xfrm>
          <a:prstGeom prst="ellipse">
            <a:avLst/>
          </a:prstGeom>
          <a:solidFill>
            <a:srgbClr val="8E241A"/>
          </a:solidFill>
          <a:ln/>
        </p:spPr>
        <p:txBody>
          <a:bodyPr/>
          <a:lstStyle/>
          <a:p>
            <a:endParaRPr lang="en-US"/>
          </a:p>
        </p:txBody>
      </p:sp>
      <p:pic>
        <p:nvPicPr>
          <p:cNvPr id="5" name="Image 0" descr="/tmp/deck/icon_warning_white.png"/>
          <p:cNvPicPr>
            <a:picLocks noChangeAspect="1"/>
          </p:cNvPicPr>
          <p:nvPr/>
        </p:nvPicPr>
        <p:blipFill>
          <a:blip r:embed="rId3"/>
          <a:stretch>
            <a:fillRect/>
          </a:stretch>
        </p:blipFill>
        <p:spPr>
          <a:xfrm>
            <a:off x="570128" y="1850288"/>
            <a:ext cx="642823" cy="642823"/>
          </a:xfrm>
          <a:prstGeom prst="rect">
            <a:avLst/>
          </a:prstGeom>
        </p:spPr>
      </p:pic>
      <p:sp>
        <p:nvSpPr>
          <p:cNvPr id="6" name="Text 3"/>
          <p:cNvSpPr/>
          <p:nvPr/>
        </p:nvSpPr>
        <p:spPr>
          <a:xfrm>
            <a:off x="457200" y="2834640"/>
            <a:ext cx="2286000" cy="1371600"/>
          </a:xfrm>
          <a:prstGeom prst="rect">
            <a:avLst/>
          </a:prstGeom>
          <a:noFill/>
          <a:ln/>
        </p:spPr>
        <p:txBody>
          <a:bodyPr wrap="square"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Data</a:t>
            </a:r>
            <a:endParaRPr lang="en-US" sz="2000" dirty="0"/>
          </a:p>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Leakage</a:t>
            </a:r>
            <a:endParaRPr lang="en-US" sz="2000" dirty="0"/>
          </a:p>
        </p:txBody>
      </p:sp>
      <p:sp>
        <p:nvSpPr>
          <p:cNvPr id="7" name="Text 4"/>
          <p:cNvSpPr/>
          <p:nvPr/>
        </p:nvSpPr>
        <p:spPr>
          <a:xfrm>
            <a:off x="457200" y="4160520"/>
            <a:ext cx="2286000" cy="822960"/>
          </a:xfrm>
          <a:prstGeom prst="rect">
            <a:avLst/>
          </a:prstGeom>
          <a:noFill/>
          <a:ln/>
        </p:spPr>
        <p:txBody>
          <a:bodyPr wrap="square" rtlCol="0" anchor="ctr"/>
          <a:lstStyle/>
          <a:p>
            <a:pPr marL="0" indent="0">
              <a:buNone/>
            </a:pPr>
            <a:r>
              <a:rPr lang="en-US" sz="1150" i="1" dirty="0">
                <a:solidFill>
                  <a:srgbClr val="FFD9D3"/>
                </a:solidFill>
                <a:latin typeface="Calibri" pitchFamily="34" charset="0"/>
                <a:ea typeface="Calibri" pitchFamily="34" charset="-122"/>
                <a:cs typeface="Calibri" pitchFamily="34" charset="-120"/>
              </a:rPr>
              <a:t>Trong Time-Series Feature Engineering</a:t>
            </a:r>
            <a:endParaRPr lang="en-US" sz="1150" dirty="0"/>
          </a:p>
        </p:txBody>
      </p:sp>
      <p:sp>
        <p:nvSpPr>
          <p:cNvPr id="8" name="Text 5"/>
          <p:cNvSpPr/>
          <p:nvPr/>
        </p:nvSpPr>
        <p:spPr>
          <a:xfrm>
            <a:off x="457200" y="6126480"/>
            <a:ext cx="2286000" cy="365760"/>
          </a:xfrm>
          <a:prstGeom prst="rect">
            <a:avLst/>
          </a:prstGeom>
          <a:noFill/>
          <a:ln/>
        </p:spPr>
        <p:txBody>
          <a:bodyPr wrap="square" rtlCol="0" anchor="ctr"/>
          <a:lstStyle/>
          <a:p>
            <a:pPr marL="0" indent="0">
              <a:buNone/>
            </a:pPr>
            <a:r>
              <a:rPr lang="en-US" sz="1100" b="1" kern="0" spc="100" dirty="0">
                <a:solidFill>
                  <a:srgbClr val="FFE8E4"/>
                </a:solidFill>
                <a:latin typeface="Calibri" pitchFamily="34" charset="0"/>
                <a:ea typeface="Calibri" pitchFamily="34" charset="-122"/>
                <a:cs typeface="Calibri" pitchFamily="34" charset="-120"/>
              </a:rPr>
              <a:t>★ QUAN TRỌNG NHẤT</a:t>
            </a:r>
            <a:endParaRPr lang="en-US" sz="1100" dirty="0"/>
          </a:p>
        </p:txBody>
      </p:sp>
      <p:sp>
        <p:nvSpPr>
          <p:cNvPr id="9" name="Text 6"/>
          <p:cNvSpPr/>
          <p:nvPr/>
        </p:nvSpPr>
        <p:spPr>
          <a:xfrm>
            <a:off x="3429000" y="508000"/>
            <a:ext cx="7772400" cy="279400"/>
          </a:xfrm>
          <a:prstGeom prst="rect">
            <a:avLst/>
          </a:prstGeom>
          <a:noFill/>
          <a:ln/>
        </p:spPr>
        <p:txBody>
          <a:bodyPr wrap="square"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VẤN ĐỀ LÀ GÌ</a:t>
            </a:r>
            <a:endParaRPr lang="en-US" sz="1200" dirty="0"/>
          </a:p>
        </p:txBody>
      </p:sp>
      <p:sp>
        <p:nvSpPr>
          <p:cNvPr id="10" name="Text 7"/>
          <p:cNvSpPr/>
          <p:nvPr/>
        </p:nvSpPr>
        <p:spPr>
          <a:xfrm>
            <a:off x="3429000" y="7874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Sales data có tính tuần tự chặt. Tạo lag/rolling TRƯỚC khi chia train/test, hoặc dùng K-Fold ngẫu nhiên thay TimeSeriesSplit, khiến mô hình "nhìn thấy tương lai".</a:t>
            </a:r>
            <a:endParaRPr lang="en-US" sz="1350" dirty="0"/>
          </a:p>
        </p:txBody>
      </p:sp>
      <p:sp>
        <p:nvSpPr>
          <p:cNvPr id="11" name="Text 8"/>
          <p:cNvSpPr/>
          <p:nvPr/>
        </p:nvSpPr>
        <p:spPr>
          <a:xfrm>
            <a:off x="3429000" y="3454400"/>
            <a:ext cx="7772400" cy="279400"/>
          </a:xfrm>
          <a:prstGeom prst="rect">
            <a:avLst/>
          </a:prstGeom>
          <a:noFill/>
          <a:ln/>
        </p:spPr>
        <p:txBody>
          <a:bodyPr wrap="square"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TẠI SAO QUAN TRỌNG</a:t>
            </a:r>
            <a:endParaRPr lang="en-US" sz="1200" dirty="0"/>
          </a:p>
        </p:txBody>
      </p:sp>
      <p:sp>
        <p:nvSpPr>
          <p:cNvPr id="12" name="Text 9"/>
          <p:cNvSpPr/>
          <p:nvPr/>
        </p:nvSpPr>
        <p:spPr>
          <a:xfrm>
            <a:off x="3429000" y="37338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Nghiên cứu 2025 định lượng: 10-fold CV ngẫu nhiên trên time-series có thể thổi phồng RMSE tới 20,5%, còn chia theo mốc thời gian giữ sai lệch dưới 5%.</a:t>
            </a:r>
            <a:endParaRPr lang="en-US" sz="1350" dirty="0"/>
          </a:p>
        </p:txBody>
      </p:sp>
      <p:sp>
        <p:nvSpPr>
          <p:cNvPr id="13" name="Shape 10"/>
          <p:cNvSpPr/>
          <p:nvPr/>
        </p:nvSpPr>
        <p:spPr>
          <a:xfrm>
            <a:off x="3429000" y="4526280"/>
            <a:ext cx="7955280" cy="1417320"/>
          </a:xfrm>
          <a:prstGeom prst="roundRect">
            <a:avLst>
              <a:gd name="adj" fmla="val 5161"/>
            </a:avLst>
          </a:prstGeom>
          <a:solidFill>
            <a:srgbClr val="F5F9FB"/>
          </a:solidFill>
          <a:ln w="12700">
            <a:solidFill>
              <a:srgbClr val="E1E8EC"/>
            </a:solidFill>
            <a:prstDash val="solid"/>
          </a:ln>
        </p:spPr>
        <p:txBody>
          <a:bodyPr/>
          <a:lstStyle/>
          <a:p>
            <a:endParaRPr lang="en-US"/>
          </a:p>
        </p:txBody>
      </p:sp>
      <p:sp>
        <p:nvSpPr>
          <p:cNvPr id="14" name="Shape 11"/>
          <p:cNvSpPr/>
          <p:nvPr/>
        </p:nvSpPr>
        <p:spPr>
          <a:xfrm>
            <a:off x="3630168" y="4709160"/>
            <a:ext cx="457200" cy="457200"/>
          </a:xfrm>
          <a:prstGeom prst="ellipse">
            <a:avLst/>
          </a:prstGeom>
          <a:solidFill>
            <a:srgbClr val="1C7293"/>
          </a:solidFill>
          <a:ln/>
        </p:spPr>
        <p:txBody>
          <a:bodyPr/>
          <a:lstStyle/>
          <a:p>
            <a:endParaRPr lang="en-US"/>
          </a:p>
        </p:txBody>
      </p:sp>
      <p:pic>
        <p:nvPicPr>
          <p:cNvPr id="15" name="Image 1" descr="/tmp/deck/icon_magic_white.png"/>
          <p:cNvPicPr>
            <a:picLocks noChangeAspect="1"/>
          </p:cNvPicPr>
          <p:nvPr/>
        </p:nvPicPr>
        <p:blipFill>
          <a:blip r:embed="rId4"/>
          <a:stretch>
            <a:fillRect/>
          </a:stretch>
        </p:blipFill>
        <p:spPr>
          <a:xfrm>
            <a:off x="3689604" y="4768596"/>
            <a:ext cx="338328" cy="338328"/>
          </a:xfrm>
          <a:prstGeom prst="rect">
            <a:avLst/>
          </a:prstGeom>
        </p:spPr>
      </p:pic>
      <p:sp>
        <p:nvSpPr>
          <p:cNvPr id="16" name="Text 12"/>
          <p:cNvSpPr/>
          <p:nvPr/>
        </p:nvSpPr>
        <p:spPr>
          <a:xfrm>
            <a:off x="4251960" y="4690872"/>
            <a:ext cx="548640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Hướng xử lý (ý tưởng)</a:t>
            </a:r>
            <a:endParaRPr lang="en-US" sz="1250" dirty="0"/>
          </a:p>
        </p:txBody>
      </p:sp>
      <p:sp>
        <p:nvSpPr>
          <p:cNvPr id="17" name="Text 13"/>
          <p:cNvSpPr/>
          <p:nvPr/>
        </p:nvSpPr>
        <p:spPr>
          <a:xfrm>
            <a:off x="4251960" y="5029200"/>
            <a:ext cx="6766560" cy="868680"/>
          </a:xfrm>
          <a:prstGeom prst="rect">
            <a:avLst/>
          </a:prstGeom>
          <a:noFill/>
          <a:ln/>
        </p:spPr>
        <p:txBody>
          <a:bodyPr wrap="square" rtlCol="0" anchor="ctr"/>
          <a:lstStyle/>
          <a:p>
            <a:pPr marL="0" indent="0">
              <a:lnSpc>
                <a:spcPts val="1500"/>
              </a:lnSpc>
              <a:buNone/>
            </a:pPr>
            <a:r>
              <a:rPr lang="en-US" sz="1150" dirty="0">
                <a:solidFill>
                  <a:srgbClr val="3A4750"/>
                </a:solidFill>
                <a:latin typeface="Calibri" pitchFamily="34" charset="0"/>
                <a:ea typeface="Calibri" pitchFamily="34" charset="-122"/>
                <a:cs typeface="Calibri" pitchFamily="34" charset="-120"/>
              </a:rPr>
              <a:t>Nguyên tắc "cắt mốc thời gian trước, tính feature sau": feature tại thời điểm t chỉ dùng dữ liệu ≤ t−1. Dùng TimeSeriesSplit / walk-forward validation. Thêm sanity-check riêng để phát hiện leak.</a:t>
            </a:r>
            <a:endParaRPr lang="en-US" sz="1150" dirty="0"/>
          </a:p>
        </p:txBody>
      </p:sp>
      <p:sp>
        <p:nvSpPr>
          <p:cNvPr id="18" name="Text 14"/>
          <p:cNvSpPr/>
          <p:nvPr/>
        </p:nvSpPr>
        <p:spPr>
          <a:xfrm>
            <a:off x="3429000" y="6172200"/>
            <a:ext cx="7955280" cy="32004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Hidden Leaks in Time Series Forecasting — arXiv:2512.06932, 2025</a:t>
            </a:r>
            <a:endParaRPr lang="en-US" sz="950" dirty="0"/>
          </a:p>
        </p:txBody>
      </p:sp>
      <p:sp>
        <p:nvSpPr>
          <p:cNvPr id="19" name="Text 1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06</a:t>
            </a:r>
            <a:endParaRPr lang="en-US" sz="1000" dirty="0"/>
          </a:p>
        </p:txBody>
      </p:sp>
      <p:sp>
        <p:nvSpPr>
          <p:cNvPr id="300" name="ExT300"/>
          <p:cNvSpPr txBox="1"/>
          <p:nvPr/>
        </p:nvSpPr>
        <p:spPr>
          <a:xfrm>
            <a:off x="3429000" y="1422400"/>
            <a:ext cx="7772400" cy="254000"/>
          </a:xfrm>
          <a:prstGeom prst="rect">
            <a:avLst/>
          </a:prstGeom>
          <a:noFill/>
        </p:spPr>
        <p:txBody>
          <a:bodyPr wrap="square" lIns="0" tIns="0" rIns="0" bIns="0" anchor="t"/>
          <a:lstStyle/>
          <a:p>
            <a:pPr marL="0" indent="0" algn="l">
              <a:lnSpc>
                <a:spcPts val="1500"/>
              </a:lnSpc>
              <a:buNone/>
            </a:pPr>
            <a:r>
              <a:rPr lang="en-US" sz="1200" b="1" spc="150" dirty="0">
                <a:solidFill>
                  <a:srgbClr val="065A82"/>
                </a:solidFill>
                <a:latin typeface="Calibri" pitchFamily="34" charset="0"/>
                <a:cs typeface="Calibri"/>
              </a:rPr>
              <a:t>VÍ DỤ TRÊN M5</a:t>
            </a:r>
          </a:p>
        </p:txBody>
      </p:sp>
      <p:sp>
        <p:nvSpPr>
          <p:cNvPr id="301" name="Ex301"/>
          <p:cNvSpPr/>
          <p:nvPr/>
        </p:nvSpPr>
        <p:spPr>
          <a:xfrm>
            <a:off x="3429000" y="1701800"/>
            <a:ext cx="7950200" cy="1625600"/>
          </a:xfrm>
          <a:prstGeom prst="roundRect">
            <a:avLst>
              <a:gd name="adj" fmla="val 6000"/>
            </a:avLst>
          </a:prstGeom>
          <a:solidFill>
            <a:srgbClr val="F5F9FB"/>
          </a:solidFill>
          <a:ln w="12700">
            <a:solidFill>
              <a:srgbClr val="CFE1EA"/>
            </a:solidFill>
          </a:ln>
        </p:spPr>
        <p:txBody>
          <a:bodyPr/>
          <a:lstStyle/>
          <a:p>
            <a:endParaRPr lang="en-US"/>
          </a:p>
        </p:txBody>
      </p:sp>
      <p:sp>
        <p:nvSpPr>
          <p:cNvPr id="302" name="ExT302"/>
          <p:cNvSpPr txBox="1"/>
          <p:nvPr/>
        </p:nvSpPr>
        <p:spPr>
          <a:xfrm>
            <a:off x="3632200" y="1828800"/>
            <a:ext cx="7543800" cy="2540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Mốc cắt chuẩn của M5 · tổng 1.969 ngày</a:t>
            </a:r>
          </a:p>
        </p:txBody>
      </p:sp>
      <p:sp>
        <p:nvSpPr>
          <p:cNvPr id="303" name="Ex303"/>
          <p:cNvSpPr/>
          <p:nvPr/>
        </p:nvSpPr>
        <p:spPr>
          <a:xfrm>
            <a:off x="3632200" y="2184400"/>
            <a:ext cx="4521200" cy="330200"/>
          </a:xfrm>
          <a:prstGeom prst="roundRect">
            <a:avLst>
              <a:gd name="adj" fmla="val 6000"/>
            </a:avLst>
          </a:prstGeom>
          <a:solidFill>
            <a:srgbClr val="21295C"/>
          </a:solidFill>
          <a:ln>
            <a:noFill/>
          </a:ln>
        </p:spPr>
        <p:txBody>
          <a:bodyPr/>
          <a:lstStyle/>
          <a:p>
            <a:endParaRPr lang="en-US"/>
          </a:p>
        </p:txBody>
      </p:sp>
      <p:sp>
        <p:nvSpPr>
          <p:cNvPr id="304" name="Ex304"/>
          <p:cNvSpPr/>
          <p:nvPr/>
        </p:nvSpPr>
        <p:spPr>
          <a:xfrm>
            <a:off x="8178800" y="2184400"/>
            <a:ext cx="1485900" cy="330200"/>
          </a:xfrm>
          <a:prstGeom prst="roundRect">
            <a:avLst>
              <a:gd name="adj" fmla="val 9000"/>
            </a:avLst>
          </a:prstGeom>
          <a:solidFill>
            <a:srgbClr val="1C7293"/>
          </a:solidFill>
          <a:ln>
            <a:noFill/>
          </a:ln>
        </p:spPr>
        <p:txBody>
          <a:bodyPr/>
          <a:lstStyle/>
          <a:p>
            <a:endParaRPr lang="en-US"/>
          </a:p>
        </p:txBody>
      </p:sp>
      <p:sp>
        <p:nvSpPr>
          <p:cNvPr id="305" name="Ex305"/>
          <p:cNvSpPr/>
          <p:nvPr/>
        </p:nvSpPr>
        <p:spPr>
          <a:xfrm>
            <a:off x="9690100" y="2184400"/>
            <a:ext cx="1485900" cy="330200"/>
          </a:xfrm>
          <a:prstGeom prst="roundRect">
            <a:avLst>
              <a:gd name="adj" fmla="val 9000"/>
            </a:avLst>
          </a:prstGeom>
          <a:solidFill>
            <a:srgbClr val="D6E8F0"/>
          </a:solidFill>
          <a:ln>
            <a:noFill/>
          </a:ln>
        </p:spPr>
        <p:txBody>
          <a:bodyPr/>
          <a:lstStyle/>
          <a:p>
            <a:endParaRPr lang="en-US"/>
          </a:p>
        </p:txBody>
      </p:sp>
      <p:sp>
        <p:nvSpPr>
          <p:cNvPr id="306" name="ExT306"/>
          <p:cNvSpPr txBox="1"/>
          <p:nvPr/>
        </p:nvSpPr>
        <p:spPr>
          <a:xfrm>
            <a:off x="3759200" y="2247900"/>
            <a:ext cx="4267200" cy="228600"/>
          </a:xfrm>
          <a:prstGeom prst="rect">
            <a:avLst/>
          </a:prstGeom>
          <a:noFill/>
        </p:spPr>
        <p:txBody>
          <a:bodyPr wrap="square" lIns="0" tIns="0" rIns="0" bIns="0" anchor="t"/>
          <a:lstStyle/>
          <a:p>
            <a:pPr marL="0" indent="0" algn="l">
              <a:lnSpc>
                <a:spcPts val="1700"/>
              </a:lnSpc>
              <a:buNone/>
            </a:pPr>
            <a:r>
              <a:rPr lang="en-US" sz="1400" b="1" dirty="0">
                <a:solidFill>
                  <a:srgbClr val="FFFFFF"/>
                </a:solidFill>
                <a:latin typeface="Calibri" pitchFamily="34" charset="0"/>
                <a:cs typeface="Calibri"/>
              </a:rPr>
              <a:t>TRAIN · d_1 → d_1913</a:t>
            </a:r>
          </a:p>
        </p:txBody>
      </p:sp>
      <p:sp>
        <p:nvSpPr>
          <p:cNvPr id="307" name="ExT307"/>
          <p:cNvSpPr txBox="1"/>
          <p:nvPr/>
        </p:nvSpPr>
        <p:spPr>
          <a:xfrm>
            <a:off x="8178800" y="2247900"/>
            <a:ext cx="14605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VALID · 1914–1941</a:t>
            </a:r>
          </a:p>
        </p:txBody>
      </p:sp>
      <p:sp>
        <p:nvSpPr>
          <p:cNvPr id="308" name="ExT308"/>
          <p:cNvSpPr txBox="1"/>
          <p:nvPr/>
        </p:nvSpPr>
        <p:spPr>
          <a:xfrm>
            <a:off x="9690100" y="2247900"/>
            <a:ext cx="14605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EVAL · 1942–1969</a:t>
            </a:r>
          </a:p>
        </p:txBody>
      </p:sp>
      <p:sp>
        <p:nvSpPr>
          <p:cNvPr id="309" name="ExT309"/>
          <p:cNvSpPr txBox="1"/>
          <p:nvPr/>
        </p:nvSpPr>
        <p:spPr>
          <a:xfrm>
            <a:off x="3632200" y="2590800"/>
            <a:ext cx="7543800" cy="228600"/>
          </a:xfrm>
          <a:prstGeom prst="rect">
            <a:avLst/>
          </a:prstGeom>
          <a:noFill/>
        </p:spPr>
        <p:txBody>
          <a:bodyPr wrap="square" lIns="0" tIns="0" rIns="0" bIns="0" anchor="t"/>
          <a:lstStyle/>
          <a:p>
            <a:pPr marL="0" indent="0" algn="l">
              <a:lnSpc>
                <a:spcPts val="1700"/>
              </a:lnSpc>
              <a:buNone/>
            </a:pPr>
            <a:r>
              <a:rPr lang="en-US" sz="1400" i="1" dirty="0">
                <a:solidFill>
                  <a:srgbClr val="5C6E79"/>
                </a:solidFill>
                <a:latin typeface="Calibri" pitchFamily="34" charset="0"/>
                <a:cs typeface="Calibri"/>
              </a:rPr>
              <a:t>(độ dài đoạn vẽ không theo tỷ lệ — mỗi đoạn kiểm định chỉ 28 ngày, đúng horizon dự báo)</a:t>
            </a:r>
          </a:p>
        </p:txBody>
      </p:sp>
      <p:sp>
        <p:nvSpPr>
          <p:cNvPr id="310" name="Ex310"/>
          <p:cNvSpPr/>
          <p:nvPr/>
        </p:nvSpPr>
        <p:spPr>
          <a:xfrm>
            <a:off x="3632200" y="2895600"/>
            <a:ext cx="7543800" cy="330200"/>
          </a:xfrm>
          <a:prstGeom prst="roundRect">
            <a:avLst>
              <a:gd name="adj" fmla="val 22000"/>
            </a:avLst>
          </a:prstGeom>
          <a:solidFill>
            <a:srgbClr val="E7EAF2"/>
          </a:solidFill>
          <a:ln>
            <a:noFill/>
          </a:ln>
        </p:spPr>
        <p:txBody>
          <a:bodyPr/>
          <a:lstStyle/>
          <a:p>
            <a:endParaRPr lang="en-US"/>
          </a:p>
        </p:txBody>
      </p:sp>
      <p:sp>
        <p:nvSpPr>
          <p:cNvPr id="311" name="ExT311"/>
          <p:cNvSpPr txBox="1"/>
          <p:nvPr/>
        </p:nvSpPr>
        <p:spPr>
          <a:xfrm>
            <a:off x="3784600" y="2959100"/>
            <a:ext cx="7239000" cy="228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Quy tắc: feature tại ngày t chỉ được dùng dữ liệu ≤ t−1 · cắt mốc trước, tính feature sau</a:t>
            </a:r>
          </a:p>
        </p:txBody>
      </p:sp>
    </p:spTree>
    <p:extLst>
      <p:ext uri="{BB962C8B-B14F-4D97-AF65-F5344CB8AC3E}">
        <p14:creationId xmlns:p14="http://schemas.microsoft.com/office/powerpoint/2010/main" val="3731519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Text 1"/>
          <p:cNvSpPr/>
          <p:nvPr/>
        </p:nvSpPr>
        <p:spPr>
          <a:xfrm>
            <a:off x="457200" y="502920"/>
            <a:ext cx="2103120" cy="1188720"/>
          </a:xfrm>
          <a:prstGeom prst="rect">
            <a:avLst/>
          </a:prstGeom>
          <a:noFill/>
          <a:ln/>
        </p:spPr>
        <p:txBody>
          <a:bodyPr wrap="square" rtlCol="0" anchor="ctr"/>
          <a:lstStyle/>
          <a:p>
            <a:pPr marL="0" indent="0">
              <a:buNone/>
            </a:pPr>
            <a:r>
              <a:rPr lang="en-US" sz="6000" b="1" dirty="0">
                <a:solidFill>
                  <a:srgbClr val="5FB8DE"/>
                </a:solidFill>
                <a:latin typeface="Cambria" pitchFamily="34" charset="0"/>
                <a:ea typeface="Cambria" pitchFamily="34" charset="-122"/>
                <a:cs typeface="Cambria" pitchFamily="34" charset="-120"/>
              </a:rPr>
              <a:t>04</a:t>
            </a:r>
            <a:endParaRPr lang="en-US" sz="6000" dirty="0"/>
          </a:p>
        </p:txBody>
      </p:sp>
      <p:sp>
        <p:nvSpPr>
          <p:cNvPr id="4" name="Shape 2"/>
          <p:cNvSpPr/>
          <p:nvPr/>
        </p:nvSpPr>
        <p:spPr>
          <a:xfrm>
            <a:off x="457200" y="1737360"/>
            <a:ext cx="868680" cy="868680"/>
          </a:xfrm>
          <a:prstGeom prst="ellipse">
            <a:avLst/>
          </a:prstGeom>
          <a:solidFill>
            <a:srgbClr val="065A82"/>
          </a:solidFill>
          <a:ln/>
        </p:spPr>
        <p:txBody>
          <a:bodyPr/>
          <a:lstStyle/>
          <a:p>
            <a:endParaRPr lang="en-US"/>
          </a:p>
        </p:txBody>
      </p:sp>
      <p:pic>
        <p:nvPicPr>
          <p:cNvPr id="5" name="Image 0" descr="/tmp/deck/icon_tags_white.png"/>
          <p:cNvPicPr>
            <a:picLocks noChangeAspect="1"/>
          </p:cNvPicPr>
          <p:nvPr/>
        </p:nvPicPr>
        <p:blipFill>
          <a:blip r:embed="rId3"/>
          <a:stretch>
            <a:fillRect/>
          </a:stretch>
        </p:blipFill>
        <p:spPr>
          <a:xfrm>
            <a:off x="570128" y="1850288"/>
            <a:ext cx="642823" cy="642823"/>
          </a:xfrm>
          <a:prstGeom prst="rect">
            <a:avLst/>
          </a:prstGeom>
        </p:spPr>
      </p:pic>
      <p:sp>
        <p:nvSpPr>
          <p:cNvPr id="6" name="Text 3"/>
          <p:cNvSpPr/>
          <p:nvPr/>
        </p:nvSpPr>
        <p:spPr>
          <a:xfrm>
            <a:off x="457200" y="2834640"/>
            <a:ext cx="2286000" cy="1371600"/>
          </a:xfrm>
          <a:prstGeom prst="rect">
            <a:avLst/>
          </a:prstGeom>
          <a:noFill/>
          <a:ln/>
        </p:spPr>
        <p:txBody>
          <a:bodyPr wrap="square"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Promotion</a:t>
            </a:r>
            <a:endParaRPr lang="en-US" sz="2000" dirty="0"/>
          </a:p>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&amp; Price</a:t>
            </a:r>
            <a:endParaRPr lang="en-US" sz="2000" dirty="0"/>
          </a:p>
        </p:txBody>
      </p:sp>
      <p:sp>
        <p:nvSpPr>
          <p:cNvPr id="7" name="Text 4"/>
          <p:cNvSpPr/>
          <p:nvPr/>
        </p:nvSpPr>
        <p:spPr>
          <a:xfrm>
            <a:off x="457200" y="4160520"/>
            <a:ext cx="2286000" cy="82296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Yếu tố ngoại sinh</a:t>
            </a:r>
            <a:endParaRPr lang="en-US" sz="1150" dirty="0"/>
          </a:p>
        </p:txBody>
      </p:sp>
      <p:sp>
        <p:nvSpPr>
          <p:cNvPr id="8" name="Text 5"/>
          <p:cNvSpPr/>
          <p:nvPr/>
        </p:nvSpPr>
        <p:spPr>
          <a:xfrm>
            <a:off x="3429000" y="5080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VẤN ĐỀ LÀ GÌ</a:t>
            </a:r>
            <a:endParaRPr lang="en-US" sz="1200" dirty="0"/>
          </a:p>
        </p:txBody>
      </p:sp>
      <p:sp>
        <p:nvSpPr>
          <p:cNvPr id="9" name="Text 6"/>
          <p:cNvSpPr/>
          <p:nvPr/>
        </p:nvSpPr>
        <p:spPr>
          <a:xfrm>
            <a:off x="3429000" y="7874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Sales bị chi phối mạnh bởi khuyến mãi, thay đổi giá, ngày lễ. Ước lượng price elasticity từ dữ liệu quan sát vốn khó vì giá và khuyến mãi thường confound với yếu tố khác.</a:t>
            </a:r>
            <a:endParaRPr lang="en-US" sz="1350" dirty="0"/>
          </a:p>
        </p:txBody>
      </p:sp>
      <p:sp>
        <p:nvSpPr>
          <p:cNvPr id="10" name="Text 7"/>
          <p:cNvSpPr/>
          <p:nvPr/>
        </p:nvSpPr>
        <p:spPr>
          <a:xfrm>
            <a:off x="3429000" y="36322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TẠI SAO QUAN TRỌNG</a:t>
            </a:r>
            <a:endParaRPr lang="en-US" sz="1200" dirty="0"/>
          </a:p>
        </p:txBody>
      </p:sp>
      <p:sp>
        <p:nvSpPr>
          <p:cNvPr id="11" name="Text 8"/>
          <p:cNvSpPr/>
          <p:nvPr/>
        </p:nvSpPr>
        <p:spPr>
          <a:xfrm>
            <a:off x="3429000" y="39116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Đây là khác biệt lớn nhất giữa sales forecasting và time-series thuần túy — phải nghĩ về NGUYÊN NHÂN, không chỉ pattern thống kê. Cũng là nơi TreeSHAP phát huy giá trị nhất.</a:t>
            </a:r>
            <a:endParaRPr lang="en-US" sz="1350" dirty="0"/>
          </a:p>
        </p:txBody>
      </p:sp>
      <p:sp>
        <p:nvSpPr>
          <p:cNvPr id="12" name="Shape 9"/>
          <p:cNvSpPr/>
          <p:nvPr/>
        </p:nvSpPr>
        <p:spPr>
          <a:xfrm>
            <a:off x="3429000" y="4526280"/>
            <a:ext cx="7955280" cy="1417320"/>
          </a:xfrm>
          <a:prstGeom prst="roundRect">
            <a:avLst>
              <a:gd name="adj" fmla="val 5161"/>
            </a:avLst>
          </a:prstGeom>
          <a:solidFill>
            <a:srgbClr val="F5F9FB"/>
          </a:solidFill>
          <a:ln w="12700">
            <a:solidFill>
              <a:srgbClr val="E1E8EC"/>
            </a:solidFill>
            <a:prstDash val="solid"/>
          </a:ln>
        </p:spPr>
        <p:txBody>
          <a:bodyPr/>
          <a:lstStyle/>
          <a:p>
            <a:endParaRPr lang="en-US"/>
          </a:p>
        </p:txBody>
      </p:sp>
      <p:sp>
        <p:nvSpPr>
          <p:cNvPr id="13" name="Shape 10"/>
          <p:cNvSpPr/>
          <p:nvPr/>
        </p:nvSpPr>
        <p:spPr>
          <a:xfrm>
            <a:off x="3630168" y="4709160"/>
            <a:ext cx="457200" cy="457200"/>
          </a:xfrm>
          <a:prstGeom prst="ellipse">
            <a:avLst/>
          </a:prstGeom>
          <a:solidFill>
            <a:srgbClr val="1C7293"/>
          </a:solidFill>
          <a:ln/>
        </p:spPr>
        <p:txBody>
          <a:bodyPr/>
          <a:lstStyle/>
          <a:p>
            <a:endParaRPr lang="en-US"/>
          </a:p>
        </p:txBody>
      </p:sp>
      <p:pic>
        <p:nvPicPr>
          <p:cNvPr id="14" name="Image 1" descr="/tmp/deck/icon_magic_white.png"/>
          <p:cNvPicPr>
            <a:picLocks noChangeAspect="1"/>
          </p:cNvPicPr>
          <p:nvPr/>
        </p:nvPicPr>
        <p:blipFill>
          <a:blip r:embed="rId4"/>
          <a:stretch>
            <a:fillRect/>
          </a:stretch>
        </p:blipFill>
        <p:spPr>
          <a:xfrm>
            <a:off x="3689604" y="4768596"/>
            <a:ext cx="338328" cy="338328"/>
          </a:xfrm>
          <a:prstGeom prst="rect">
            <a:avLst/>
          </a:prstGeom>
        </p:spPr>
      </p:pic>
      <p:sp>
        <p:nvSpPr>
          <p:cNvPr id="15" name="Text 11"/>
          <p:cNvSpPr/>
          <p:nvPr/>
        </p:nvSpPr>
        <p:spPr>
          <a:xfrm>
            <a:off x="4251960" y="4690872"/>
            <a:ext cx="548640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Hướng xử lý (ý tưởng)</a:t>
            </a:r>
            <a:endParaRPr lang="en-US" sz="1250" dirty="0"/>
          </a:p>
        </p:txBody>
      </p:sp>
      <p:sp>
        <p:nvSpPr>
          <p:cNvPr id="16" name="Text 12"/>
          <p:cNvSpPr/>
          <p:nvPr/>
        </p:nvSpPr>
        <p:spPr>
          <a:xfrm>
            <a:off x="4251960" y="5029200"/>
            <a:ext cx="6766560" cy="868680"/>
          </a:xfrm>
          <a:prstGeom prst="rect">
            <a:avLst/>
          </a:prstGeom>
          <a:noFill/>
          <a:ln/>
        </p:spPr>
        <p:txBody>
          <a:bodyPr wrap="square" rtlCol="0" anchor="ctr"/>
          <a:lstStyle/>
          <a:p>
            <a:pPr marL="0" indent="0">
              <a:lnSpc>
                <a:spcPts val="1500"/>
              </a:lnSpc>
              <a:buNone/>
            </a:pPr>
            <a:r>
              <a:rPr lang="en-US" sz="1150" dirty="0">
                <a:solidFill>
                  <a:srgbClr val="3A4750"/>
                </a:solidFill>
                <a:latin typeface="Calibri" pitchFamily="34" charset="0"/>
                <a:ea typeface="Calibri" pitchFamily="34" charset="-122"/>
                <a:cs typeface="Calibri" pitchFamily="34" charset="-120"/>
              </a:rPr>
              <a:t>Đưa promotion/price/holiday thành feature tường minh; dùng SHAP dependence plot kiểm tra mô hình có học quan hệ hợp lý (giảm giá → SHAP value dương) hay học sai do confounding.</a:t>
            </a:r>
            <a:endParaRPr lang="en-US" sz="1150" dirty="0"/>
          </a:p>
        </p:txBody>
      </p:sp>
      <p:sp>
        <p:nvSpPr>
          <p:cNvPr id="17" name="Text 13"/>
          <p:cNvSpPr/>
          <p:nvPr/>
        </p:nvSpPr>
        <p:spPr>
          <a:xfrm>
            <a:off x="3429000" y="6172200"/>
            <a:ext cx="7955280" cy="32004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Price Elasticity — Estimate It From Sales Data (+ Pitfalls), mcpanalytics.ai</a:t>
            </a:r>
            <a:endParaRPr lang="en-US" sz="950" dirty="0"/>
          </a:p>
        </p:txBody>
      </p:sp>
      <p:sp>
        <p:nvSpPr>
          <p:cNvPr id="18"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07</a:t>
            </a:r>
            <a:endParaRPr lang="en-US" sz="1000" dirty="0"/>
          </a:p>
        </p:txBody>
      </p:sp>
      <p:sp>
        <p:nvSpPr>
          <p:cNvPr id="300" name="ExT300"/>
          <p:cNvSpPr txBox="1"/>
          <p:nvPr/>
        </p:nvSpPr>
        <p:spPr>
          <a:xfrm>
            <a:off x="3429000" y="1422400"/>
            <a:ext cx="7772400" cy="254000"/>
          </a:xfrm>
          <a:prstGeom prst="rect">
            <a:avLst/>
          </a:prstGeom>
          <a:noFill/>
        </p:spPr>
        <p:txBody>
          <a:bodyPr wrap="square" lIns="0" tIns="0" rIns="0" bIns="0" anchor="t"/>
          <a:lstStyle/>
          <a:p>
            <a:pPr marL="0" indent="0" algn="l">
              <a:lnSpc>
                <a:spcPts val="1500"/>
              </a:lnSpc>
              <a:buNone/>
            </a:pPr>
            <a:r>
              <a:rPr lang="en-US" sz="1200" b="1" spc="150" dirty="0">
                <a:solidFill>
                  <a:srgbClr val="065A82"/>
                </a:solidFill>
                <a:latin typeface="Calibri" pitchFamily="34" charset="0"/>
                <a:cs typeface="Calibri"/>
              </a:rPr>
              <a:t>VÍ DỤ TRÊN M5</a:t>
            </a:r>
          </a:p>
        </p:txBody>
      </p:sp>
      <p:sp>
        <p:nvSpPr>
          <p:cNvPr id="301" name="Ex301"/>
          <p:cNvSpPr/>
          <p:nvPr/>
        </p:nvSpPr>
        <p:spPr>
          <a:xfrm>
            <a:off x="3429000" y="1701800"/>
            <a:ext cx="7950200" cy="1778000"/>
          </a:xfrm>
          <a:prstGeom prst="roundRect">
            <a:avLst>
              <a:gd name="adj" fmla="val 6000"/>
            </a:avLst>
          </a:prstGeom>
          <a:solidFill>
            <a:srgbClr val="F5F9FB"/>
          </a:solidFill>
          <a:ln w="12700">
            <a:solidFill>
              <a:srgbClr val="CFE1EA"/>
            </a:solidFill>
          </a:ln>
        </p:spPr>
        <p:txBody>
          <a:bodyPr/>
          <a:lstStyle/>
          <a:p>
            <a:endParaRPr lang="en-US"/>
          </a:p>
        </p:txBody>
      </p:sp>
      <p:sp>
        <p:nvSpPr>
          <p:cNvPr id="302" name="ExT302"/>
          <p:cNvSpPr txBox="1"/>
          <p:nvPr/>
        </p:nvSpPr>
        <p:spPr>
          <a:xfrm>
            <a:off x="3632200" y="1828800"/>
            <a:ext cx="5080000" cy="2540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Yếu tố ngoại sinh: M5 có gì, thiếu gì</a:t>
            </a:r>
          </a:p>
        </p:txBody>
      </p:sp>
      <p:sp>
        <p:nvSpPr>
          <p:cNvPr id="303" name="Ex303"/>
          <p:cNvSpPr/>
          <p:nvPr/>
        </p:nvSpPr>
        <p:spPr>
          <a:xfrm>
            <a:off x="9779000" y="1803400"/>
            <a:ext cx="1397000" cy="279400"/>
          </a:xfrm>
          <a:prstGeom prst="roundRect">
            <a:avLst>
              <a:gd name="adj" fmla="val 22000"/>
            </a:avLst>
          </a:prstGeom>
          <a:solidFill>
            <a:srgbClr val="21295C"/>
          </a:solidFill>
          <a:ln>
            <a:noFill/>
          </a:ln>
        </p:spPr>
        <p:txBody>
          <a:bodyPr/>
          <a:lstStyle/>
          <a:p>
            <a:endParaRPr lang="en-US"/>
          </a:p>
        </p:txBody>
      </p:sp>
      <p:sp>
        <p:nvSpPr>
          <p:cNvPr id="304" name="ExT304"/>
          <p:cNvSpPr txBox="1"/>
          <p:nvPr/>
        </p:nvSpPr>
        <p:spPr>
          <a:xfrm>
            <a:off x="9779000" y="1854200"/>
            <a:ext cx="1397000" cy="228600"/>
          </a:xfrm>
          <a:prstGeom prst="rect">
            <a:avLst/>
          </a:prstGeom>
          <a:noFill/>
        </p:spPr>
        <p:txBody>
          <a:bodyPr wrap="square" lIns="0" tIns="0" rIns="0" bIns="0" anchor="t"/>
          <a:lstStyle/>
          <a:p>
            <a:pPr marL="0" indent="0" algn="ctr">
              <a:lnSpc>
                <a:spcPts val="1500"/>
              </a:lnSpc>
              <a:buNone/>
            </a:pPr>
            <a:r>
              <a:rPr lang="en-US" sz="1200" b="1" dirty="0">
                <a:solidFill>
                  <a:srgbClr val="FFFFFF"/>
                </a:solidFill>
                <a:latin typeface="Calibri" pitchFamily="34" charset="0"/>
                <a:cs typeface="Calibri"/>
              </a:rPr>
              <a:t>NGOÀI M5</a:t>
            </a:r>
          </a:p>
        </p:txBody>
      </p:sp>
      <p:sp>
        <p:nvSpPr>
          <p:cNvPr id="305" name="ExT305"/>
          <p:cNvSpPr txBox="1"/>
          <p:nvPr/>
        </p:nvSpPr>
        <p:spPr>
          <a:xfrm>
            <a:off x="3632200" y="2184400"/>
            <a:ext cx="3683000" cy="228600"/>
          </a:xfrm>
          <a:prstGeom prst="rect">
            <a:avLst/>
          </a:prstGeom>
          <a:noFill/>
        </p:spPr>
        <p:txBody>
          <a:bodyPr wrap="square" lIns="0" tIns="0" rIns="0" bIns="0" anchor="t"/>
          <a:lstStyle/>
          <a:p>
            <a:pPr marL="0" indent="0" algn="l">
              <a:lnSpc>
                <a:spcPts val="1500"/>
              </a:lnSpc>
              <a:buNone/>
            </a:pPr>
            <a:r>
              <a:rPr lang="en-US" sz="1200" b="1" spc="120" dirty="0">
                <a:solidFill>
                  <a:srgbClr val="1C7293"/>
                </a:solidFill>
                <a:latin typeface="Calibri" pitchFamily="34" charset="0"/>
                <a:cs typeface="Calibri"/>
              </a:rPr>
              <a:t>CÓ TRONG M5</a:t>
            </a:r>
          </a:p>
        </p:txBody>
      </p:sp>
      <p:sp>
        <p:nvSpPr>
          <p:cNvPr id="306" name="ExT306"/>
          <p:cNvSpPr txBox="1"/>
          <p:nvPr/>
        </p:nvSpPr>
        <p:spPr>
          <a:xfrm>
            <a:off x="7518400" y="2184400"/>
            <a:ext cx="3683000" cy="228600"/>
          </a:xfrm>
          <a:prstGeom prst="rect">
            <a:avLst/>
          </a:prstGeom>
          <a:noFill/>
        </p:spPr>
        <p:txBody>
          <a:bodyPr wrap="square" lIns="0" tIns="0" rIns="0" bIns="0" anchor="t"/>
          <a:lstStyle/>
          <a:p>
            <a:pPr marL="0" indent="0" algn="l">
              <a:lnSpc>
                <a:spcPts val="1500"/>
              </a:lnSpc>
              <a:buNone/>
            </a:pPr>
            <a:r>
              <a:rPr lang="en-US" sz="1200" b="1" spc="120" dirty="0">
                <a:solidFill>
                  <a:srgbClr val="42555F"/>
                </a:solidFill>
                <a:latin typeface="Calibri" pitchFamily="34" charset="0"/>
                <a:cs typeface="Calibri"/>
              </a:rPr>
              <a:t>KHÔNG CÓ TRONG M5</a:t>
            </a:r>
          </a:p>
        </p:txBody>
      </p:sp>
      <p:sp>
        <p:nvSpPr>
          <p:cNvPr id="307" name="Ex307"/>
          <p:cNvSpPr/>
          <p:nvPr/>
        </p:nvSpPr>
        <p:spPr>
          <a:xfrm>
            <a:off x="7340600" y="2159000"/>
            <a:ext cx="19050" cy="838200"/>
          </a:xfrm>
          <a:prstGeom prst="rect">
            <a:avLst/>
          </a:prstGeom>
          <a:solidFill>
            <a:srgbClr val="CFE1EA"/>
          </a:solidFill>
          <a:ln>
            <a:noFill/>
          </a:ln>
        </p:spPr>
        <p:txBody>
          <a:bodyPr/>
          <a:lstStyle/>
          <a:p>
            <a:endParaRPr lang="en-US"/>
          </a:p>
        </p:txBody>
      </p:sp>
      <p:sp>
        <p:nvSpPr>
          <p:cNvPr id="308" name="Ex308"/>
          <p:cNvSpPr/>
          <p:nvPr/>
        </p:nvSpPr>
        <p:spPr>
          <a:xfrm>
            <a:off x="3632200" y="2501900"/>
            <a:ext cx="88900" cy="88900"/>
          </a:xfrm>
          <a:prstGeom prst="ellipse">
            <a:avLst/>
          </a:prstGeom>
          <a:solidFill>
            <a:srgbClr val="1C7293"/>
          </a:solidFill>
          <a:ln>
            <a:noFill/>
          </a:ln>
        </p:spPr>
        <p:txBody>
          <a:bodyPr/>
          <a:lstStyle/>
          <a:p>
            <a:endParaRPr lang="en-US"/>
          </a:p>
        </p:txBody>
      </p:sp>
      <p:sp>
        <p:nvSpPr>
          <p:cNvPr id="309" name="ExT309"/>
          <p:cNvSpPr txBox="1"/>
          <p:nvPr/>
        </p:nvSpPr>
        <p:spPr>
          <a:xfrm>
            <a:off x="3810000" y="2438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sell_prices — giá theo tuần (wm_yr_wk)</a:t>
            </a:r>
          </a:p>
        </p:txBody>
      </p:sp>
      <p:sp>
        <p:nvSpPr>
          <p:cNvPr id="310" name="Ex310"/>
          <p:cNvSpPr/>
          <p:nvPr/>
        </p:nvSpPr>
        <p:spPr>
          <a:xfrm>
            <a:off x="7518400" y="2501900"/>
            <a:ext cx="88900" cy="88900"/>
          </a:xfrm>
          <a:prstGeom prst="ellipse">
            <a:avLst/>
          </a:prstGeom>
          <a:solidFill>
            <a:srgbClr val="B6C2C9"/>
          </a:solidFill>
          <a:ln>
            <a:noFill/>
          </a:ln>
        </p:spPr>
        <p:txBody>
          <a:bodyPr/>
          <a:lstStyle/>
          <a:p>
            <a:endParaRPr lang="en-US"/>
          </a:p>
        </p:txBody>
      </p:sp>
      <p:sp>
        <p:nvSpPr>
          <p:cNvPr id="311" name="ExT311"/>
          <p:cNvSpPr txBox="1"/>
          <p:nvPr/>
        </p:nvSpPr>
        <p:spPr>
          <a:xfrm>
            <a:off x="7696200" y="2438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cột khuyến mãi / discount flag</a:t>
            </a:r>
          </a:p>
        </p:txBody>
      </p:sp>
      <p:sp>
        <p:nvSpPr>
          <p:cNvPr id="312" name="Ex312"/>
          <p:cNvSpPr/>
          <p:nvPr/>
        </p:nvSpPr>
        <p:spPr>
          <a:xfrm>
            <a:off x="3632200" y="2755900"/>
            <a:ext cx="88900" cy="88900"/>
          </a:xfrm>
          <a:prstGeom prst="ellipse">
            <a:avLst/>
          </a:prstGeom>
          <a:solidFill>
            <a:srgbClr val="1C7293"/>
          </a:solidFill>
          <a:ln>
            <a:noFill/>
          </a:ln>
        </p:spPr>
        <p:txBody>
          <a:bodyPr/>
          <a:lstStyle/>
          <a:p>
            <a:endParaRPr lang="en-US"/>
          </a:p>
        </p:txBody>
      </p:sp>
      <p:sp>
        <p:nvSpPr>
          <p:cNvPr id="313" name="ExT313"/>
          <p:cNvSpPr txBox="1"/>
          <p:nvPr/>
        </p:nvSpPr>
        <p:spPr>
          <a:xfrm>
            <a:off x="3810000" y="2692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calendar — event_name / event_type</a:t>
            </a:r>
          </a:p>
        </p:txBody>
      </p:sp>
      <p:sp>
        <p:nvSpPr>
          <p:cNvPr id="314" name="Ex314"/>
          <p:cNvSpPr/>
          <p:nvPr/>
        </p:nvSpPr>
        <p:spPr>
          <a:xfrm>
            <a:off x="7518400" y="2755900"/>
            <a:ext cx="88900" cy="88900"/>
          </a:xfrm>
          <a:prstGeom prst="ellipse">
            <a:avLst/>
          </a:prstGeom>
          <a:solidFill>
            <a:srgbClr val="B6C2C9"/>
          </a:solidFill>
          <a:ln>
            <a:noFill/>
          </a:ln>
        </p:spPr>
        <p:txBody>
          <a:bodyPr/>
          <a:lstStyle/>
          <a:p>
            <a:endParaRPr lang="en-US"/>
          </a:p>
        </p:txBody>
      </p:sp>
      <p:sp>
        <p:nvSpPr>
          <p:cNvPr id="315" name="ExT315"/>
          <p:cNvSpPr txBox="1"/>
          <p:nvPr/>
        </p:nvSpPr>
        <p:spPr>
          <a:xfrm>
            <a:off x="7696200" y="2692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chi phí quảng cáo, vị trí trưng bày</a:t>
            </a:r>
          </a:p>
        </p:txBody>
      </p:sp>
      <p:sp>
        <p:nvSpPr>
          <p:cNvPr id="316" name="Ex316"/>
          <p:cNvSpPr/>
          <p:nvPr/>
        </p:nvSpPr>
        <p:spPr>
          <a:xfrm>
            <a:off x="3632200" y="3009900"/>
            <a:ext cx="88900" cy="88900"/>
          </a:xfrm>
          <a:prstGeom prst="ellipse">
            <a:avLst/>
          </a:prstGeom>
          <a:solidFill>
            <a:srgbClr val="1C7293"/>
          </a:solidFill>
          <a:ln>
            <a:noFill/>
          </a:ln>
        </p:spPr>
        <p:txBody>
          <a:bodyPr/>
          <a:lstStyle/>
          <a:p>
            <a:endParaRPr lang="en-US"/>
          </a:p>
        </p:txBody>
      </p:sp>
      <p:sp>
        <p:nvSpPr>
          <p:cNvPr id="317" name="ExT317"/>
          <p:cNvSpPr txBox="1"/>
          <p:nvPr/>
        </p:nvSpPr>
        <p:spPr>
          <a:xfrm>
            <a:off x="3810000" y="2946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snap_CA · snap_TX · snap_WI</a:t>
            </a:r>
          </a:p>
        </p:txBody>
      </p:sp>
      <p:sp>
        <p:nvSpPr>
          <p:cNvPr id="318" name="Ex318"/>
          <p:cNvSpPr/>
          <p:nvPr/>
        </p:nvSpPr>
        <p:spPr>
          <a:xfrm>
            <a:off x="7518400" y="3009900"/>
            <a:ext cx="88900" cy="88900"/>
          </a:xfrm>
          <a:prstGeom prst="ellipse">
            <a:avLst/>
          </a:prstGeom>
          <a:solidFill>
            <a:srgbClr val="B6C2C9"/>
          </a:solidFill>
          <a:ln>
            <a:noFill/>
          </a:ln>
        </p:spPr>
        <p:txBody>
          <a:bodyPr/>
          <a:lstStyle/>
          <a:p>
            <a:endParaRPr lang="en-US"/>
          </a:p>
        </p:txBody>
      </p:sp>
      <p:sp>
        <p:nvSpPr>
          <p:cNvPr id="319" name="ExT319"/>
          <p:cNvSpPr txBox="1"/>
          <p:nvPr/>
        </p:nvSpPr>
        <p:spPr>
          <a:xfrm>
            <a:off x="7696200" y="2946400"/>
            <a:ext cx="35052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tồn kho và tình trạng hết hàng</a:t>
            </a:r>
          </a:p>
        </p:txBody>
      </p:sp>
      <p:sp>
        <p:nvSpPr>
          <p:cNvPr id="320" name="ExT320"/>
          <p:cNvSpPr txBox="1"/>
          <p:nvPr/>
        </p:nvSpPr>
        <p:spPr>
          <a:xfrm>
            <a:off x="3632200" y="3200400"/>
            <a:ext cx="7543800" cy="228600"/>
          </a:xfrm>
          <a:prstGeom prst="rect">
            <a:avLst/>
          </a:prstGeom>
          <a:noFill/>
        </p:spPr>
        <p:txBody>
          <a:bodyPr wrap="square" lIns="0" tIns="0" rIns="0" bIns="0" anchor="t"/>
          <a:lstStyle/>
          <a:p>
            <a:pPr marL="0" indent="0" algn="l">
              <a:lnSpc>
                <a:spcPts val="1700"/>
              </a:lnSpc>
              <a:buNone/>
            </a:pPr>
            <a:r>
              <a:rPr lang="en-US" sz="1400" i="1" dirty="0">
                <a:solidFill>
                  <a:srgbClr val="5C6E79"/>
                </a:solidFill>
                <a:latin typeface="Calibri" pitchFamily="34" charset="0"/>
                <a:cs typeface="Calibri"/>
              </a:rPr>
              <a:t>⇒ Proxy khuyến mãi trong M5 = mức giảm giá tuần; ví dụ elasticity đầy đủ cần dataset ngoài.</a:t>
            </a:r>
          </a:p>
        </p:txBody>
      </p:sp>
    </p:spTree>
    <p:extLst>
      <p:ext uri="{BB962C8B-B14F-4D97-AF65-F5344CB8AC3E}">
        <p14:creationId xmlns:p14="http://schemas.microsoft.com/office/powerpoint/2010/main" val="1946941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Text 1"/>
          <p:cNvSpPr/>
          <p:nvPr/>
        </p:nvSpPr>
        <p:spPr>
          <a:xfrm>
            <a:off x="457200" y="640080"/>
            <a:ext cx="2103120" cy="914400"/>
          </a:xfrm>
          <a:prstGeom prst="rect">
            <a:avLst/>
          </a:prstGeom>
          <a:noFill/>
          <a:ln/>
        </p:spPr>
        <p:txBody>
          <a:bodyPr wrap="square" rtlCol="0" anchor="ctr"/>
          <a:lstStyle/>
          <a:p>
            <a:pPr marL="0" indent="0">
              <a:buNone/>
            </a:pPr>
            <a:r>
              <a:rPr lang="en-US" sz="4800" b="1" dirty="0">
                <a:solidFill>
                  <a:srgbClr val="5FB8DE"/>
                </a:solidFill>
                <a:latin typeface="Cambria" pitchFamily="34" charset="0"/>
                <a:ea typeface="Cambria" pitchFamily="34" charset="-122"/>
                <a:cs typeface="Cambria" pitchFamily="34" charset="-120"/>
              </a:rPr>
              <a:t>05–06</a:t>
            </a:r>
            <a:endParaRPr lang="en-US" sz="4800" dirty="0"/>
          </a:p>
        </p:txBody>
      </p:sp>
      <p:sp>
        <p:nvSpPr>
          <p:cNvPr id="4" name="Shape 2"/>
          <p:cNvSpPr/>
          <p:nvPr/>
        </p:nvSpPr>
        <p:spPr>
          <a:xfrm>
            <a:off x="457200" y="1691640"/>
            <a:ext cx="777240" cy="777240"/>
          </a:xfrm>
          <a:prstGeom prst="ellipse">
            <a:avLst/>
          </a:prstGeom>
          <a:solidFill>
            <a:srgbClr val="065A82"/>
          </a:solidFill>
          <a:ln/>
        </p:spPr>
        <p:txBody>
          <a:bodyPr/>
          <a:lstStyle/>
          <a:p>
            <a:endParaRPr lang="en-US"/>
          </a:p>
        </p:txBody>
      </p:sp>
      <p:pic>
        <p:nvPicPr>
          <p:cNvPr id="5" name="Image 0" descr="/tmp/deck/icon_network_white.png"/>
          <p:cNvPicPr>
            <a:picLocks noChangeAspect="1"/>
          </p:cNvPicPr>
          <p:nvPr/>
        </p:nvPicPr>
        <p:blipFill>
          <a:blip r:embed="rId3"/>
          <a:stretch>
            <a:fillRect/>
          </a:stretch>
        </p:blipFill>
        <p:spPr>
          <a:xfrm>
            <a:off x="558241" y="1792681"/>
            <a:ext cx="575158" cy="575158"/>
          </a:xfrm>
          <a:prstGeom prst="rect">
            <a:avLst/>
          </a:prstGeom>
        </p:spPr>
      </p:pic>
      <p:sp>
        <p:nvSpPr>
          <p:cNvPr id="6" name="Shape 3"/>
          <p:cNvSpPr/>
          <p:nvPr/>
        </p:nvSpPr>
        <p:spPr>
          <a:xfrm>
            <a:off x="1463040" y="1691640"/>
            <a:ext cx="777240" cy="777240"/>
          </a:xfrm>
          <a:prstGeom prst="ellipse">
            <a:avLst/>
          </a:prstGeom>
          <a:solidFill>
            <a:srgbClr val="1C7293"/>
          </a:solidFill>
          <a:ln/>
        </p:spPr>
        <p:txBody>
          <a:bodyPr/>
          <a:lstStyle/>
          <a:p>
            <a:endParaRPr lang="en-US"/>
          </a:p>
        </p:txBody>
      </p:sp>
      <p:pic>
        <p:nvPicPr>
          <p:cNvPr id="7" name="Image 1" descr="/tmp/deck/icon_sitemap_white.png"/>
          <p:cNvPicPr>
            <a:picLocks noChangeAspect="1"/>
          </p:cNvPicPr>
          <p:nvPr/>
        </p:nvPicPr>
        <p:blipFill>
          <a:blip r:embed="rId4"/>
          <a:stretch>
            <a:fillRect/>
          </a:stretch>
        </p:blipFill>
        <p:spPr>
          <a:xfrm>
            <a:off x="1564081" y="1792681"/>
            <a:ext cx="575158" cy="575158"/>
          </a:xfrm>
          <a:prstGeom prst="rect">
            <a:avLst/>
          </a:prstGeom>
        </p:spPr>
      </p:pic>
      <p:sp>
        <p:nvSpPr>
          <p:cNvPr id="8" name="Text 4"/>
          <p:cNvSpPr/>
          <p:nvPr/>
        </p:nvSpPr>
        <p:spPr>
          <a:xfrm>
            <a:off x="457200" y="2697480"/>
            <a:ext cx="2286000" cy="1188720"/>
          </a:xfrm>
          <a:prstGeom prst="rect">
            <a:avLst/>
          </a:prstGeom>
          <a:noFill/>
          <a:ln/>
        </p:spPr>
        <p:txBody>
          <a:bodyPr wrap="square" rtlCol="0" anchor="ctr"/>
          <a:lstStyle/>
          <a:p>
            <a:pPr marL="0" indent="0">
              <a:lnSpc>
                <a:spcPts val="2300"/>
              </a:lnSpc>
              <a:buNone/>
            </a:pPr>
            <a:r>
              <a:rPr lang="en-US" sz="1900" b="1" dirty="0">
                <a:solidFill>
                  <a:srgbClr val="FFFFFF"/>
                </a:solidFill>
                <a:latin typeface="Cambria" pitchFamily="34" charset="0"/>
                <a:ea typeface="Cambria" pitchFamily="34" charset="-122"/>
                <a:cs typeface="Cambria" pitchFamily="34" charset="-120"/>
              </a:rPr>
              <a:t>Cross-Learning</a:t>
            </a:r>
            <a:endParaRPr lang="en-US" sz="1900" dirty="0"/>
          </a:p>
          <a:p>
            <a:pPr marL="0" indent="0">
              <a:lnSpc>
                <a:spcPts val="2300"/>
              </a:lnSpc>
              <a:buNone/>
            </a:pPr>
            <a:r>
              <a:rPr lang="en-US" sz="1900" b="1" dirty="0">
                <a:solidFill>
                  <a:srgbClr val="FFFFFF"/>
                </a:solidFill>
                <a:latin typeface="Cambria" pitchFamily="34" charset="0"/>
                <a:ea typeface="Cambria" pitchFamily="34" charset="-122"/>
                <a:cs typeface="Cambria" pitchFamily="34" charset="-120"/>
              </a:rPr>
              <a:t>&amp; Hierarchy</a:t>
            </a:r>
            <a:endParaRPr lang="en-US" sz="1900" dirty="0"/>
          </a:p>
        </p:txBody>
      </p:sp>
      <p:sp>
        <p:nvSpPr>
          <p:cNvPr id="9" name="Text 5"/>
          <p:cNvSpPr/>
          <p:nvPr/>
        </p:nvSpPr>
        <p:spPr>
          <a:xfrm>
            <a:off x="457200" y="3794760"/>
            <a:ext cx="2286000" cy="73152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Cấu trúc nhiều chuỗi, nhiều cấp độ</a:t>
            </a:r>
            <a:endParaRPr lang="en-US" sz="1150" dirty="0"/>
          </a:p>
        </p:txBody>
      </p:sp>
      <p:sp>
        <p:nvSpPr>
          <p:cNvPr id="10" name="Text 6"/>
          <p:cNvSpPr/>
          <p:nvPr/>
        </p:nvSpPr>
        <p:spPr>
          <a:xfrm>
            <a:off x="3429000" y="457200"/>
            <a:ext cx="7950200" cy="279400"/>
          </a:xfrm>
          <a:prstGeom prst="rect">
            <a:avLst/>
          </a:prstGeom>
          <a:noFill/>
          <a:ln/>
        </p:spPr>
        <p:txBody>
          <a:bodyPr wrap="square"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05 · GLOBAL vs LOCAL MODELS</a:t>
            </a:r>
            <a:endParaRPr lang="en-US" sz="1200" dirty="0"/>
          </a:p>
        </p:txBody>
      </p:sp>
      <p:sp>
        <p:nvSpPr>
          <p:cNvPr id="11" name="Text 7"/>
          <p:cNvSpPr/>
          <p:nvPr/>
        </p:nvSpPr>
        <p:spPr>
          <a:xfrm>
            <a:off x="3429000" y="736600"/>
            <a:ext cx="7950200" cy="635000"/>
          </a:xfrm>
          <a:prstGeom prst="rect">
            <a:avLst/>
          </a:prstGeom>
          <a:noFill/>
          <a:ln/>
        </p:spPr>
        <p:txBody>
          <a:bodyPr wrap="square" rtlCol="0" anchor="ctr"/>
          <a:lstStyle/>
          <a:p>
            <a:pPr marL="0" indent="0">
              <a:lnSpc>
                <a:spcPts val="1700"/>
              </a:lnSpc>
              <a:buNone/>
            </a:pPr>
            <a:r>
              <a:rPr lang="en-US" sz="1250" dirty="0">
                <a:solidFill>
                  <a:srgbClr val="3A4750"/>
                </a:solidFill>
                <a:latin typeface="Calibri" pitchFamily="34" charset="0"/>
                <a:ea typeface="Calibri" pitchFamily="34" charset="-122"/>
                <a:cs typeface="Calibri" pitchFamily="34" charset="-120"/>
              </a:rPr>
              <a:t>Bài toán thực tế là dự báo hàng nghìn chuỗi cùng lúc. Tree-based models học một "global model" dùng chung — thêm ID sản phẩm/cửa hàng làm feature — và đây chính là lý do LightGBM thắng M5 Accuracy, thay vì ARIMA/ETS train riêng từng chuỗi.</a:t>
            </a:r>
            <a:endParaRPr lang="en-US" sz="1250" dirty="0"/>
          </a:p>
        </p:txBody>
      </p:sp>
      <p:sp>
        <p:nvSpPr>
          <p:cNvPr id="12" name="Text 8"/>
          <p:cNvSpPr/>
          <p:nvPr/>
        </p:nvSpPr>
        <p:spPr>
          <a:xfrm>
            <a:off x="3429000" y="2108200"/>
            <a:ext cx="7950200" cy="482600"/>
          </a:xfrm>
          <a:prstGeom prst="rect">
            <a:avLst/>
          </a:prstGeom>
          <a:noFill/>
          <a:ln/>
        </p:spPr>
        <p:txBody>
          <a:bodyPr wrap="square" rtlCol="0" anchor="ctr"/>
          <a:lstStyle/>
          <a:p>
            <a:pPr marL="0" indent="0">
              <a:lnSpc>
                <a:spcPts val="1500"/>
              </a:lnSpc>
              <a:buNone/>
            </a:pPr>
            <a:r>
              <a:rPr lang="en-US" sz="1150" i="1" dirty="0">
                <a:solidFill>
                  <a:srgbClr val="1C7293"/>
                </a:solidFill>
                <a:latin typeface="Calibri" pitchFamily="34" charset="0"/>
                <a:ea typeface="Calibri" pitchFamily="34" charset="-122"/>
                <a:cs typeface="Calibri" pitchFamily="34" charset="-120"/>
              </a:rPr>
              <a:t>→ Thiết kế ID (state / store / cat / dept / item) như categorical feature native của LightGBM; group-encoding dùng expanding-window để tránh leak.</a:t>
            </a:r>
            <a:endParaRPr lang="en-US" sz="1150" dirty="0"/>
          </a:p>
        </p:txBody>
      </p:sp>
      <p:sp>
        <p:nvSpPr>
          <p:cNvPr id="13" name="Text 9"/>
          <p:cNvSpPr/>
          <p:nvPr/>
        </p:nvSpPr>
        <p:spPr>
          <a:xfrm>
            <a:off x="3429000" y="2641600"/>
            <a:ext cx="7950200" cy="27940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Makridakis et al., M5 Accuracy Competition — International Journal of Forecasting, 2022</a:t>
            </a:r>
            <a:endParaRPr lang="en-US" sz="950" dirty="0"/>
          </a:p>
        </p:txBody>
      </p:sp>
      <p:sp>
        <p:nvSpPr>
          <p:cNvPr id="14" name="Shape 10"/>
          <p:cNvSpPr/>
          <p:nvPr/>
        </p:nvSpPr>
        <p:spPr>
          <a:xfrm>
            <a:off x="3429000" y="3200400"/>
            <a:ext cx="7950200" cy="0"/>
          </a:xfrm>
          <a:prstGeom prst="line">
            <a:avLst/>
          </a:prstGeom>
          <a:noFill/>
          <a:ln w="12700">
            <a:solidFill>
              <a:srgbClr val="E1E8EC"/>
            </a:solidFill>
            <a:prstDash val="solid"/>
          </a:ln>
        </p:spPr>
        <p:txBody>
          <a:bodyPr/>
          <a:lstStyle/>
          <a:p>
            <a:endParaRPr lang="en-US"/>
          </a:p>
        </p:txBody>
      </p:sp>
      <p:sp>
        <p:nvSpPr>
          <p:cNvPr id="15" name="Text 11"/>
          <p:cNvSpPr/>
          <p:nvPr/>
        </p:nvSpPr>
        <p:spPr>
          <a:xfrm>
            <a:off x="3429000" y="3454400"/>
            <a:ext cx="7950200" cy="279400"/>
          </a:xfrm>
          <a:prstGeom prst="rect">
            <a:avLst/>
          </a:prstGeom>
          <a:noFill/>
          <a:ln/>
        </p:spPr>
        <p:txBody>
          <a:bodyPr wrap="square"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06 · HIERARCHICAL CONSISTENCY</a:t>
            </a:r>
            <a:endParaRPr lang="en-US" sz="1200" dirty="0"/>
          </a:p>
        </p:txBody>
      </p:sp>
      <p:sp>
        <p:nvSpPr>
          <p:cNvPr id="16" name="Text 12"/>
          <p:cNvSpPr/>
          <p:nvPr/>
        </p:nvSpPr>
        <p:spPr>
          <a:xfrm>
            <a:off x="3429000" y="3733800"/>
            <a:ext cx="7950200" cy="635000"/>
          </a:xfrm>
          <a:prstGeom prst="rect">
            <a:avLst/>
          </a:prstGeom>
          <a:noFill/>
          <a:ln/>
        </p:spPr>
        <p:txBody>
          <a:bodyPr wrap="square" rtlCol="0" anchor="ctr"/>
          <a:lstStyle/>
          <a:p>
            <a:pPr marL="0" indent="0">
              <a:lnSpc>
                <a:spcPts val="1700"/>
              </a:lnSpc>
              <a:buNone/>
            </a:pPr>
            <a:r>
              <a:rPr lang="en-US" sz="1250" dirty="0">
                <a:solidFill>
                  <a:srgbClr val="3A4750"/>
                </a:solidFill>
                <a:latin typeface="Calibri" pitchFamily="34" charset="0"/>
                <a:ea typeface="Calibri" pitchFamily="34" charset="-122"/>
                <a:cs typeface="Calibri" pitchFamily="34" charset="-120"/>
              </a:rPr>
              <a:t>Dữ liệu sales có cấu trúc phân cấp: item → dept → category → cửa hàng → bang → tổng. M5 gộp thành 12 mức (42.840 chuỗi); dự báo riêng từng mức mà không đối chiếu thì tổng cấp thấp không khớp cấp cao.</a:t>
            </a:r>
            <a:endParaRPr lang="en-US" sz="1250" dirty="0"/>
          </a:p>
        </p:txBody>
      </p:sp>
      <p:sp>
        <p:nvSpPr>
          <p:cNvPr id="17" name="Text 13"/>
          <p:cNvSpPr/>
          <p:nvPr/>
        </p:nvSpPr>
        <p:spPr>
          <a:xfrm>
            <a:off x="3429000" y="5130800"/>
            <a:ext cx="7950200" cy="482600"/>
          </a:xfrm>
          <a:prstGeom prst="rect">
            <a:avLst/>
          </a:prstGeom>
          <a:noFill/>
          <a:ln/>
        </p:spPr>
        <p:txBody>
          <a:bodyPr wrap="square" rtlCol="0" anchor="ctr"/>
          <a:lstStyle/>
          <a:p>
            <a:pPr marL="0" indent="0">
              <a:lnSpc>
                <a:spcPts val="1500"/>
              </a:lnSpc>
              <a:buNone/>
            </a:pPr>
            <a:r>
              <a:rPr lang="en-US" sz="1150" i="1" dirty="0">
                <a:solidFill>
                  <a:srgbClr val="1C7293"/>
                </a:solidFill>
                <a:latin typeface="Calibri" pitchFamily="34" charset="0"/>
                <a:ea typeface="Calibri" pitchFamily="34" charset="-122"/>
                <a:cs typeface="Calibri" pitchFamily="34" charset="-120"/>
              </a:rPr>
              <a:t>→ Ngoài scope bắt buộc Module 03: chọn rõ 1 cấp dự báo chính (vd. store-item-day), nêu giới hạn trong discussion thay vì làm nhiều cấp gây phình phạm vi.</a:t>
            </a:r>
            <a:endParaRPr lang="en-US" sz="1150" dirty="0"/>
          </a:p>
        </p:txBody>
      </p:sp>
      <p:sp>
        <p:nvSpPr>
          <p:cNvPr id="18" name="Text 14"/>
          <p:cNvSpPr/>
          <p:nvPr/>
        </p:nvSpPr>
        <p:spPr>
          <a:xfrm>
            <a:off x="3429000" y="5664200"/>
            <a:ext cx="7950200" cy="27940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Forecasting: Principles and Practice (3rd ed) §11.3 — Hyndman &amp; Athanasopoulos</a:t>
            </a:r>
            <a:endParaRPr lang="en-US" sz="950" dirty="0"/>
          </a:p>
        </p:txBody>
      </p:sp>
      <p:sp>
        <p:nvSpPr>
          <p:cNvPr id="19" name="Text 1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08</a:t>
            </a:r>
            <a:endParaRPr lang="en-US" sz="1000" dirty="0"/>
          </a:p>
        </p:txBody>
      </p:sp>
      <p:sp>
        <p:nvSpPr>
          <p:cNvPr id="300" name="Ex300"/>
          <p:cNvSpPr/>
          <p:nvPr/>
        </p:nvSpPr>
        <p:spPr>
          <a:xfrm>
            <a:off x="3632200" y="1447800"/>
            <a:ext cx="2286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01" name="ExT301"/>
          <p:cNvSpPr txBox="1"/>
          <p:nvPr/>
        </p:nvSpPr>
        <p:spPr>
          <a:xfrm>
            <a:off x="3733800" y="1524000"/>
            <a:ext cx="2082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30.490 </a:t>
            </a:r>
            <a:r>
              <a:rPr lang="en-US" sz="1400" b="1" dirty="0" err="1">
                <a:solidFill>
                  <a:srgbClr val="21295C"/>
                </a:solidFill>
                <a:latin typeface="Calibri" pitchFamily="34" charset="0"/>
                <a:cs typeface="Calibri"/>
              </a:rPr>
              <a:t>chuỗi</a:t>
            </a:r>
            <a:r>
              <a:rPr lang="en-US" sz="1400" b="1" dirty="0">
                <a:solidFill>
                  <a:srgbClr val="21295C"/>
                </a:solidFill>
                <a:latin typeface="Calibri" pitchFamily="34" charset="0"/>
                <a:cs typeface="Calibri"/>
              </a:rPr>
              <a:t> </a:t>
            </a:r>
            <a:r>
              <a:rPr lang="en-US" sz="1400" b="1" dirty="0" err="1">
                <a:solidFill>
                  <a:srgbClr val="21295C"/>
                </a:solidFill>
                <a:latin typeface="Calibri" pitchFamily="34" charset="0"/>
                <a:cs typeface="Calibri"/>
              </a:rPr>
              <a:t>là</a:t>
            </a:r>
            <a:endParaRPr lang="en-US" sz="1400" b="1" dirty="0">
              <a:solidFill>
                <a:srgbClr val="21295C"/>
              </a:solidFill>
              <a:latin typeface="Calibri" pitchFamily="34" charset="0"/>
              <a:cs typeface="Calibri"/>
            </a:endParaRPr>
          </a:p>
        </p:txBody>
      </p:sp>
      <p:sp>
        <p:nvSpPr>
          <p:cNvPr id="302" name="ExT302"/>
          <p:cNvSpPr txBox="1"/>
          <p:nvPr/>
        </p:nvSpPr>
        <p:spPr>
          <a:xfrm>
            <a:off x="3733800" y="1752600"/>
            <a:ext cx="2082800" cy="228600"/>
          </a:xfrm>
          <a:prstGeom prst="rect">
            <a:avLst/>
          </a:prstGeom>
          <a:noFill/>
        </p:spPr>
        <p:txBody>
          <a:bodyPr wrap="square" lIns="0" tIns="0" rIns="0" bIns="0" anchor="t"/>
          <a:lstStyle/>
          <a:p>
            <a:pPr marL="0" indent="0" algn="ctr">
              <a:lnSpc>
                <a:spcPts val="1700"/>
              </a:lnSpc>
              <a:buNone/>
            </a:pPr>
            <a:r>
              <a:rPr lang="en-US" sz="1400" dirty="0">
                <a:solidFill>
                  <a:srgbClr val="5C6E79"/>
                </a:solidFill>
                <a:latin typeface="Calibri" pitchFamily="34" charset="0"/>
                <a:cs typeface="Calibri"/>
              </a:rPr>
              <a:t>item × store</a:t>
            </a:r>
          </a:p>
        </p:txBody>
      </p:sp>
      <p:sp>
        <p:nvSpPr>
          <p:cNvPr id="303" name="Ex303"/>
          <p:cNvSpPr/>
          <p:nvPr/>
        </p:nvSpPr>
        <p:spPr>
          <a:xfrm>
            <a:off x="6019800" y="1663700"/>
            <a:ext cx="203200" cy="152400"/>
          </a:xfrm>
          <a:prstGeom prst="rightArrow">
            <a:avLst/>
          </a:prstGeom>
          <a:solidFill>
            <a:srgbClr val="2F6480"/>
          </a:solidFill>
          <a:ln>
            <a:noFill/>
          </a:ln>
        </p:spPr>
        <p:txBody>
          <a:bodyPr/>
          <a:lstStyle/>
          <a:p>
            <a:endParaRPr lang="en-US"/>
          </a:p>
        </p:txBody>
      </p:sp>
      <p:sp>
        <p:nvSpPr>
          <p:cNvPr id="304" name="Ex304"/>
          <p:cNvSpPr/>
          <p:nvPr/>
        </p:nvSpPr>
        <p:spPr>
          <a:xfrm>
            <a:off x="6324600" y="1447800"/>
            <a:ext cx="2286000" cy="584200"/>
          </a:xfrm>
          <a:prstGeom prst="roundRect">
            <a:avLst>
              <a:gd name="adj" fmla="val 9000"/>
            </a:avLst>
          </a:prstGeom>
          <a:solidFill>
            <a:srgbClr val="F5F9FB"/>
          </a:solidFill>
          <a:ln w="12700">
            <a:solidFill>
              <a:srgbClr val="CFE1EA"/>
            </a:solidFill>
          </a:ln>
        </p:spPr>
        <p:txBody>
          <a:bodyPr/>
          <a:lstStyle/>
          <a:p>
            <a:endParaRPr lang="en-US"/>
          </a:p>
        </p:txBody>
      </p:sp>
      <p:sp>
        <p:nvSpPr>
          <p:cNvPr id="305" name="ExT305"/>
          <p:cNvSpPr txBox="1"/>
          <p:nvPr/>
        </p:nvSpPr>
        <p:spPr>
          <a:xfrm>
            <a:off x="6426200" y="1524000"/>
            <a:ext cx="2082800" cy="228600"/>
          </a:xfrm>
          <a:prstGeom prst="rect">
            <a:avLst/>
          </a:prstGeom>
          <a:noFill/>
        </p:spPr>
        <p:txBody>
          <a:bodyPr wrap="square" lIns="0" tIns="0" rIns="0" bIns="0" anchor="t"/>
          <a:lstStyle/>
          <a:p>
            <a:pPr marL="0" indent="0" algn="ctr">
              <a:lnSpc>
                <a:spcPts val="1700"/>
              </a:lnSpc>
              <a:buNone/>
            </a:pPr>
            <a:r>
              <a:rPr lang="en-US" sz="1400" b="1" dirty="0">
                <a:solidFill>
                  <a:srgbClr val="065A82"/>
                </a:solidFill>
                <a:latin typeface="Calibri" pitchFamily="34" charset="0"/>
                <a:cs typeface="Calibri"/>
              </a:rPr>
              <a:t>1 global LightGBM</a:t>
            </a:r>
          </a:p>
        </p:txBody>
      </p:sp>
      <p:sp>
        <p:nvSpPr>
          <p:cNvPr id="306" name="ExT306"/>
          <p:cNvSpPr txBox="1"/>
          <p:nvPr/>
        </p:nvSpPr>
        <p:spPr>
          <a:xfrm>
            <a:off x="6426200" y="1752600"/>
            <a:ext cx="2082800" cy="228600"/>
          </a:xfrm>
          <a:prstGeom prst="rect">
            <a:avLst/>
          </a:prstGeom>
          <a:noFill/>
        </p:spPr>
        <p:txBody>
          <a:bodyPr wrap="square" lIns="0" tIns="0" rIns="0" bIns="0" anchor="t"/>
          <a:lstStyle/>
          <a:p>
            <a:pPr marL="0" indent="0" algn="ctr">
              <a:lnSpc>
                <a:spcPts val="1700"/>
              </a:lnSpc>
              <a:buNone/>
            </a:pPr>
            <a:r>
              <a:rPr lang="en-US" sz="1400" dirty="0">
                <a:solidFill>
                  <a:srgbClr val="5C6E79"/>
                </a:solidFill>
                <a:latin typeface="Calibri" pitchFamily="34" charset="0"/>
                <a:cs typeface="Calibri"/>
              </a:rPr>
              <a:t>ID là categorical</a:t>
            </a:r>
          </a:p>
        </p:txBody>
      </p:sp>
      <p:sp>
        <p:nvSpPr>
          <p:cNvPr id="307" name="Ex307"/>
          <p:cNvSpPr/>
          <p:nvPr/>
        </p:nvSpPr>
        <p:spPr>
          <a:xfrm>
            <a:off x="8712200" y="1663700"/>
            <a:ext cx="203200" cy="152400"/>
          </a:xfrm>
          <a:prstGeom prst="rightArrow">
            <a:avLst/>
          </a:prstGeom>
          <a:solidFill>
            <a:srgbClr val="2F6480"/>
          </a:solidFill>
          <a:ln>
            <a:noFill/>
          </a:ln>
        </p:spPr>
        <p:txBody>
          <a:bodyPr/>
          <a:lstStyle/>
          <a:p>
            <a:endParaRPr lang="en-US"/>
          </a:p>
        </p:txBody>
      </p:sp>
      <p:sp>
        <p:nvSpPr>
          <p:cNvPr id="308" name="Ex308"/>
          <p:cNvSpPr/>
          <p:nvPr/>
        </p:nvSpPr>
        <p:spPr>
          <a:xfrm>
            <a:off x="9017000" y="1447800"/>
            <a:ext cx="2159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09" name="ExT309"/>
          <p:cNvSpPr txBox="1"/>
          <p:nvPr/>
        </p:nvSpPr>
        <p:spPr>
          <a:xfrm>
            <a:off x="9118600" y="1524000"/>
            <a:ext cx="1955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dự báo mọi chuỗi</a:t>
            </a:r>
          </a:p>
        </p:txBody>
      </p:sp>
      <p:sp>
        <p:nvSpPr>
          <p:cNvPr id="310" name="ExT310"/>
          <p:cNvSpPr txBox="1"/>
          <p:nvPr/>
        </p:nvSpPr>
        <p:spPr>
          <a:xfrm>
            <a:off x="9118600" y="1752600"/>
            <a:ext cx="1955800" cy="228600"/>
          </a:xfrm>
          <a:prstGeom prst="rect">
            <a:avLst/>
          </a:prstGeom>
          <a:noFill/>
        </p:spPr>
        <p:txBody>
          <a:bodyPr wrap="square" lIns="0" tIns="0" rIns="0" bIns="0" anchor="t"/>
          <a:lstStyle/>
          <a:p>
            <a:pPr marL="0" indent="0" algn="ctr">
              <a:lnSpc>
                <a:spcPts val="1700"/>
              </a:lnSpc>
              <a:buNone/>
            </a:pPr>
            <a:r>
              <a:rPr lang="en-US" sz="1400" dirty="0">
                <a:solidFill>
                  <a:srgbClr val="5C6E79"/>
                </a:solidFill>
                <a:latin typeface="Calibri" pitchFamily="34" charset="0"/>
                <a:cs typeface="Calibri"/>
              </a:rPr>
              <a:t>cross-learning</a:t>
            </a:r>
          </a:p>
        </p:txBody>
      </p:sp>
      <p:sp>
        <p:nvSpPr>
          <p:cNvPr id="311" name="Ex311"/>
          <p:cNvSpPr/>
          <p:nvPr/>
        </p:nvSpPr>
        <p:spPr>
          <a:xfrm>
            <a:off x="3632200" y="4470400"/>
            <a:ext cx="1397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12" name="ExT312"/>
          <p:cNvSpPr txBox="1"/>
          <p:nvPr/>
        </p:nvSpPr>
        <p:spPr>
          <a:xfrm>
            <a:off x="3733800" y="4546600"/>
            <a:ext cx="1193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Tổng</a:t>
            </a:r>
          </a:p>
        </p:txBody>
      </p:sp>
      <p:sp>
        <p:nvSpPr>
          <p:cNvPr id="313" name="ExT313"/>
          <p:cNvSpPr txBox="1"/>
          <p:nvPr/>
        </p:nvSpPr>
        <p:spPr>
          <a:xfrm>
            <a:off x="3733800" y="4775200"/>
            <a:ext cx="1193800" cy="228600"/>
          </a:xfrm>
          <a:prstGeom prst="rect">
            <a:avLst/>
          </a:prstGeom>
          <a:noFill/>
        </p:spPr>
        <p:txBody>
          <a:bodyPr wrap="square" lIns="0" tIns="0" rIns="0" bIns="0" anchor="t"/>
          <a:lstStyle/>
          <a:p>
            <a:pPr marL="0" indent="0" algn="ctr">
              <a:lnSpc>
                <a:spcPts val="1700"/>
              </a:lnSpc>
              <a:buNone/>
            </a:pPr>
            <a:r>
              <a:rPr lang="en-US" sz="1400" dirty="0">
                <a:solidFill>
                  <a:srgbClr val="1C7293"/>
                </a:solidFill>
                <a:latin typeface="Calibri" pitchFamily="34" charset="0"/>
                <a:cs typeface="Calibri"/>
              </a:rPr>
              <a:t>1 chuỗi</a:t>
            </a:r>
          </a:p>
        </p:txBody>
      </p:sp>
      <p:sp>
        <p:nvSpPr>
          <p:cNvPr id="314" name="Ex314"/>
          <p:cNvSpPr/>
          <p:nvPr/>
        </p:nvSpPr>
        <p:spPr>
          <a:xfrm>
            <a:off x="5041900" y="4699000"/>
            <a:ext cx="114300" cy="127000"/>
          </a:xfrm>
          <a:prstGeom prst="rightArrow">
            <a:avLst/>
          </a:prstGeom>
          <a:solidFill>
            <a:srgbClr val="2F6480"/>
          </a:solidFill>
          <a:ln>
            <a:noFill/>
          </a:ln>
        </p:spPr>
        <p:txBody>
          <a:bodyPr/>
          <a:lstStyle/>
          <a:p>
            <a:endParaRPr lang="en-US"/>
          </a:p>
        </p:txBody>
      </p:sp>
      <p:sp>
        <p:nvSpPr>
          <p:cNvPr id="315" name="Ex315"/>
          <p:cNvSpPr/>
          <p:nvPr/>
        </p:nvSpPr>
        <p:spPr>
          <a:xfrm>
            <a:off x="5168900" y="4470400"/>
            <a:ext cx="1397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16" name="ExT316"/>
          <p:cNvSpPr txBox="1"/>
          <p:nvPr/>
        </p:nvSpPr>
        <p:spPr>
          <a:xfrm>
            <a:off x="5270500" y="4546600"/>
            <a:ext cx="1193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Bang</a:t>
            </a:r>
          </a:p>
        </p:txBody>
      </p:sp>
      <p:sp>
        <p:nvSpPr>
          <p:cNvPr id="317" name="ExT317"/>
          <p:cNvSpPr txBox="1"/>
          <p:nvPr/>
        </p:nvSpPr>
        <p:spPr>
          <a:xfrm>
            <a:off x="5270500" y="4775200"/>
            <a:ext cx="1193800" cy="228600"/>
          </a:xfrm>
          <a:prstGeom prst="rect">
            <a:avLst/>
          </a:prstGeom>
          <a:noFill/>
        </p:spPr>
        <p:txBody>
          <a:bodyPr wrap="square" lIns="0" tIns="0" rIns="0" bIns="0" anchor="t"/>
          <a:lstStyle/>
          <a:p>
            <a:pPr marL="0" indent="0" algn="ctr">
              <a:lnSpc>
                <a:spcPts val="1700"/>
              </a:lnSpc>
              <a:buNone/>
            </a:pPr>
            <a:r>
              <a:rPr lang="en-US" sz="1400" dirty="0">
                <a:solidFill>
                  <a:srgbClr val="1C7293"/>
                </a:solidFill>
                <a:latin typeface="Calibri" pitchFamily="34" charset="0"/>
                <a:cs typeface="Calibri"/>
              </a:rPr>
              <a:t>3</a:t>
            </a:r>
          </a:p>
        </p:txBody>
      </p:sp>
      <p:sp>
        <p:nvSpPr>
          <p:cNvPr id="318" name="Ex318"/>
          <p:cNvSpPr/>
          <p:nvPr/>
        </p:nvSpPr>
        <p:spPr>
          <a:xfrm>
            <a:off x="6578600" y="4699000"/>
            <a:ext cx="114300" cy="127000"/>
          </a:xfrm>
          <a:prstGeom prst="rightArrow">
            <a:avLst/>
          </a:prstGeom>
          <a:solidFill>
            <a:srgbClr val="2F6480"/>
          </a:solidFill>
          <a:ln>
            <a:noFill/>
          </a:ln>
        </p:spPr>
        <p:txBody>
          <a:bodyPr/>
          <a:lstStyle/>
          <a:p>
            <a:endParaRPr lang="en-US"/>
          </a:p>
        </p:txBody>
      </p:sp>
      <p:sp>
        <p:nvSpPr>
          <p:cNvPr id="319" name="Ex319"/>
          <p:cNvSpPr/>
          <p:nvPr/>
        </p:nvSpPr>
        <p:spPr>
          <a:xfrm>
            <a:off x="6705600" y="4470400"/>
            <a:ext cx="1397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20" name="ExT320"/>
          <p:cNvSpPr txBox="1"/>
          <p:nvPr/>
        </p:nvSpPr>
        <p:spPr>
          <a:xfrm>
            <a:off x="6807200" y="4546600"/>
            <a:ext cx="1193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Cửa hàng</a:t>
            </a:r>
          </a:p>
        </p:txBody>
      </p:sp>
      <p:sp>
        <p:nvSpPr>
          <p:cNvPr id="321" name="ExT321"/>
          <p:cNvSpPr txBox="1"/>
          <p:nvPr/>
        </p:nvSpPr>
        <p:spPr>
          <a:xfrm>
            <a:off x="6807200" y="4775200"/>
            <a:ext cx="1193800" cy="228600"/>
          </a:xfrm>
          <a:prstGeom prst="rect">
            <a:avLst/>
          </a:prstGeom>
          <a:noFill/>
        </p:spPr>
        <p:txBody>
          <a:bodyPr wrap="square" lIns="0" tIns="0" rIns="0" bIns="0" anchor="t"/>
          <a:lstStyle/>
          <a:p>
            <a:pPr marL="0" indent="0" algn="ctr">
              <a:lnSpc>
                <a:spcPts val="1700"/>
              </a:lnSpc>
              <a:buNone/>
            </a:pPr>
            <a:r>
              <a:rPr lang="en-US" sz="1400" dirty="0">
                <a:solidFill>
                  <a:srgbClr val="1C7293"/>
                </a:solidFill>
                <a:latin typeface="Calibri" pitchFamily="34" charset="0"/>
                <a:cs typeface="Calibri"/>
              </a:rPr>
              <a:t>10</a:t>
            </a:r>
          </a:p>
        </p:txBody>
      </p:sp>
      <p:sp>
        <p:nvSpPr>
          <p:cNvPr id="322" name="Ex322"/>
          <p:cNvSpPr/>
          <p:nvPr/>
        </p:nvSpPr>
        <p:spPr>
          <a:xfrm>
            <a:off x="8115300" y="4699000"/>
            <a:ext cx="114300" cy="127000"/>
          </a:xfrm>
          <a:prstGeom prst="rightArrow">
            <a:avLst/>
          </a:prstGeom>
          <a:solidFill>
            <a:srgbClr val="2F6480"/>
          </a:solidFill>
          <a:ln>
            <a:noFill/>
          </a:ln>
        </p:spPr>
        <p:txBody>
          <a:bodyPr/>
          <a:lstStyle/>
          <a:p>
            <a:endParaRPr lang="en-US"/>
          </a:p>
        </p:txBody>
      </p:sp>
      <p:sp>
        <p:nvSpPr>
          <p:cNvPr id="323" name="Ex323"/>
          <p:cNvSpPr/>
          <p:nvPr/>
        </p:nvSpPr>
        <p:spPr>
          <a:xfrm>
            <a:off x="8242300" y="4470400"/>
            <a:ext cx="13970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24" name="ExT324"/>
          <p:cNvSpPr txBox="1"/>
          <p:nvPr/>
        </p:nvSpPr>
        <p:spPr>
          <a:xfrm>
            <a:off x="8343900" y="4546600"/>
            <a:ext cx="1193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Dept × store</a:t>
            </a:r>
          </a:p>
        </p:txBody>
      </p:sp>
      <p:sp>
        <p:nvSpPr>
          <p:cNvPr id="325" name="ExT325"/>
          <p:cNvSpPr txBox="1"/>
          <p:nvPr/>
        </p:nvSpPr>
        <p:spPr>
          <a:xfrm>
            <a:off x="8343900" y="4775200"/>
            <a:ext cx="1193800" cy="228600"/>
          </a:xfrm>
          <a:prstGeom prst="rect">
            <a:avLst/>
          </a:prstGeom>
          <a:noFill/>
        </p:spPr>
        <p:txBody>
          <a:bodyPr wrap="square" lIns="0" tIns="0" rIns="0" bIns="0" anchor="t"/>
          <a:lstStyle/>
          <a:p>
            <a:pPr marL="0" indent="0" algn="ctr">
              <a:lnSpc>
                <a:spcPts val="1700"/>
              </a:lnSpc>
              <a:buNone/>
            </a:pPr>
            <a:r>
              <a:rPr lang="en-US" sz="1400" dirty="0">
                <a:solidFill>
                  <a:srgbClr val="1C7293"/>
                </a:solidFill>
                <a:latin typeface="Calibri" pitchFamily="34" charset="0"/>
                <a:cs typeface="Calibri"/>
              </a:rPr>
              <a:t>70</a:t>
            </a:r>
          </a:p>
        </p:txBody>
      </p:sp>
      <p:sp>
        <p:nvSpPr>
          <p:cNvPr id="326" name="Ex326"/>
          <p:cNvSpPr/>
          <p:nvPr/>
        </p:nvSpPr>
        <p:spPr>
          <a:xfrm>
            <a:off x="9652000" y="4699000"/>
            <a:ext cx="114300" cy="127000"/>
          </a:xfrm>
          <a:prstGeom prst="rightArrow">
            <a:avLst/>
          </a:prstGeom>
          <a:solidFill>
            <a:srgbClr val="2F6480"/>
          </a:solidFill>
          <a:ln>
            <a:noFill/>
          </a:ln>
        </p:spPr>
        <p:txBody>
          <a:bodyPr/>
          <a:lstStyle/>
          <a:p>
            <a:endParaRPr lang="en-US"/>
          </a:p>
        </p:txBody>
      </p:sp>
      <p:sp>
        <p:nvSpPr>
          <p:cNvPr id="327" name="Ex327"/>
          <p:cNvSpPr/>
          <p:nvPr/>
        </p:nvSpPr>
        <p:spPr>
          <a:xfrm>
            <a:off x="9779000" y="4470400"/>
            <a:ext cx="1397000" cy="584200"/>
          </a:xfrm>
          <a:prstGeom prst="roundRect">
            <a:avLst>
              <a:gd name="adj" fmla="val 9000"/>
            </a:avLst>
          </a:prstGeom>
          <a:solidFill>
            <a:srgbClr val="F5F9FB"/>
          </a:solidFill>
          <a:ln w="12700">
            <a:solidFill>
              <a:srgbClr val="CFE1EA"/>
            </a:solidFill>
          </a:ln>
        </p:spPr>
        <p:txBody>
          <a:bodyPr/>
          <a:lstStyle/>
          <a:p>
            <a:endParaRPr lang="en-US"/>
          </a:p>
        </p:txBody>
      </p:sp>
      <p:sp>
        <p:nvSpPr>
          <p:cNvPr id="328" name="ExT328"/>
          <p:cNvSpPr txBox="1"/>
          <p:nvPr/>
        </p:nvSpPr>
        <p:spPr>
          <a:xfrm>
            <a:off x="9880600" y="4546600"/>
            <a:ext cx="11938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Item × store</a:t>
            </a:r>
          </a:p>
        </p:txBody>
      </p:sp>
      <p:sp>
        <p:nvSpPr>
          <p:cNvPr id="329" name="ExT329"/>
          <p:cNvSpPr txBox="1"/>
          <p:nvPr/>
        </p:nvSpPr>
        <p:spPr>
          <a:xfrm>
            <a:off x="9880600" y="4775200"/>
            <a:ext cx="1193800" cy="228600"/>
          </a:xfrm>
          <a:prstGeom prst="rect">
            <a:avLst/>
          </a:prstGeom>
          <a:noFill/>
        </p:spPr>
        <p:txBody>
          <a:bodyPr wrap="square" lIns="0" tIns="0" rIns="0" bIns="0" anchor="t"/>
          <a:lstStyle/>
          <a:p>
            <a:pPr marL="0" indent="0" algn="ctr">
              <a:lnSpc>
                <a:spcPts val="1700"/>
              </a:lnSpc>
              <a:buNone/>
            </a:pPr>
            <a:r>
              <a:rPr lang="en-US" sz="1400" dirty="0">
                <a:solidFill>
                  <a:srgbClr val="065A82"/>
                </a:solidFill>
                <a:latin typeface="Calibri" pitchFamily="34" charset="0"/>
                <a:cs typeface="Calibri"/>
              </a:rPr>
              <a:t>30.490</a:t>
            </a:r>
          </a:p>
        </p:txBody>
      </p:sp>
    </p:spTree>
    <p:extLst>
      <p:ext uri="{BB962C8B-B14F-4D97-AF65-F5344CB8AC3E}">
        <p14:creationId xmlns:p14="http://schemas.microsoft.com/office/powerpoint/2010/main" val="3723551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Text 1"/>
          <p:cNvSpPr/>
          <p:nvPr/>
        </p:nvSpPr>
        <p:spPr>
          <a:xfrm>
            <a:off x="457200" y="502920"/>
            <a:ext cx="2103120" cy="1188720"/>
          </a:xfrm>
          <a:prstGeom prst="rect">
            <a:avLst/>
          </a:prstGeom>
          <a:noFill/>
          <a:ln/>
        </p:spPr>
        <p:txBody>
          <a:bodyPr wrap="square" rtlCol="0" anchor="ctr"/>
          <a:lstStyle/>
          <a:p>
            <a:pPr marL="0" indent="0">
              <a:buNone/>
            </a:pPr>
            <a:r>
              <a:rPr lang="en-US" sz="6000" b="1" dirty="0">
                <a:solidFill>
                  <a:srgbClr val="5FB8DE"/>
                </a:solidFill>
                <a:latin typeface="Cambria" pitchFamily="34" charset="0"/>
                <a:ea typeface="Cambria" pitchFamily="34" charset="-122"/>
                <a:cs typeface="Cambria" pitchFamily="34" charset="-120"/>
              </a:rPr>
              <a:t>07</a:t>
            </a:r>
            <a:endParaRPr lang="en-US" sz="6000" dirty="0"/>
          </a:p>
        </p:txBody>
      </p:sp>
      <p:sp>
        <p:nvSpPr>
          <p:cNvPr id="4" name="Shape 2"/>
          <p:cNvSpPr/>
          <p:nvPr/>
        </p:nvSpPr>
        <p:spPr>
          <a:xfrm>
            <a:off x="457200" y="1737360"/>
            <a:ext cx="868680" cy="868680"/>
          </a:xfrm>
          <a:prstGeom prst="ellipse">
            <a:avLst/>
          </a:prstGeom>
          <a:solidFill>
            <a:srgbClr val="065A82"/>
          </a:solidFill>
          <a:ln/>
        </p:spPr>
        <p:txBody>
          <a:bodyPr/>
          <a:lstStyle/>
          <a:p>
            <a:endParaRPr lang="en-US"/>
          </a:p>
        </p:txBody>
      </p:sp>
      <p:pic>
        <p:nvPicPr>
          <p:cNvPr id="5" name="Image 0" descr="/tmp/deck/icon_clock_white.png"/>
          <p:cNvPicPr>
            <a:picLocks noChangeAspect="1"/>
          </p:cNvPicPr>
          <p:nvPr/>
        </p:nvPicPr>
        <p:blipFill>
          <a:blip r:embed="rId3"/>
          <a:stretch>
            <a:fillRect/>
          </a:stretch>
        </p:blipFill>
        <p:spPr>
          <a:xfrm>
            <a:off x="570128" y="1850288"/>
            <a:ext cx="642823" cy="642823"/>
          </a:xfrm>
          <a:prstGeom prst="rect">
            <a:avLst/>
          </a:prstGeom>
        </p:spPr>
      </p:pic>
      <p:sp>
        <p:nvSpPr>
          <p:cNvPr id="6" name="Text 3"/>
          <p:cNvSpPr/>
          <p:nvPr/>
        </p:nvSpPr>
        <p:spPr>
          <a:xfrm>
            <a:off x="457200" y="2834640"/>
            <a:ext cx="2286000" cy="1371600"/>
          </a:xfrm>
          <a:prstGeom prst="rect">
            <a:avLst/>
          </a:prstGeom>
          <a:noFill/>
          <a:ln/>
        </p:spPr>
        <p:txBody>
          <a:bodyPr wrap="square"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Forecast</a:t>
            </a:r>
            <a:endParaRPr lang="en-US" sz="2000" dirty="0"/>
          </a:p>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Horizon</a:t>
            </a:r>
            <a:endParaRPr lang="en-US" sz="2000" dirty="0"/>
          </a:p>
        </p:txBody>
      </p:sp>
      <p:sp>
        <p:nvSpPr>
          <p:cNvPr id="7" name="Text 4"/>
          <p:cNvSpPr/>
          <p:nvPr/>
        </p:nvSpPr>
        <p:spPr>
          <a:xfrm>
            <a:off x="457200" y="4160520"/>
            <a:ext cx="2286000" cy="822960"/>
          </a:xfrm>
          <a:prstGeom prst="rect">
            <a:avLst/>
          </a:prstGeom>
          <a:noFill/>
          <a:ln/>
        </p:spPr>
        <p:txBody>
          <a:bodyPr wrap="square" rtlCol="0" anchor="ctr"/>
          <a:lstStyle/>
          <a:p>
            <a:pPr marL="0" indent="0">
              <a:buNone/>
            </a:pPr>
            <a:r>
              <a:rPr lang="en-US" sz="1150" i="1" dirty="0">
                <a:solidFill>
                  <a:srgbClr val="AFC6DE"/>
                </a:solidFill>
                <a:latin typeface="Calibri" pitchFamily="34" charset="0"/>
                <a:ea typeface="Calibri" pitchFamily="34" charset="-122"/>
                <a:cs typeface="Calibri" pitchFamily="34" charset="-120"/>
              </a:rPr>
              <a:t>Suy giảm độ chính xác theo thời gian</a:t>
            </a:r>
            <a:endParaRPr lang="en-US" sz="1150" dirty="0"/>
          </a:p>
        </p:txBody>
      </p:sp>
      <p:sp>
        <p:nvSpPr>
          <p:cNvPr id="8" name="Text 5"/>
          <p:cNvSpPr/>
          <p:nvPr/>
        </p:nvSpPr>
        <p:spPr>
          <a:xfrm>
            <a:off x="3429000" y="5080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VẤN ĐỀ LÀ GÌ</a:t>
            </a:r>
            <a:endParaRPr lang="en-US" sz="1200" dirty="0"/>
          </a:p>
        </p:txBody>
      </p:sp>
      <p:sp>
        <p:nvSpPr>
          <p:cNvPr id="9" name="Text 6"/>
          <p:cNvSpPr/>
          <p:nvPr/>
        </p:nvSpPr>
        <p:spPr>
          <a:xfrm>
            <a:off x="3429000" y="7874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"Dự báo bao xa" (1 ngày hay 28 ngày tới) thay đổi hoàn toàn độ khó bài toán và cách tạo feature: càng xa thì lag gần nhất càng không dùng được.</a:t>
            </a:r>
            <a:endParaRPr lang="en-US" sz="1350" dirty="0"/>
          </a:p>
        </p:txBody>
      </p:sp>
      <p:sp>
        <p:nvSpPr>
          <p:cNvPr id="10" name="Text 7"/>
          <p:cNvSpPr/>
          <p:nvPr/>
        </p:nvSpPr>
        <p:spPr>
          <a:xfrm>
            <a:off x="3429000" y="3556000"/>
            <a:ext cx="7772400" cy="27940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TẠI SAO QUAN TRỌNG</a:t>
            </a:r>
            <a:endParaRPr lang="en-US" sz="1200" dirty="0"/>
          </a:p>
        </p:txBody>
      </p:sp>
      <p:sp>
        <p:nvSpPr>
          <p:cNvPr id="11" name="Text 8"/>
          <p:cNvSpPr/>
          <p:nvPr/>
        </p:nvSpPr>
        <p:spPr>
          <a:xfrm>
            <a:off x="3429000" y="3835400"/>
            <a:ext cx="7950200" cy="558800"/>
          </a:xfrm>
          <a:prstGeom prst="rect">
            <a:avLst/>
          </a:prstGeom>
          <a:noFill/>
          <a:ln/>
        </p:spPr>
        <p:txBody>
          <a:bodyPr wrap="square" rtlCol="0" anchor="ctr"/>
          <a:lstStyle/>
          <a:p>
            <a:pPr marL="0" indent="0">
              <a:lnSpc>
                <a:spcPts val="1900"/>
              </a:lnSpc>
              <a:buNone/>
            </a:pPr>
            <a:r>
              <a:rPr lang="en-US" sz="1350" dirty="0">
                <a:solidFill>
                  <a:srgbClr val="3A4750"/>
                </a:solidFill>
                <a:latin typeface="Calibri" pitchFamily="34" charset="0"/>
                <a:ea typeface="Calibri" pitchFamily="34" charset="-122"/>
                <a:cs typeface="Calibri" pitchFamily="34" charset="-120"/>
              </a:rPr>
              <a:t>Đây là quyết định thiết kế phải chốt TRƯỚC feature engineering — recursive và direct có ưu nhược điểm khác nhau và ảnh hưởng toàn bộ cấu trúc lag feature.</a:t>
            </a:r>
            <a:endParaRPr lang="en-US" sz="1350" dirty="0"/>
          </a:p>
        </p:txBody>
      </p:sp>
      <p:sp>
        <p:nvSpPr>
          <p:cNvPr id="12" name="Shape 9"/>
          <p:cNvSpPr/>
          <p:nvPr/>
        </p:nvSpPr>
        <p:spPr>
          <a:xfrm>
            <a:off x="3429000" y="4526280"/>
            <a:ext cx="7955280" cy="1417320"/>
          </a:xfrm>
          <a:prstGeom prst="roundRect">
            <a:avLst>
              <a:gd name="adj" fmla="val 5161"/>
            </a:avLst>
          </a:prstGeom>
          <a:solidFill>
            <a:srgbClr val="F5F9FB"/>
          </a:solidFill>
          <a:ln w="12700">
            <a:solidFill>
              <a:srgbClr val="E1E8EC"/>
            </a:solidFill>
            <a:prstDash val="solid"/>
          </a:ln>
        </p:spPr>
        <p:txBody>
          <a:bodyPr/>
          <a:lstStyle/>
          <a:p>
            <a:endParaRPr lang="en-US"/>
          </a:p>
        </p:txBody>
      </p:sp>
      <p:sp>
        <p:nvSpPr>
          <p:cNvPr id="13" name="Shape 10"/>
          <p:cNvSpPr/>
          <p:nvPr/>
        </p:nvSpPr>
        <p:spPr>
          <a:xfrm>
            <a:off x="3630168" y="4709160"/>
            <a:ext cx="457200" cy="457200"/>
          </a:xfrm>
          <a:prstGeom prst="ellipse">
            <a:avLst/>
          </a:prstGeom>
          <a:solidFill>
            <a:srgbClr val="1C7293"/>
          </a:solidFill>
          <a:ln/>
        </p:spPr>
        <p:txBody>
          <a:bodyPr/>
          <a:lstStyle/>
          <a:p>
            <a:endParaRPr lang="en-US"/>
          </a:p>
        </p:txBody>
      </p:sp>
      <p:pic>
        <p:nvPicPr>
          <p:cNvPr id="14" name="Image 1" descr="/tmp/deck/icon_magic_white.png"/>
          <p:cNvPicPr>
            <a:picLocks noChangeAspect="1"/>
          </p:cNvPicPr>
          <p:nvPr/>
        </p:nvPicPr>
        <p:blipFill>
          <a:blip r:embed="rId4"/>
          <a:stretch>
            <a:fillRect/>
          </a:stretch>
        </p:blipFill>
        <p:spPr>
          <a:xfrm>
            <a:off x="3689604" y="4768596"/>
            <a:ext cx="338328" cy="338328"/>
          </a:xfrm>
          <a:prstGeom prst="rect">
            <a:avLst/>
          </a:prstGeom>
        </p:spPr>
      </p:pic>
      <p:sp>
        <p:nvSpPr>
          <p:cNvPr id="15" name="Text 11"/>
          <p:cNvSpPr/>
          <p:nvPr/>
        </p:nvSpPr>
        <p:spPr>
          <a:xfrm>
            <a:off x="4251960" y="4690872"/>
            <a:ext cx="548640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Hướng xử lý (ý tưởng)</a:t>
            </a:r>
            <a:endParaRPr lang="en-US" sz="1250" dirty="0"/>
          </a:p>
        </p:txBody>
      </p:sp>
      <p:sp>
        <p:nvSpPr>
          <p:cNvPr id="16" name="Text 12"/>
          <p:cNvSpPr/>
          <p:nvPr/>
        </p:nvSpPr>
        <p:spPr>
          <a:xfrm>
            <a:off x="4251960" y="5029200"/>
            <a:ext cx="6766560" cy="868680"/>
          </a:xfrm>
          <a:prstGeom prst="rect">
            <a:avLst/>
          </a:prstGeom>
          <a:noFill/>
          <a:ln/>
        </p:spPr>
        <p:txBody>
          <a:bodyPr wrap="square" rtlCol="0" anchor="ctr"/>
          <a:lstStyle/>
          <a:p>
            <a:pPr marL="0" indent="0">
              <a:lnSpc>
                <a:spcPts val="1500"/>
              </a:lnSpc>
              <a:buNone/>
            </a:pPr>
            <a:r>
              <a:rPr lang="en-US" sz="1150" dirty="0">
                <a:solidFill>
                  <a:srgbClr val="3A4750"/>
                </a:solidFill>
                <a:latin typeface="Calibri" pitchFamily="34" charset="0"/>
                <a:ea typeface="Calibri" pitchFamily="34" charset="-122"/>
                <a:cs typeface="Calibri" pitchFamily="34" charset="-120"/>
              </a:rPr>
              <a:t>Chốt rõ ngay từ đầu: horizon bao nhiêu ngày (vd. 7 hoặc 28 ngày, chuẩn M5), chọn 1 trong 2 chiến lược và giữ nhất quán xuyên suốt pipeline.</a:t>
            </a:r>
            <a:endParaRPr lang="en-US" sz="1150" dirty="0"/>
          </a:p>
        </p:txBody>
      </p:sp>
      <p:sp>
        <p:nvSpPr>
          <p:cNvPr id="17" name="Text 13"/>
          <p:cNvSpPr/>
          <p:nvPr/>
        </p:nvSpPr>
        <p:spPr>
          <a:xfrm>
            <a:off x="3429000" y="6172200"/>
            <a:ext cx="7955280" cy="320040"/>
          </a:xfrm>
          <a:prstGeom prst="rect">
            <a:avLst/>
          </a:prstGeom>
          <a:noFill/>
          <a:ln/>
        </p:spPr>
        <p:txBody>
          <a:bodyPr wrap="square" rtlCol="0" anchor="ctr"/>
          <a:lstStyle/>
          <a:p>
            <a:pPr marL="0" indent="0">
              <a:buNone/>
            </a:pPr>
            <a:r>
              <a:rPr lang="en-US" sz="950" i="1" dirty="0">
                <a:solidFill>
                  <a:srgbClr val="7B8B95"/>
                </a:solidFill>
                <a:latin typeface="Calibri" pitchFamily="34" charset="0"/>
                <a:ea typeface="Calibri" pitchFamily="34" charset="-122"/>
                <a:cs typeface="Calibri" pitchFamily="34" charset="-120"/>
              </a:rPr>
              <a:t>Nguồn: tài liệu Gợi Ý Chọn Đề Tài Module 03 — hướng "Multi-Horizon Time-series Forecasting"</a:t>
            </a:r>
            <a:endParaRPr lang="en-US" sz="950" dirty="0"/>
          </a:p>
        </p:txBody>
      </p:sp>
      <p:sp>
        <p:nvSpPr>
          <p:cNvPr id="18"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09</a:t>
            </a:r>
            <a:endParaRPr lang="en-US" sz="1000" dirty="0"/>
          </a:p>
        </p:txBody>
      </p:sp>
      <p:sp>
        <p:nvSpPr>
          <p:cNvPr id="300" name="ExT300"/>
          <p:cNvSpPr txBox="1"/>
          <p:nvPr/>
        </p:nvSpPr>
        <p:spPr>
          <a:xfrm>
            <a:off x="3429000" y="1422400"/>
            <a:ext cx="7772400" cy="254000"/>
          </a:xfrm>
          <a:prstGeom prst="rect">
            <a:avLst/>
          </a:prstGeom>
          <a:noFill/>
        </p:spPr>
        <p:txBody>
          <a:bodyPr wrap="square" lIns="0" tIns="0" rIns="0" bIns="0" anchor="t"/>
          <a:lstStyle/>
          <a:p>
            <a:pPr marL="0" indent="0" algn="l">
              <a:lnSpc>
                <a:spcPts val="1500"/>
              </a:lnSpc>
              <a:buNone/>
            </a:pPr>
            <a:r>
              <a:rPr lang="en-US" sz="1200" b="1" spc="150" dirty="0">
                <a:solidFill>
                  <a:srgbClr val="065A82"/>
                </a:solidFill>
                <a:latin typeface="Calibri" pitchFamily="34" charset="0"/>
                <a:cs typeface="Calibri"/>
              </a:rPr>
              <a:t>VÍ DỤ TRÊN M5</a:t>
            </a:r>
          </a:p>
        </p:txBody>
      </p:sp>
      <p:sp>
        <p:nvSpPr>
          <p:cNvPr id="301" name="Ex301"/>
          <p:cNvSpPr/>
          <p:nvPr/>
        </p:nvSpPr>
        <p:spPr>
          <a:xfrm>
            <a:off x="3429000" y="1701800"/>
            <a:ext cx="7950200" cy="1727200"/>
          </a:xfrm>
          <a:prstGeom prst="roundRect">
            <a:avLst>
              <a:gd name="adj" fmla="val 6000"/>
            </a:avLst>
          </a:prstGeom>
          <a:solidFill>
            <a:srgbClr val="F5F9FB"/>
          </a:solidFill>
          <a:ln w="12700">
            <a:solidFill>
              <a:srgbClr val="CFE1EA"/>
            </a:solidFill>
          </a:ln>
        </p:spPr>
        <p:txBody>
          <a:bodyPr/>
          <a:lstStyle/>
          <a:p>
            <a:endParaRPr lang="en-US"/>
          </a:p>
        </p:txBody>
      </p:sp>
      <p:sp>
        <p:nvSpPr>
          <p:cNvPr id="302" name="ExT302"/>
          <p:cNvSpPr txBox="1"/>
          <p:nvPr/>
        </p:nvSpPr>
        <p:spPr>
          <a:xfrm>
            <a:off x="3632200" y="1828800"/>
            <a:ext cx="7543800" cy="2540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libri" pitchFamily="34" charset="0"/>
                <a:cs typeface="Calibri"/>
              </a:rPr>
              <a:t>Horizon chuẩn M5: 28 ngày · dự báo d_1914 → d_1941</a:t>
            </a:r>
          </a:p>
        </p:txBody>
      </p:sp>
      <p:sp>
        <p:nvSpPr>
          <p:cNvPr id="303" name="Ex303"/>
          <p:cNvSpPr/>
          <p:nvPr/>
        </p:nvSpPr>
        <p:spPr>
          <a:xfrm>
            <a:off x="3632200" y="2184400"/>
            <a:ext cx="241300" cy="203200"/>
          </a:xfrm>
          <a:prstGeom prst="roundRect">
            <a:avLst>
              <a:gd name="adj" fmla="val 12000"/>
            </a:avLst>
          </a:prstGeom>
          <a:solidFill>
            <a:srgbClr val="1C7293"/>
          </a:solidFill>
          <a:ln>
            <a:noFill/>
          </a:ln>
        </p:spPr>
        <p:txBody>
          <a:bodyPr/>
          <a:lstStyle/>
          <a:p>
            <a:endParaRPr lang="en-US"/>
          </a:p>
        </p:txBody>
      </p:sp>
      <p:sp>
        <p:nvSpPr>
          <p:cNvPr id="304" name="Ex304"/>
          <p:cNvSpPr/>
          <p:nvPr/>
        </p:nvSpPr>
        <p:spPr>
          <a:xfrm>
            <a:off x="3902663" y="2184400"/>
            <a:ext cx="241300" cy="203200"/>
          </a:xfrm>
          <a:prstGeom prst="roundRect">
            <a:avLst>
              <a:gd name="adj" fmla="val 12000"/>
            </a:avLst>
          </a:prstGeom>
          <a:solidFill>
            <a:srgbClr val="E1E6EA"/>
          </a:solidFill>
          <a:ln>
            <a:noFill/>
          </a:ln>
        </p:spPr>
        <p:txBody>
          <a:bodyPr/>
          <a:lstStyle/>
          <a:p>
            <a:endParaRPr lang="en-US"/>
          </a:p>
        </p:txBody>
      </p:sp>
      <p:sp>
        <p:nvSpPr>
          <p:cNvPr id="305" name="Ex305"/>
          <p:cNvSpPr/>
          <p:nvPr/>
        </p:nvSpPr>
        <p:spPr>
          <a:xfrm>
            <a:off x="4173126" y="2184400"/>
            <a:ext cx="241300" cy="203200"/>
          </a:xfrm>
          <a:prstGeom prst="roundRect">
            <a:avLst>
              <a:gd name="adj" fmla="val 12000"/>
            </a:avLst>
          </a:prstGeom>
          <a:solidFill>
            <a:srgbClr val="E1E6EA"/>
          </a:solidFill>
          <a:ln>
            <a:noFill/>
          </a:ln>
        </p:spPr>
        <p:txBody>
          <a:bodyPr/>
          <a:lstStyle/>
          <a:p>
            <a:endParaRPr lang="en-US"/>
          </a:p>
        </p:txBody>
      </p:sp>
      <p:sp>
        <p:nvSpPr>
          <p:cNvPr id="306" name="Ex306"/>
          <p:cNvSpPr/>
          <p:nvPr/>
        </p:nvSpPr>
        <p:spPr>
          <a:xfrm>
            <a:off x="4443589" y="2184400"/>
            <a:ext cx="241300" cy="203200"/>
          </a:xfrm>
          <a:prstGeom prst="roundRect">
            <a:avLst>
              <a:gd name="adj" fmla="val 12000"/>
            </a:avLst>
          </a:prstGeom>
          <a:solidFill>
            <a:srgbClr val="E1E6EA"/>
          </a:solidFill>
          <a:ln>
            <a:noFill/>
          </a:ln>
        </p:spPr>
        <p:txBody>
          <a:bodyPr/>
          <a:lstStyle/>
          <a:p>
            <a:endParaRPr lang="en-US"/>
          </a:p>
        </p:txBody>
      </p:sp>
      <p:sp>
        <p:nvSpPr>
          <p:cNvPr id="307" name="Ex307"/>
          <p:cNvSpPr/>
          <p:nvPr/>
        </p:nvSpPr>
        <p:spPr>
          <a:xfrm>
            <a:off x="4714052" y="2184400"/>
            <a:ext cx="241300" cy="203200"/>
          </a:xfrm>
          <a:prstGeom prst="roundRect">
            <a:avLst>
              <a:gd name="adj" fmla="val 12000"/>
            </a:avLst>
          </a:prstGeom>
          <a:solidFill>
            <a:srgbClr val="E1E6EA"/>
          </a:solidFill>
          <a:ln>
            <a:noFill/>
          </a:ln>
        </p:spPr>
        <p:txBody>
          <a:bodyPr/>
          <a:lstStyle/>
          <a:p>
            <a:endParaRPr lang="en-US"/>
          </a:p>
        </p:txBody>
      </p:sp>
      <p:sp>
        <p:nvSpPr>
          <p:cNvPr id="308" name="Ex308"/>
          <p:cNvSpPr/>
          <p:nvPr/>
        </p:nvSpPr>
        <p:spPr>
          <a:xfrm>
            <a:off x="4984515" y="2184400"/>
            <a:ext cx="241300" cy="203200"/>
          </a:xfrm>
          <a:prstGeom prst="roundRect">
            <a:avLst>
              <a:gd name="adj" fmla="val 12000"/>
            </a:avLst>
          </a:prstGeom>
          <a:solidFill>
            <a:srgbClr val="E1E6EA"/>
          </a:solidFill>
          <a:ln>
            <a:noFill/>
          </a:ln>
        </p:spPr>
        <p:txBody>
          <a:bodyPr/>
          <a:lstStyle/>
          <a:p>
            <a:endParaRPr lang="en-US"/>
          </a:p>
        </p:txBody>
      </p:sp>
      <p:sp>
        <p:nvSpPr>
          <p:cNvPr id="309" name="Ex309"/>
          <p:cNvSpPr/>
          <p:nvPr/>
        </p:nvSpPr>
        <p:spPr>
          <a:xfrm>
            <a:off x="5254978" y="2184400"/>
            <a:ext cx="241300" cy="203200"/>
          </a:xfrm>
          <a:prstGeom prst="roundRect">
            <a:avLst>
              <a:gd name="adj" fmla="val 12000"/>
            </a:avLst>
          </a:prstGeom>
          <a:solidFill>
            <a:srgbClr val="E1E6EA"/>
          </a:solidFill>
          <a:ln>
            <a:noFill/>
          </a:ln>
        </p:spPr>
        <p:txBody>
          <a:bodyPr/>
          <a:lstStyle/>
          <a:p>
            <a:endParaRPr lang="en-US"/>
          </a:p>
        </p:txBody>
      </p:sp>
      <p:sp>
        <p:nvSpPr>
          <p:cNvPr id="310" name="Ex310"/>
          <p:cNvSpPr/>
          <p:nvPr/>
        </p:nvSpPr>
        <p:spPr>
          <a:xfrm>
            <a:off x="5525441" y="2184400"/>
            <a:ext cx="241300" cy="203200"/>
          </a:xfrm>
          <a:prstGeom prst="roundRect">
            <a:avLst>
              <a:gd name="adj" fmla="val 12000"/>
            </a:avLst>
          </a:prstGeom>
          <a:solidFill>
            <a:srgbClr val="E1E6EA"/>
          </a:solidFill>
          <a:ln>
            <a:noFill/>
          </a:ln>
        </p:spPr>
        <p:txBody>
          <a:bodyPr/>
          <a:lstStyle/>
          <a:p>
            <a:endParaRPr lang="en-US"/>
          </a:p>
        </p:txBody>
      </p:sp>
      <p:sp>
        <p:nvSpPr>
          <p:cNvPr id="311" name="Ex311"/>
          <p:cNvSpPr/>
          <p:nvPr/>
        </p:nvSpPr>
        <p:spPr>
          <a:xfrm>
            <a:off x="5795904" y="2184400"/>
            <a:ext cx="241300" cy="203200"/>
          </a:xfrm>
          <a:prstGeom prst="roundRect">
            <a:avLst>
              <a:gd name="adj" fmla="val 12000"/>
            </a:avLst>
          </a:prstGeom>
          <a:solidFill>
            <a:srgbClr val="E1E6EA"/>
          </a:solidFill>
          <a:ln>
            <a:noFill/>
          </a:ln>
        </p:spPr>
        <p:txBody>
          <a:bodyPr/>
          <a:lstStyle/>
          <a:p>
            <a:endParaRPr lang="en-US"/>
          </a:p>
        </p:txBody>
      </p:sp>
      <p:sp>
        <p:nvSpPr>
          <p:cNvPr id="312" name="Ex312"/>
          <p:cNvSpPr/>
          <p:nvPr/>
        </p:nvSpPr>
        <p:spPr>
          <a:xfrm>
            <a:off x="6066367" y="2184400"/>
            <a:ext cx="241300" cy="203200"/>
          </a:xfrm>
          <a:prstGeom prst="roundRect">
            <a:avLst>
              <a:gd name="adj" fmla="val 12000"/>
            </a:avLst>
          </a:prstGeom>
          <a:solidFill>
            <a:srgbClr val="E1E6EA"/>
          </a:solidFill>
          <a:ln>
            <a:noFill/>
          </a:ln>
        </p:spPr>
        <p:txBody>
          <a:bodyPr/>
          <a:lstStyle/>
          <a:p>
            <a:endParaRPr lang="en-US"/>
          </a:p>
        </p:txBody>
      </p:sp>
      <p:sp>
        <p:nvSpPr>
          <p:cNvPr id="313" name="Ex313"/>
          <p:cNvSpPr/>
          <p:nvPr/>
        </p:nvSpPr>
        <p:spPr>
          <a:xfrm>
            <a:off x="6336830" y="2184400"/>
            <a:ext cx="241300" cy="203200"/>
          </a:xfrm>
          <a:prstGeom prst="roundRect">
            <a:avLst>
              <a:gd name="adj" fmla="val 12000"/>
            </a:avLst>
          </a:prstGeom>
          <a:solidFill>
            <a:srgbClr val="E1E6EA"/>
          </a:solidFill>
          <a:ln>
            <a:noFill/>
          </a:ln>
        </p:spPr>
        <p:txBody>
          <a:bodyPr/>
          <a:lstStyle/>
          <a:p>
            <a:endParaRPr lang="en-US"/>
          </a:p>
        </p:txBody>
      </p:sp>
      <p:sp>
        <p:nvSpPr>
          <p:cNvPr id="314" name="Ex314"/>
          <p:cNvSpPr/>
          <p:nvPr/>
        </p:nvSpPr>
        <p:spPr>
          <a:xfrm>
            <a:off x="6607293" y="2184400"/>
            <a:ext cx="241300" cy="203200"/>
          </a:xfrm>
          <a:prstGeom prst="roundRect">
            <a:avLst>
              <a:gd name="adj" fmla="val 12000"/>
            </a:avLst>
          </a:prstGeom>
          <a:solidFill>
            <a:srgbClr val="E1E6EA"/>
          </a:solidFill>
          <a:ln>
            <a:noFill/>
          </a:ln>
        </p:spPr>
        <p:txBody>
          <a:bodyPr/>
          <a:lstStyle/>
          <a:p>
            <a:endParaRPr lang="en-US"/>
          </a:p>
        </p:txBody>
      </p:sp>
      <p:sp>
        <p:nvSpPr>
          <p:cNvPr id="315" name="Ex315"/>
          <p:cNvSpPr/>
          <p:nvPr/>
        </p:nvSpPr>
        <p:spPr>
          <a:xfrm>
            <a:off x="6877756" y="2184400"/>
            <a:ext cx="241300" cy="203200"/>
          </a:xfrm>
          <a:prstGeom prst="roundRect">
            <a:avLst>
              <a:gd name="adj" fmla="val 12000"/>
            </a:avLst>
          </a:prstGeom>
          <a:solidFill>
            <a:srgbClr val="E1E6EA"/>
          </a:solidFill>
          <a:ln>
            <a:noFill/>
          </a:ln>
        </p:spPr>
        <p:txBody>
          <a:bodyPr/>
          <a:lstStyle/>
          <a:p>
            <a:endParaRPr lang="en-US"/>
          </a:p>
        </p:txBody>
      </p:sp>
      <p:sp>
        <p:nvSpPr>
          <p:cNvPr id="316" name="Ex316"/>
          <p:cNvSpPr/>
          <p:nvPr/>
        </p:nvSpPr>
        <p:spPr>
          <a:xfrm>
            <a:off x="7148219" y="2184400"/>
            <a:ext cx="241300" cy="203200"/>
          </a:xfrm>
          <a:prstGeom prst="roundRect">
            <a:avLst>
              <a:gd name="adj" fmla="val 12000"/>
            </a:avLst>
          </a:prstGeom>
          <a:solidFill>
            <a:srgbClr val="E1E6EA"/>
          </a:solidFill>
          <a:ln>
            <a:noFill/>
          </a:ln>
        </p:spPr>
        <p:txBody>
          <a:bodyPr/>
          <a:lstStyle/>
          <a:p>
            <a:endParaRPr lang="en-US"/>
          </a:p>
        </p:txBody>
      </p:sp>
      <p:sp>
        <p:nvSpPr>
          <p:cNvPr id="317" name="Ex317"/>
          <p:cNvSpPr/>
          <p:nvPr/>
        </p:nvSpPr>
        <p:spPr>
          <a:xfrm>
            <a:off x="7418681" y="2184400"/>
            <a:ext cx="241300" cy="203200"/>
          </a:xfrm>
          <a:prstGeom prst="roundRect">
            <a:avLst>
              <a:gd name="adj" fmla="val 12000"/>
            </a:avLst>
          </a:prstGeom>
          <a:solidFill>
            <a:srgbClr val="E1E6EA"/>
          </a:solidFill>
          <a:ln>
            <a:noFill/>
          </a:ln>
        </p:spPr>
        <p:txBody>
          <a:bodyPr/>
          <a:lstStyle/>
          <a:p>
            <a:endParaRPr lang="en-US"/>
          </a:p>
        </p:txBody>
      </p:sp>
      <p:sp>
        <p:nvSpPr>
          <p:cNvPr id="318" name="Ex318"/>
          <p:cNvSpPr/>
          <p:nvPr/>
        </p:nvSpPr>
        <p:spPr>
          <a:xfrm>
            <a:off x="7689144" y="2184400"/>
            <a:ext cx="241300" cy="203200"/>
          </a:xfrm>
          <a:prstGeom prst="roundRect">
            <a:avLst>
              <a:gd name="adj" fmla="val 12000"/>
            </a:avLst>
          </a:prstGeom>
          <a:solidFill>
            <a:srgbClr val="E1E6EA"/>
          </a:solidFill>
          <a:ln>
            <a:noFill/>
          </a:ln>
        </p:spPr>
        <p:txBody>
          <a:bodyPr/>
          <a:lstStyle/>
          <a:p>
            <a:endParaRPr lang="en-US"/>
          </a:p>
        </p:txBody>
      </p:sp>
      <p:sp>
        <p:nvSpPr>
          <p:cNvPr id="319" name="Ex319"/>
          <p:cNvSpPr/>
          <p:nvPr/>
        </p:nvSpPr>
        <p:spPr>
          <a:xfrm>
            <a:off x="7959607" y="2184400"/>
            <a:ext cx="241300" cy="203200"/>
          </a:xfrm>
          <a:prstGeom prst="roundRect">
            <a:avLst>
              <a:gd name="adj" fmla="val 12000"/>
            </a:avLst>
          </a:prstGeom>
          <a:solidFill>
            <a:srgbClr val="E1E6EA"/>
          </a:solidFill>
          <a:ln>
            <a:noFill/>
          </a:ln>
        </p:spPr>
        <p:txBody>
          <a:bodyPr/>
          <a:lstStyle/>
          <a:p>
            <a:endParaRPr lang="en-US"/>
          </a:p>
        </p:txBody>
      </p:sp>
      <p:sp>
        <p:nvSpPr>
          <p:cNvPr id="320" name="Ex320"/>
          <p:cNvSpPr/>
          <p:nvPr/>
        </p:nvSpPr>
        <p:spPr>
          <a:xfrm>
            <a:off x="8230070" y="2184400"/>
            <a:ext cx="241300" cy="203200"/>
          </a:xfrm>
          <a:prstGeom prst="roundRect">
            <a:avLst>
              <a:gd name="adj" fmla="val 12000"/>
            </a:avLst>
          </a:prstGeom>
          <a:solidFill>
            <a:srgbClr val="E1E6EA"/>
          </a:solidFill>
          <a:ln>
            <a:noFill/>
          </a:ln>
        </p:spPr>
        <p:txBody>
          <a:bodyPr/>
          <a:lstStyle/>
          <a:p>
            <a:endParaRPr lang="en-US"/>
          </a:p>
        </p:txBody>
      </p:sp>
      <p:sp>
        <p:nvSpPr>
          <p:cNvPr id="321" name="Ex321"/>
          <p:cNvSpPr/>
          <p:nvPr/>
        </p:nvSpPr>
        <p:spPr>
          <a:xfrm>
            <a:off x="8500533" y="2184400"/>
            <a:ext cx="241300" cy="203200"/>
          </a:xfrm>
          <a:prstGeom prst="roundRect">
            <a:avLst>
              <a:gd name="adj" fmla="val 12000"/>
            </a:avLst>
          </a:prstGeom>
          <a:solidFill>
            <a:srgbClr val="E1E6EA"/>
          </a:solidFill>
          <a:ln>
            <a:noFill/>
          </a:ln>
        </p:spPr>
        <p:txBody>
          <a:bodyPr/>
          <a:lstStyle/>
          <a:p>
            <a:endParaRPr lang="en-US"/>
          </a:p>
        </p:txBody>
      </p:sp>
      <p:sp>
        <p:nvSpPr>
          <p:cNvPr id="322" name="Ex322"/>
          <p:cNvSpPr/>
          <p:nvPr/>
        </p:nvSpPr>
        <p:spPr>
          <a:xfrm>
            <a:off x="8770996" y="2184400"/>
            <a:ext cx="241300" cy="203200"/>
          </a:xfrm>
          <a:prstGeom prst="roundRect">
            <a:avLst>
              <a:gd name="adj" fmla="val 12000"/>
            </a:avLst>
          </a:prstGeom>
          <a:solidFill>
            <a:srgbClr val="E1E6EA"/>
          </a:solidFill>
          <a:ln>
            <a:noFill/>
          </a:ln>
        </p:spPr>
        <p:txBody>
          <a:bodyPr/>
          <a:lstStyle/>
          <a:p>
            <a:endParaRPr lang="en-US"/>
          </a:p>
        </p:txBody>
      </p:sp>
      <p:sp>
        <p:nvSpPr>
          <p:cNvPr id="323" name="Ex323"/>
          <p:cNvSpPr/>
          <p:nvPr/>
        </p:nvSpPr>
        <p:spPr>
          <a:xfrm>
            <a:off x="9041459" y="2184400"/>
            <a:ext cx="241300" cy="203200"/>
          </a:xfrm>
          <a:prstGeom prst="roundRect">
            <a:avLst>
              <a:gd name="adj" fmla="val 12000"/>
            </a:avLst>
          </a:prstGeom>
          <a:solidFill>
            <a:srgbClr val="E1E6EA"/>
          </a:solidFill>
          <a:ln>
            <a:noFill/>
          </a:ln>
        </p:spPr>
        <p:txBody>
          <a:bodyPr/>
          <a:lstStyle/>
          <a:p>
            <a:endParaRPr lang="en-US"/>
          </a:p>
        </p:txBody>
      </p:sp>
      <p:sp>
        <p:nvSpPr>
          <p:cNvPr id="324" name="Ex324"/>
          <p:cNvSpPr/>
          <p:nvPr/>
        </p:nvSpPr>
        <p:spPr>
          <a:xfrm>
            <a:off x="9311922" y="2184400"/>
            <a:ext cx="241300" cy="203200"/>
          </a:xfrm>
          <a:prstGeom prst="roundRect">
            <a:avLst>
              <a:gd name="adj" fmla="val 12000"/>
            </a:avLst>
          </a:prstGeom>
          <a:solidFill>
            <a:srgbClr val="E1E6EA"/>
          </a:solidFill>
          <a:ln>
            <a:noFill/>
          </a:ln>
        </p:spPr>
        <p:txBody>
          <a:bodyPr/>
          <a:lstStyle/>
          <a:p>
            <a:endParaRPr lang="en-US"/>
          </a:p>
        </p:txBody>
      </p:sp>
      <p:sp>
        <p:nvSpPr>
          <p:cNvPr id="325" name="Ex325"/>
          <p:cNvSpPr/>
          <p:nvPr/>
        </p:nvSpPr>
        <p:spPr>
          <a:xfrm>
            <a:off x="9582385" y="2184400"/>
            <a:ext cx="241300" cy="203200"/>
          </a:xfrm>
          <a:prstGeom prst="roundRect">
            <a:avLst>
              <a:gd name="adj" fmla="val 12000"/>
            </a:avLst>
          </a:prstGeom>
          <a:solidFill>
            <a:srgbClr val="E1E6EA"/>
          </a:solidFill>
          <a:ln>
            <a:noFill/>
          </a:ln>
        </p:spPr>
        <p:txBody>
          <a:bodyPr/>
          <a:lstStyle/>
          <a:p>
            <a:endParaRPr lang="en-US"/>
          </a:p>
        </p:txBody>
      </p:sp>
      <p:sp>
        <p:nvSpPr>
          <p:cNvPr id="326" name="Ex326"/>
          <p:cNvSpPr/>
          <p:nvPr/>
        </p:nvSpPr>
        <p:spPr>
          <a:xfrm>
            <a:off x="9852848" y="2184400"/>
            <a:ext cx="241300" cy="203200"/>
          </a:xfrm>
          <a:prstGeom prst="roundRect">
            <a:avLst>
              <a:gd name="adj" fmla="val 12000"/>
            </a:avLst>
          </a:prstGeom>
          <a:solidFill>
            <a:srgbClr val="E1E6EA"/>
          </a:solidFill>
          <a:ln>
            <a:noFill/>
          </a:ln>
        </p:spPr>
        <p:txBody>
          <a:bodyPr/>
          <a:lstStyle/>
          <a:p>
            <a:endParaRPr lang="en-US"/>
          </a:p>
        </p:txBody>
      </p:sp>
      <p:sp>
        <p:nvSpPr>
          <p:cNvPr id="327" name="Ex327"/>
          <p:cNvSpPr/>
          <p:nvPr/>
        </p:nvSpPr>
        <p:spPr>
          <a:xfrm>
            <a:off x="10123311" y="2184400"/>
            <a:ext cx="241300" cy="203200"/>
          </a:xfrm>
          <a:prstGeom prst="roundRect">
            <a:avLst>
              <a:gd name="adj" fmla="val 12000"/>
            </a:avLst>
          </a:prstGeom>
          <a:solidFill>
            <a:srgbClr val="E1E6EA"/>
          </a:solidFill>
          <a:ln>
            <a:noFill/>
          </a:ln>
        </p:spPr>
        <p:txBody>
          <a:bodyPr/>
          <a:lstStyle/>
          <a:p>
            <a:endParaRPr lang="en-US"/>
          </a:p>
        </p:txBody>
      </p:sp>
      <p:sp>
        <p:nvSpPr>
          <p:cNvPr id="328" name="Ex328"/>
          <p:cNvSpPr/>
          <p:nvPr/>
        </p:nvSpPr>
        <p:spPr>
          <a:xfrm>
            <a:off x="10393774" y="2184400"/>
            <a:ext cx="241300" cy="203200"/>
          </a:xfrm>
          <a:prstGeom prst="roundRect">
            <a:avLst>
              <a:gd name="adj" fmla="val 12000"/>
            </a:avLst>
          </a:prstGeom>
          <a:solidFill>
            <a:srgbClr val="E1E6EA"/>
          </a:solidFill>
          <a:ln>
            <a:noFill/>
          </a:ln>
        </p:spPr>
        <p:txBody>
          <a:bodyPr/>
          <a:lstStyle/>
          <a:p>
            <a:endParaRPr lang="en-US"/>
          </a:p>
        </p:txBody>
      </p:sp>
      <p:sp>
        <p:nvSpPr>
          <p:cNvPr id="329" name="Ex329"/>
          <p:cNvSpPr/>
          <p:nvPr/>
        </p:nvSpPr>
        <p:spPr>
          <a:xfrm>
            <a:off x="10664237" y="2184400"/>
            <a:ext cx="241300" cy="203200"/>
          </a:xfrm>
          <a:prstGeom prst="roundRect">
            <a:avLst>
              <a:gd name="adj" fmla="val 12000"/>
            </a:avLst>
          </a:prstGeom>
          <a:solidFill>
            <a:srgbClr val="E1E6EA"/>
          </a:solidFill>
          <a:ln>
            <a:noFill/>
          </a:ln>
        </p:spPr>
        <p:txBody>
          <a:bodyPr/>
          <a:lstStyle/>
          <a:p>
            <a:endParaRPr lang="en-US"/>
          </a:p>
        </p:txBody>
      </p:sp>
      <p:sp>
        <p:nvSpPr>
          <p:cNvPr id="330" name="Ex330"/>
          <p:cNvSpPr/>
          <p:nvPr/>
        </p:nvSpPr>
        <p:spPr>
          <a:xfrm>
            <a:off x="10934700" y="2184400"/>
            <a:ext cx="241300" cy="203200"/>
          </a:xfrm>
          <a:prstGeom prst="roundRect">
            <a:avLst>
              <a:gd name="adj" fmla="val 12000"/>
            </a:avLst>
          </a:prstGeom>
          <a:solidFill>
            <a:srgbClr val="E1E6EA"/>
          </a:solidFill>
          <a:ln>
            <a:noFill/>
          </a:ln>
        </p:spPr>
        <p:txBody>
          <a:bodyPr/>
          <a:lstStyle/>
          <a:p>
            <a:endParaRPr lang="en-US"/>
          </a:p>
        </p:txBody>
      </p:sp>
      <p:sp>
        <p:nvSpPr>
          <p:cNvPr id="331" name="ExT331"/>
          <p:cNvSpPr txBox="1"/>
          <p:nvPr/>
        </p:nvSpPr>
        <p:spPr>
          <a:xfrm>
            <a:off x="3632200" y="2463800"/>
            <a:ext cx="7543800" cy="2286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h = 1 → 28 · chỉ ngày đầu có lag_1 là số thật, 27 ngày sau lag_1 không còn tồn tại</a:t>
            </a:r>
          </a:p>
        </p:txBody>
      </p:sp>
      <p:sp>
        <p:nvSpPr>
          <p:cNvPr id="332" name="Ex332"/>
          <p:cNvSpPr/>
          <p:nvPr/>
        </p:nvSpPr>
        <p:spPr>
          <a:xfrm>
            <a:off x="3632200" y="2768600"/>
            <a:ext cx="37084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33" name="ExT333"/>
          <p:cNvSpPr txBox="1"/>
          <p:nvPr/>
        </p:nvSpPr>
        <p:spPr>
          <a:xfrm>
            <a:off x="3784600" y="2844800"/>
            <a:ext cx="3403600" cy="228600"/>
          </a:xfrm>
          <a:prstGeom prst="rect">
            <a:avLst/>
          </a:prstGeom>
          <a:noFill/>
        </p:spPr>
        <p:txBody>
          <a:bodyPr wrap="square" lIns="0" tIns="0" rIns="0" bIns="0" anchor="t"/>
          <a:lstStyle/>
          <a:p>
            <a:pPr marL="0" indent="0" algn="l">
              <a:lnSpc>
                <a:spcPts val="1700"/>
              </a:lnSpc>
              <a:buNone/>
            </a:pPr>
            <a:r>
              <a:rPr lang="en-US" sz="1400" b="1" dirty="0">
                <a:solidFill>
                  <a:srgbClr val="065A82"/>
                </a:solidFill>
                <a:latin typeface="Calibri" pitchFamily="34" charset="0"/>
                <a:cs typeface="Calibri"/>
              </a:rPr>
              <a:t>Recursive</a:t>
            </a:r>
          </a:p>
        </p:txBody>
      </p:sp>
      <p:sp>
        <p:nvSpPr>
          <p:cNvPr id="334" name="ExT334"/>
          <p:cNvSpPr txBox="1"/>
          <p:nvPr/>
        </p:nvSpPr>
        <p:spPr>
          <a:xfrm>
            <a:off x="3784600" y="3073400"/>
            <a:ext cx="3403600" cy="228600"/>
          </a:xfrm>
          <a:prstGeom prst="rect">
            <a:avLst/>
          </a:prstGeom>
          <a:noFill/>
        </p:spPr>
        <p:txBody>
          <a:bodyPr wrap="square" lIns="0" tIns="0" rIns="0" bIns="0" anchor="t"/>
          <a:lstStyle/>
          <a:p>
            <a:pPr marL="0" indent="0" algn="l">
              <a:lnSpc>
                <a:spcPts val="1700"/>
              </a:lnSpc>
              <a:buNone/>
            </a:pPr>
            <a:r>
              <a:rPr lang="en-US" sz="1400" dirty="0">
                <a:solidFill>
                  <a:srgbClr val="5C6E79"/>
                </a:solidFill>
                <a:latin typeface="Calibri" pitchFamily="34" charset="0"/>
                <a:cs typeface="Calibri"/>
              </a:rPr>
              <a:t>dùng dự báo bước trước → sai số dồn</a:t>
            </a:r>
          </a:p>
        </p:txBody>
      </p:sp>
      <p:sp>
        <p:nvSpPr>
          <p:cNvPr id="335" name="Ex335"/>
          <p:cNvSpPr/>
          <p:nvPr/>
        </p:nvSpPr>
        <p:spPr>
          <a:xfrm>
            <a:off x="7467600" y="2768600"/>
            <a:ext cx="3708400" cy="584200"/>
          </a:xfrm>
          <a:prstGeom prst="roundRect">
            <a:avLst>
              <a:gd name="adj" fmla="val 9000"/>
            </a:avLst>
          </a:prstGeom>
          <a:solidFill>
            <a:srgbClr val="FFFFFF"/>
          </a:solidFill>
          <a:ln w="12700">
            <a:solidFill>
              <a:srgbClr val="CFE1EA"/>
            </a:solidFill>
          </a:ln>
        </p:spPr>
        <p:txBody>
          <a:bodyPr/>
          <a:lstStyle/>
          <a:p>
            <a:endParaRPr lang="en-US"/>
          </a:p>
        </p:txBody>
      </p:sp>
      <p:sp>
        <p:nvSpPr>
          <p:cNvPr id="336" name="ExT336"/>
          <p:cNvSpPr txBox="1"/>
          <p:nvPr/>
        </p:nvSpPr>
        <p:spPr>
          <a:xfrm>
            <a:off x="7620000" y="2844800"/>
            <a:ext cx="3403600" cy="228600"/>
          </a:xfrm>
          <a:prstGeom prst="rect">
            <a:avLst/>
          </a:prstGeom>
          <a:noFill/>
        </p:spPr>
        <p:txBody>
          <a:bodyPr wrap="square" lIns="0" tIns="0" rIns="0" bIns="0" anchor="t"/>
          <a:lstStyle/>
          <a:p>
            <a:pPr marL="0" indent="0" algn="l">
              <a:lnSpc>
                <a:spcPts val="1700"/>
              </a:lnSpc>
              <a:buNone/>
            </a:pPr>
            <a:r>
              <a:rPr lang="en-US" sz="1400" b="1" dirty="0">
                <a:solidFill>
                  <a:srgbClr val="065A82"/>
                </a:solidFill>
                <a:latin typeface="Calibri" pitchFamily="34" charset="0"/>
                <a:cs typeface="Calibri"/>
              </a:rPr>
              <a:t>Direct</a:t>
            </a:r>
          </a:p>
        </p:txBody>
      </p:sp>
      <p:sp>
        <p:nvSpPr>
          <p:cNvPr id="337" name="ExT337"/>
          <p:cNvSpPr txBox="1"/>
          <p:nvPr/>
        </p:nvSpPr>
        <p:spPr>
          <a:xfrm>
            <a:off x="7620000" y="3073400"/>
            <a:ext cx="3403600" cy="228600"/>
          </a:xfrm>
          <a:prstGeom prst="rect">
            <a:avLst/>
          </a:prstGeom>
          <a:noFill/>
        </p:spPr>
        <p:txBody>
          <a:bodyPr wrap="square" lIns="0" tIns="0" rIns="0" bIns="0" anchor="t"/>
          <a:lstStyle/>
          <a:p>
            <a:pPr marL="0" indent="0" algn="l">
              <a:lnSpc>
                <a:spcPts val="1700"/>
              </a:lnSpc>
              <a:buNone/>
            </a:pPr>
            <a:r>
              <a:rPr lang="en-US" sz="1400" dirty="0">
                <a:solidFill>
                  <a:srgbClr val="5C6E79"/>
                </a:solidFill>
                <a:latin typeface="Calibri" pitchFamily="34" charset="0"/>
                <a:cs typeface="Calibri"/>
              </a:rPr>
              <a:t>train riêng một mô hình cho mỗi h</a:t>
            </a:r>
          </a:p>
        </p:txBody>
      </p:sp>
    </p:spTree>
    <p:extLst>
      <p:ext uri="{BB962C8B-B14F-4D97-AF65-F5344CB8AC3E}">
        <p14:creationId xmlns:p14="http://schemas.microsoft.com/office/powerpoint/2010/main" val="299994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VÍ DỤ MINH HỌA</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Hình dung dữ liệu: cấu trúc kiểu M5 / Walmart</a:t>
            </a:r>
            <a:endParaRPr lang="en-US" sz="2800" dirty="0"/>
          </a:p>
        </p:txBody>
      </p:sp>
      <p:sp>
        <p:nvSpPr>
          <p:cNvPr id="4" name="Text 2"/>
          <p:cNvSpPr/>
          <p:nvPr/>
        </p:nvSpPr>
        <p:spPr>
          <a:xfrm>
            <a:off x="548640" y="1280160"/>
            <a:ext cx="10789920" cy="457200"/>
          </a:xfrm>
          <a:prstGeom prst="rect">
            <a:avLst/>
          </a:prstGeom>
          <a:noFill/>
          <a:ln/>
        </p:spPr>
        <p:txBody>
          <a:bodyPr wrap="square" rtlCol="0" anchor="ctr"/>
          <a:lstStyle/>
          <a:p>
            <a:pPr marL="0" indent="0">
              <a:buNone/>
            </a:pPr>
            <a:r>
              <a:rPr lang="en-US" sz="1200" i="1" dirty="0">
                <a:solidFill>
                  <a:srgbClr val="7B8B95"/>
                </a:solidFill>
                <a:latin typeface="Calibri" pitchFamily="34" charset="0"/>
                <a:ea typeface="Calibri" pitchFamily="34" charset="-122"/>
                <a:cs typeface="Calibri" pitchFamily="34" charset="-120"/>
              </a:rPr>
              <a:t>Không phải data thật của project — dùng làm case study để minh họa các vấn đề đã nêu, tham chiếu bộ dữ liệu kinh điển của cuộc thi M5 Forecasting Accuracy (Walmart, Kaggle).</a:t>
            </a:r>
            <a:endParaRPr lang="en-US" sz="1200" dirty="0"/>
          </a:p>
        </p:txBody>
      </p:sp>
      <p:sp>
        <p:nvSpPr>
          <p:cNvPr id="5" name="Shape 3"/>
          <p:cNvSpPr/>
          <p:nvPr/>
        </p:nvSpPr>
        <p:spPr>
          <a:xfrm>
            <a:off x="548640" y="1920240"/>
            <a:ext cx="2606040" cy="1463040"/>
          </a:xfrm>
          <a:prstGeom prst="roundRect">
            <a:avLst>
              <a:gd name="adj" fmla="val 6250"/>
            </a:avLst>
          </a:prstGeom>
          <a:solidFill>
            <a:srgbClr val="21295C"/>
          </a:solidFill>
          <a:ln/>
        </p:spPr>
        <p:txBody>
          <a:bodyPr/>
          <a:lstStyle/>
          <a:p>
            <a:endParaRPr lang="en-US"/>
          </a:p>
        </p:txBody>
      </p:sp>
      <p:sp>
        <p:nvSpPr>
          <p:cNvPr id="6" name="Text 4"/>
          <p:cNvSpPr/>
          <p:nvPr/>
        </p:nvSpPr>
        <p:spPr>
          <a:xfrm>
            <a:off x="548640" y="2029968"/>
            <a:ext cx="2606040" cy="685800"/>
          </a:xfrm>
          <a:prstGeom prst="rect">
            <a:avLst/>
          </a:prstGeom>
          <a:noFill/>
          <a:ln/>
        </p:spPr>
        <p:txBody>
          <a:bodyPr wrap="square" rtlCol="0" anchor="ctr"/>
          <a:lstStyle/>
          <a:p>
            <a:pPr marL="0" indent="0" algn="ctr">
              <a:buNone/>
            </a:pPr>
            <a:r>
              <a:rPr lang="en-US" sz="3000" b="1" dirty="0">
                <a:solidFill>
                  <a:srgbClr val="5FB8DE"/>
                </a:solidFill>
                <a:latin typeface="Cambria" pitchFamily="34" charset="0"/>
                <a:ea typeface="Cambria" pitchFamily="34" charset="-122"/>
                <a:cs typeface="Cambria" pitchFamily="34" charset="-120"/>
              </a:rPr>
              <a:t>30,490</a:t>
            </a:r>
            <a:endParaRPr lang="en-US" sz="3000" dirty="0"/>
          </a:p>
        </p:txBody>
      </p:sp>
      <p:sp>
        <p:nvSpPr>
          <p:cNvPr id="7" name="Text 5"/>
          <p:cNvSpPr/>
          <p:nvPr/>
        </p:nvSpPr>
        <p:spPr>
          <a:xfrm>
            <a:off x="685800" y="2697480"/>
            <a:ext cx="2331720" cy="594360"/>
          </a:xfrm>
          <a:prstGeom prst="rect">
            <a:avLst/>
          </a:prstGeom>
          <a:noFill/>
          <a:ln/>
        </p:spPr>
        <p:txBody>
          <a:bodyPr wrap="square" rtlCol="0" anchor="ctr"/>
          <a:lstStyle/>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chuỗi thời gian</a:t>
            </a:r>
            <a:endParaRPr lang="en-US" sz="1050" dirty="0"/>
          </a:p>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(3,049 sản phẩm × 10 cửa hàng)</a:t>
            </a:r>
            <a:endParaRPr lang="en-US" sz="1050" dirty="0"/>
          </a:p>
        </p:txBody>
      </p:sp>
      <p:sp>
        <p:nvSpPr>
          <p:cNvPr id="8" name="Shape 6"/>
          <p:cNvSpPr/>
          <p:nvPr/>
        </p:nvSpPr>
        <p:spPr>
          <a:xfrm>
            <a:off x="3355848" y="1920240"/>
            <a:ext cx="2606040" cy="1463040"/>
          </a:xfrm>
          <a:prstGeom prst="roundRect">
            <a:avLst>
              <a:gd name="adj" fmla="val 6250"/>
            </a:avLst>
          </a:prstGeom>
          <a:solidFill>
            <a:srgbClr val="21295C"/>
          </a:solidFill>
          <a:ln/>
        </p:spPr>
        <p:txBody>
          <a:bodyPr/>
          <a:lstStyle/>
          <a:p>
            <a:endParaRPr lang="en-US"/>
          </a:p>
        </p:txBody>
      </p:sp>
      <p:sp>
        <p:nvSpPr>
          <p:cNvPr id="9" name="Text 7"/>
          <p:cNvSpPr/>
          <p:nvPr/>
        </p:nvSpPr>
        <p:spPr>
          <a:xfrm>
            <a:off x="3355848" y="2029968"/>
            <a:ext cx="2606040" cy="685800"/>
          </a:xfrm>
          <a:prstGeom prst="rect">
            <a:avLst/>
          </a:prstGeom>
          <a:noFill/>
          <a:ln/>
        </p:spPr>
        <p:txBody>
          <a:bodyPr wrap="square" rtlCol="0" anchor="ctr"/>
          <a:lstStyle/>
          <a:p>
            <a:pPr marL="0" indent="0" algn="ctr">
              <a:buNone/>
            </a:pPr>
            <a:r>
              <a:rPr lang="en-US" sz="3000" b="1" dirty="0">
                <a:solidFill>
                  <a:srgbClr val="5FB8DE"/>
                </a:solidFill>
                <a:latin typeface="Cambria" pitchFamily="34" charset="0"/>
                <a:ea typeface="Cambria" pitchFamily="34" charset="-122"/>
                <a:cs typeface="Cambria" pitchFamily="34" charset="-120"/>
              </a:rPr>
              <a:t>3</a:t>
            </a:r>
            <a:endParaRPr lang="en-US" sz="3000" dirty="0"/>
          </a:p>
        </p:txBody>
      </p:sp>
      <p:sp>
        <p:nvSpPr>
          <p:cNvPr id="10" name="Text 8"/>
          <p:cNvSpPr/>
          <p:nvPr/>
        </p:nvSpPr>
        <p:spPr>
          <a:xfrm>
            <a:off x="3493008" y="2697480"/>
            <a:ext cx="2331720" cy="594360"/>
          </a:xfrm>
          <a:prstGeom prst="rect">
            <a:avLst/>
          </a:prstGeom>
          <a:noFill/>
          <a:ln/>
        </p:spPr>
        <p:txBody>
          <a:bodyPr wrap="square" rtlCol="0" anchor="ctr"/>
          <a:lstStyle/>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bang: California,</a:t>
            </a:r>
            <a:endParaRPr lang="en-US" sz="1050" dirty="0"/>
          </a:p>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Texas, Wisconsin</a:t>
            </a:r>
            <a:endParaRPr lang="en-US" sz="1050" dirty="0"/>
          </a:p>
        </p:txBody>
      </p:sp>
      <p:sp>
        <p:nvSpPr>
          <p:cNvPr id="11" name="Shape 9"/>
          <p:cNvSpPr/>
          <p:nvPr/>
        </p:nvSpPr>
        <p:spPr>
          <a:xfrm>
            <a:off x="6163056" y="1920240"/>
            <a:ext cx="2606040" cy="1463040"/>
          </a:xfrm>
          <a:prstGeom prst="roundRect">
            <a:avLst>
              <a:gd name="adj" fmla="val 6250"/>
            </a:avLst>
          </a:prstGeom>
          <a:solidFill>
            <a:srgbClr val="21295C"/>
          </a:solidFill>
          <a:ln/>
        </p:spPr>
        <p:txBody>
          <a:bodyPr/>
          <a:lstStyle/>
          <a:p>
            <a:endParaRPr lang="en-US"/>
          </a:p>
        </p:txBody>
      </p:sp>
      <p:sp>
        <p:nvSpPr>
          <p:cNvPr id="12" name="Text 10"/>
          <p:cNvSpPr/>
          <p:nvPr/>
        </p:nvSpPr>
        <p:spPr>
          <a:xfrm>
            <a:off x="6163056" y="2029968"/>
            <a:ext cx="2606040" cy="685800"/>
          </a:xfrm>
          <a:prstGeom prst="rect">
            <a:avLst/>
          </a:prstGeom>
          <a:noFill/>
          <a:ln/>
        </p:spPr>
        <p:txBody>
          <a:bodyPr wrap="square" rtlCol="0" anchor="ctr"/>
          <a:lstStyle/>
          <a:p>
            <a:pPr marL="0" indent="0" algn="ctr">
              <a:buNone/>
            </a:pPr>
            <a:r>
              <a:rPr lang="en-US" sz="3000" b="1" dirty="0">
                <a:solidFill>
                  <a:srgbClr val="5FB8DE"/>
                </a:solidFill>
                <a:latin typeface="Cambria" pitchFamily="34" charset="0"/>
                <a:ea typeface="Cambria" pitchFamily="34" charset="-122"/>
                <a:cs typeface="Cambria" pitchFamily="34" charset="-120"/>
              </a:rPr>
              <a:t>1,913</a:t>
            </a:r>
            <a:endParaRPr lang="en-US" sz="3000" dirty="0"/>
          </a:p>
        </p:txBody>
      </p:sp>
      <p:sp>
        <p:nvSpPr>
          <p:cNvPr id="13" name="Text 11"/>
          <p:cNvSpPr/>
          <p:nvPr/>
        </p:nvSpPr>
        <p:spPr>
          <a:xfrm>
            <a:off x="6300216" y="2697480"/>
            <a:ext cx="2331720" cy="594360"/>
          </a:xfrm>
          <a:prstGeom prst="rect">
            <a:avLst/>
          </a:prstGeom>
          <a:noFill/>
          <a:ln/>
        </p:spPr>
        <p:txBody>
          <a:bodyPr wrap="square" rtlCol="0" anchor="ctr"/>
          <a:lstStyle/>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ngày lịch sử</a:t>
            </a:r>
            <a:endParaRPr lang="en-US" sz="1050" dirty="0"/>
          </a:p>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(2011 – 2016)</a:t>
            </a:r>
            <a:endParaRPr lang="en-US" sz="1050" dirty="0"/>
          </a:p>
        </p:txBody>
      </p:sp>
      <p:sp>
        <p:nvSpPr>
          <p:cNvPr id="14" name="Shape 12"/>
          <p:cNvSpPr/>
          <p:nvPr/>
        </p:nvSpPr>
        <p:spPr>
          <a:xfrm>
            <a:off x="8970264" y="1920240"/>
            <a:ext cx="2606040" cy="1463040"/>
          </a:xfrm>
          <a:prstGeom prst="roundRect">
            <a:avLst>
              <a:gd name="adj" fmla="val 6250"/>
            </a:avLst>
          </a:prstGeom>
          <a:solidFill>
            <a:srgbClr val="21295C"/>
          </a:solidFill>
          <a:ln/>
        </p:spPr>
        <p:txBody>
          <a:bodyPr/>
          <a:lstStyle/>
          <a:p>
            <a:endParaRPr lang="en-US"/>
          </a:p>
        </p:txBody>
      </p:sp>
      <p:sp>
        <p:nvSpPr>
          <p:cNvPr id="15" name="Text 13"/>
          <p:cNvSpPr/>
          <p:nvPr/>
        </p:nvSpPr>
        <p:spPr>
          <a:xfrm>
            <a:off x="8970264" y="2029968"/>
            <a:ext cx="2606040" cy="685800"/>
          </a:xfrm>
          <a:prstGeom prst="rect">
            <a:avLst/>
          </a:prstGeom>
          <a:noFill/>
          <a:ln/>
        </p:spPr>
        <p:txBody>
          <a:bodyPr wrap="square" rtlCol="0" anchor="ctr"/>
          <a:lstStyle/>
          <a:p>
            <a:pPr marL="0" indent="0" algn="ctr">
              <a:buNone/>
            </a:pPr>
            <a:r>
              <a:rPr lang="en-US" sz="3000" b="1" dirty="0">
                <a:solidFill>
                  <a:srgbClr val="5FB8DE"/>
                </a:solidFill>
                <a:latin typeface="Cambria" pitchFamily="34" charset="0"/>
                <a:ea typeface="Cambria" pitchFamily="34" charset="-122"/>
                <a:cs typeface="Cambria" pitchFamily="34" charset="-120"/>
              </a:rPr>
              <a:t>28</a:t>
            </a:r>
            <a:endParaRPr lang="en-US" sz="3000" dirty="0"/>
          </a:p>
        </p:txBody>
      </p:sp>
      <p:sp>
        <p:nvSpPr>
          <p:cNvPr id="16" name="Text 14"/>
          <p:cNvSpPr/>
          <p:nvPr/>
        </p:nvSpPr>
        <p:spPr>
          <a:xfrm>
            <a:off x="9107424" y="2697480"/>
            <a:ext cx="2331720" cy="594360"/>
          </a:xfrm>
          <a:prstGeom prst="rect">
            <a:avLst/>
          </a:prstGeom>
          <a:noFill/>
          <a:ln/>
        </p:spPr>
        <p:txBody>
          <a:bodyPr wrap="square" rtlCol="0" anchor="ctr"/>
          <a:lstStyle/>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ngày — forecast</a:t>
            </a:r>
            <a:endParaRPr lang="en-US" sz="1050" dirty="0"/>
          </a:p>
          <a:p>
            <a:pPr marL="0" indent="0" algn="ctr">
              <a:lnSpc>
                <a:spcPts val="1200"/>
              </a:lnSpc>
              <a:buNone/>
            </a:pPr>
            <a:r>
              <a:rPr lang="en-US" sz="1050" dirty="0">
                <a:solidFill>
                  <a:srgbClr val="D7E4EE"/>
                </a:solidFill>
                <a:latin typeface="Calibri" pitchFamily="34" charset="0"/>
                <a:ea typeface="Calibri" pitchFamily="34" charset="-122"/>
                <a:cs typeface="Calibri" pitchFamily="34" charset="-120"/>
              </a:rPr>
              <a:t>horizon chuẩn</a:t>
            </a:r>
            <a:endParaRPr lang="en-US" sz="1050" dirty="0"/>
          </a:p>
        </p:txBody>
      </p:sp>
      <p:sp>
        <p:nvSpPr>
          <p:cNvPr id="17" name="Text 15"/>
          <p:cNvSpPr/>
          <p:nvPr/>
        </p:nvSpPr>
        <p:spPr>
          <a:xfrm>
            <a:off x="548640" y="3657600"/>
            <a:ext cx="10058400" cy="320040"/>
          </a:xfrm>
          <a:prstGeom prst="rect">
            <a:avLst/>
          </a:prstGeom>
          <a:noFill/>
          <a:ln/>
        </p:spPr>
        <p:txBody>
          <a:bodyPr wrap="square" rtlCol="0" anchor="ctr"/>
          <a:lstStyle/>
          <a:p>
            <a:pPr marL="0" indent="0">
              <a:buNone/>
            </a:pPr>
            <a:r>
              <a:rPr lang="en-US" sz="1200" b="1" kern="0" spc="150" dirty="0">
                <a:solidFill>
                  <a:srgbClr val="065A82"/>
                </a:solidFill>
                <a:latin typeface="Calibri" pitchFamily="34" charset="0"/>
                <a:ea typeface="Calibri" pitchFamily="34" charset="-122"/>
                <a:cs typeface="Calibri" pitchFamily="34" charset="-120"/>
              </a:rPr>
              <a:t>3 BẢNG DỮ LIỆU CHÍNH ĐƯỢC LIÊN KẾT VỚI NHAU</a:t>
            </a:r>
            <a:endParaRPr lang="en-US" sz="1200" dirty="0"/>
          </a:p>
        </p:txBody>
      </p:sp>
      <p:sp>
        <p:nvSpPr>
          <p:cNvPr id="18" name="Shape 16"/>
          <p:cNvSpPr/>
          <p:nvPr/>
        </p:nvSpPr>
        <p:spPr>
          <a:xfrm>
            <a:off x="548640" y="4069080"/>
            <a:ext cx="3520440" cy="1965960"/>
          </a:xfrm>
          <a:prstGeom prst="roundRect">
            <a:avLst>
              <a:gd name="adj" fmla="val 4651"/>
            </a:avLst>
          </a:prstGeom>
          <a:solidFill>
            <a:srgbClr val="F5F9FB"/>
          </a:solidFill>
          <a:ln w="12700">
            <a:solidFill>
              <a:srgbClr val="E1E8EC"/>
            </a:solidFill>
            <a:prstDash val="solid"/>
          </a:ln>
        </p:spPr>
        <p:txBody>
          <a:bodyPr/>
          <a:lstStyle/>
          <a:p>
            <a:endParaRPr lang="en-US"/>
          </a:p>
        </p:txBody>
      </p:sp>
      <p:sp>
        <p:nvSpPr>
          <p:cNvPr id="19" name="Shape 17"/>
          <p:cNvSpPr/>
          <p:nvPr/>
        </p:nvSpPr>
        <p:spPr>
          <a:xfrm>
            <a:off x="777240" y="4279392"/>
            <a:ext cx="502920" cy="502920"/>
          </a:xfrm>
          <a:prstGeom prst="ellipse">
            <a:avLst/>
          </a:prstGeom>
          <a:solidFill>
            <a:srgbClr val="1C7293"/>
          </a:solidFill>
          <a:ln/>
        </p:spPr>
        <p:txBody>
          <a:bodyPr/>
          <a:lstStyle/>
          <a:p>
            <a:endParaRPr lang="en-US"/>
          </a:p>
        </p:txBody>
      </p:sp>
      <p:pic>
        <p:nvPicPr>
          <p:cNvPr id="20" name="Image 0" descr="/tmp/deck/icon_database_white.png"/>
          <p:cNvPicPr>
            <a:picLocks noChangeAspect="1"/>
          </p:cNvPicPr>
          <p:nvPr/>
        </p:nvPicPr>
        <p:blipFill>
          <a:blip r:embed="rId3"/>
          <a:stretch>
            <a:fillRect/>
          </a:stretch>
        </p:blipFill>
        <p:spPr>
          <a:xfrm>
            <a:off x="842620" y="4344772"/>
            <a:ext cx="372161" cy="372161"/>
          </a:xfrm>
          <a:prstGeom prst="rect">
            <a:avLst/>
          </a:prstGeom>
        </p:spPr>
      </p:pic>
      <p:sp>
        <p:nvSpPr>
          <p:cNvPr id="21" name="Text 18"/>
          <p:cNvSpPr/>
          <p:nvPr/>
        </p:nvSpPr>
        <p:spPr>
          <a:xfrm>
            <a:off x="1417320" y="4297680"/>
            <a:ext cx="2514600" cy="45720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sales (fact table)</a:t>
            </a:r>
            <a:endParaRPr lang="en-US" sz="1350" dirty="0"/>
          </a:p>
        </p:txBody>
      </p:sp>
      <p:sp>
        <p:nvSpPr>
          <p:cNvPr id="22" name="Text 19"/>
          <p:cNvSpPr/>
          <p:nvPr/>
        </p:nvSpPr>
        <p:spPr>
          <a:xfrm>
            <a:off x="777240" y="4892040"/>
            <a:ext cx="3063240" cy="1051560"/>
          </a:xfrm>
          <a:prstGeom prst="rect">
            <a:avLst/>
          </a:prstGeom>
          <a:noFill/>
          <a:ln/>
        </p:spPr>
        <p:txBody>
          <a:bodyPr wrap="square" rtlCol="0" anchor="ctr"/>
          <a:lstStyle/>
          <a:p>
            <a:pPr marL="0" indent="0">
              <a:lnSpc>
                <a:spcPts val="1400"/>
              </a:lnSpc>
              <a:buNone/>
            </a:pPr>
            <a:r>
              <a:rPr lang="en-US" sz="1100" dirty="0">
                <a:solidFill>
                  <a:srgbClr val="3A4750"/>
                </a:solidFill>
                <a:latin typeface="Calibri" pitchFamily="34" charset="0"/>
                <a:ea typeface="Calibri" pitchFamily="34" charset="-122"/>
                <a:cs typeface="Calibri" pitchFamily="34" charset="-120"/>
              </a:rPr>
              <a:t>Doanh số bán theo ngày, mỗi dòng = 1 sản phẩm tại 1 cửa hàng</a:t>
            </a:r>
            <a:endParaRPr lang="en-US" sz="1100" dirty="0"/>
          </a:p>
        </p:txBody>
      </p:sp>
      <p:sp>
        <p:nvSpPr>
          <p:cNvPr id="23" name="Shape 20"/>
          <p:cNvSpPr/>
          <p:nvPr/>
        </p:nvSpPr>
        <p:spPr>
          <a:xfrm>
            <a:off x="4297680" y="4069080"/>
            <a:ext cx="3520440" cy="1965960"/>
          </a:xfrm>
          <a:prstGeom prst="roundRect">
            <a:avLst>
              <a:gd name="adj" fmla="val 4651"/>
            </a:avLst>
          </a:prstGeom>
          <a:solidFill>
            <a:srgbClr val="F5F9FB"/>
          </a:solidFill>
          <a:ln w="12700">
            <a:solidFill>
              <a:srgbClr val="E1E8EC"/>
            </a:solidFill>
            <a:prstDash val="solid"/>
          </a:ln>
        </p:spPr>
        <p:txBody>
          <a:bodyPr/>
          <a:lstStyle/>
          <a:p>
            <a:endParaRPr lang="en-US"/>
          </a:p>
        </p:txBody>
      </p:sp>
      <p:sp>
        <p:nvSpPr>
          <p:cNvPr id="24" name="Shape 21"/>
          <p:cNvSpPr/>
          <p:nvPr/>
        </p:nvSpPr>
        <p:spPr>
          <a:xfrm>
            <a:off x="4526280" y="4279392"/>
            <a:ext cx="502920" cy="502920"/>
          </a:xfrm>
          <a:prstGeom prst="ellipse">
            <a:avLst/>
          </a:prstGeom>
          <a:solidFill>
            <a:srgbClr val="1C7293"/>
          </a:solidFill>
          <a:ln/>
        </p:spPr>
        <p:txBody>
          <a:bodyPr/>
          <a:lstStyle/>
          <a:p>
            <a:endParaRPr lang="en-US"/>
          </a:p>
        </p:txBody>
      </p:sp>
      <p:pic>
        <p:nvPicPr>
          <p:cNvPr id="25" name="Image 1" descr="/tmp/deck/icon_clock_white.png"/>
          <p:cNvPicPr>
            <a:picLocks noChangeAspect="1"/>
          </p:cNvPicPr>
          <p:nvPr/>
        </p:nvPicPr>
        <p:blipFill>
          <a:blip r:embed="rId4"/>
          <a:stretch>
            <a:fillRect/>
          </a:stretch>
        </p:blipFill>
        <p:spPr>
          <a:xfrm>
            <a:off x="4591660" y="4344772"/>
            <a:ext cx="372161" cy="372161"/>
          </a:xfrm>
          <a:prstGeom prst="rect">
            <a:avLst/>
          </a:prstGeom>
        </p:spPr>
      </p:pic>
      <p:sp>
        <p:nvSpPr>
          <p:cNvPr id="26" name="Text 22"/>
          <p:cNvSpPr/>
          <p:nvPr/>
        </p:nvSpPr>
        <p:spPr>
          <a:xfrm>
            <a:off x="5166360" y="4297680"/>
            <a:ext cx="2514600" cy="45720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calendar</a:t>
            </a:r>
            <a:endParaRPr lang="en-US" sz="1350" dirty="0"/>
          </a:p>
        </p:txBody>
      </p:sp>
      <p:sp>
        <p:nvSpPr>
          <p:cNvPr id="27" name="Text 23"/>
          <p:cNvSpPr/>
          <p:nvPr/>
        </p:nvSpPr>
        <p:spPr>
          <a:xfrm>
            <a:off x="4526280" y="4892040"/>
            <a:ext cx="3063240" cy="1051560"/>
          </a:xfrm>
          <a:prstGeom prst="rect">
            <a:avLst/>
          </a:prstGeom>
          <a:noFill/>
          <a:ln/>
        </p:spPr>
        <p:txBody>
          <a:bodyPr wrap="square" rtlCol="0" anchor="ctr"/>
          <a:lstStyle/>
          <a:p>
            <a:pPr marL="0" indent="0">
              <a:lnSpc>
                <a:spcPts val="1400"/>
              </a:lnSpc>
              <a:buNone/>
            </a:pPr>
            <a:r>
              <a:rPr lang="en-US" sz="1100" dirty="0">
                <a:solidFill>
                  <a:srgbClr val="3A4750"/>
                </a:solidFill>
                <a:latin typeface="Calibri" pitchFamily="34" charset="0"/>
                <a:ea typeface="Calibri" pitchFamily="34" charset="-122"/>
                <a:cs typeface="Calibri" pitchFamily="34" charset="-120"/>
              </a:rPr>
              <a:t>Ánh xạ ngày ↔ sự kiện đặc biệt (lễ, tôn giáo, sự kiện quốc gia)</a:t>
            </a:r>
            <a:endParaRPr lang="en-US" sz="1100" dirty="0"/>
          </a:p>
        </p:txBody>
      </p:sp>
      <p:sp>
        <p:nvSpPr>
          <p:cNvPr id="28" name="Shape 24"/>
          <p:cNvSpPr/>
          <p:nvPr/>
        </p:nvSpPr>
        <p:spPr>
          <a:xfrm>
            <a:off x="8046720" y="4069080"/>
            <a:ext cx="3520440" cy="1965960"/>
          </a:xfrm>
          <a:prstGeom prst="roundRect">
            <a:avLst>
              <a:gd name="adj" fmla="val 4651"/>
            </a:avLst>
          </a:prstGeom>
          <a:solidFill>
            <a:srgbClr val="F5F9FB"/>
          </a:solidFill>
          <a:ln w="12700">
            <a:solidFill>
              <a:srgbClr val="E1E8EC"/>
            </a:solidFill>
            <a:prstDash val="solid"/>
          </a:ln>
        </p:spPr>
        <p:txBody>
          <a:bodyPr/>
          <a:lstStyle/>
          <a:p>
            <a:endParaRPr lang="en-US"/>
          </a:p>
        </p:txBody>
      </p:sp>
      <p:sp>
        <p:nvSpPr>
          <p:cNvPr id="29" name="Shape 25"/>
          <p:cNvSpPr/>
          <p:nvPr/>
        </p:nvSpPr>
        <p:spPr>
          <a:xfrm>
            <a:off x="8275320" y="4279392"/>
            <a:ext cx="502920" cy="502920"/>
          </a:xfrm>
          <a:prstGeom prst="ellipse">
            <a:avLst/>
          </a:prstGeom>
          <a:solidFill>
            <a:srgbClr val="1C7293"/>
          </a:solidFill>
          <a:ln/>
        </p:spPr>
        <p:txBody>
          <a:bodyPr/>
          <a:lstStyle/>
          <a:p>
            <a:endParaRPr lang="en-US"/>
          </a:p>
        </p:txBody>
      </p:sp>
      <p:pic>
        <p:nvPicPr>
          <p:cNvPr id="30" name="Image 2" descr="/tmp/deck/icon_tags_white.png"/>
          <p:cNvPicPr>
            <a:picLocks noChangeAspect="1"/>
          </p:cNvPicPr>
          <p:nvPr/>
        </p:nvPicPr>
        <p:blipFill>
          <a:blip r:embed="rId5"/>
          <a:stretch>
            <a:fillRect/>
          </a:stretch>
        </p:blipFill>
        <p:spPr>
          <a:xfrm>
            <a:off x="8340700" y="4344772"/>
            <a:ext cx="372161" cy="372161"/>
          </a:xfrm>
          <a:prstGeom prst="rect">
            <a:avLst/>
          </a:prstGeom>
        </p:spPr>
      </p:pic>
      <p:sp>
        <p:nvSpPr>
          <p:cNvPr id="31" name="Text 26"/>
          <p:cNvSpPr/>
          <p:nvPr/>
        </p:nvSpPr>
        <p:spPr>
          <a:xfrm>
            <a:off x="8915400" y="4297680"/>
            <a:ext cx="2514600" cy="45720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sell_prices</a:t>
            </a:r>
            <a:endParaRPr lang="en-US" sz="1350" dirty="0"/>
          </a:p>
        </p:txBody>
      </p:sp>
      <p:sp>
        <p:nvSpPr>
          <p:cNvPr id="32" name="Text 27"/>
          <p:cNvSpPr/>
          <p:nvPr/>
        </p:nvSpPr>
        <p:spPr>
          <a:xfrm>
            <a:off x="8275320" y="4892040"/>
            <a:ext cx="3063240" cy="1051560"/>
          </a:xfrm>
          <a:prstGeom prst="rect">
            <a:avLst/>
          </a:prstGeom>
          <a:noFill/>
          <a:ln/>
        </p:spPr>
        <p:txBody>
          <a:bodyPr wrap="square" rtlCol="0" anchor="ctr"/>
          <a:lstStyle/>
          <a:p>
            <a:pPr marL="0" indent="0">
              <a:lnSpc>
                <a:spcPts val="1400"/>
              </a:lnSpc>
              <a:buNone/>
            </a:pPr>
            <a:r>
              <a:rPr lang="en-US" sz="1100" dirty="0">
                <a:solidFill>
                  <a:srgbClr val="3A4750"/>
                </a:solidFill>
                <a:latin typeface="Calibri" pitchFamily="34" charset="0"/>
                <a:ea typeface="Calibri" pitchFamily="34" charset="-122"/>
                <a:cs typeface="Calibri" pitchFamily="34" charset="-120"/>
              </a:rPr>
              <a:t>Giá bán theo tuần, mỗi sản phẩm/cửa hàng — proxy cho khuyến mãi</a:t>
            </a:r>
            <a:endParaRPr lang="en-US" sz="1100" dirty="0"/>
          </a:p>
        </p:txBody>
      </p:sp>
      <p:sp>
        <p:nvSpPr>
          <p:cNvPr id="33" name="Text 28"/>
          <p:cNvSpPr/>
          <p:nvPr/>
        </p:nvSpPr>
        <p:spPr>
          <a:xfrm>
            <a:off x="548640" y="6172200"/>
            <a:ext cx="10881360" cy="365760"/>
          </a:xfrm>
          <a:prstGeom prst="rect">
            <a:avLst/>
          </a:prstGeom>
          <a:noFill/>
          <a:ln/>
        </p:spPr>
        <p:txBody>
          <a:bodyPr wrap="square" rtlCol="0" anchor="ctr"/>
          <a:lstStyle/>
          <a:p>
            <a:pPr marL="0" indent="0">
              <a:buNone/>
            </a:pPr>
            <a:r>
              <a:rPr lang="en-US" sz="1050" i="1" dirty="0">
                <a:solidFill>
                  <a:srgbClr val="7B8B95"/>
                </a:solidFill>
                <a:latin typeface="Calibri" pitchFamily="34" charset="0"/>
                <a:ea typeface="Calibri" pitchFamily="34" charset="-122"/>
                <a:cs typeface="Calibri" pitchFamily="34" charset="-120"/>
              </a:rPr>
              <a:t>Liên hệ trực tiếp: nhiều dòng sales = 0 (Vấn đề 01) · sell_prices theo tuần dùng để suy ra khuyến mãi (Vấn đề 04) · item×store = cross-learning (Vấn đề 05)</a:t>
            </a:r>
            <a:endParaRPr lang="en-US" sz="1050" dirty="0"/>
          </a:p>
        </p:txBody>
      </p:sp>
      <p:sp>
        <p:nvSpPr>
          <p:cNvPr id="34" name="Text 2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x10"/>
          <p:cNvSpPr txBox="1"/>
          <p:nvPr/>
        </p:nvSpPr>
        <p:spPr>
          <a:xfrm>
            <a:off x="546100" y="381000"/>
            <a:ext cx="7620000" cy="317500"/>
          </a:xfrm>
          <a:prstGeom prst="rect">
            <a:avLst/>
          </a:prstGeom>
          <a:noFill/>
        </p:spPr>
        <p:txBody>
          <a:bodyPr wrap="square" lIns="0" tIns="0" rIns="101600" bIns="0" anchor="ctr">
            <a:normAutofit/>
          </a:bodyPr>
          <a:lstStyle/>
          <a:p>
            <a:pPr marL="0" indent="0" algn="l">
              <a:buNone/>
            </a:pPr>
            <a:r>
              <a:rPr lang="en-US" sz="1200" b="1" spc="200" dirty="0">
                <a:solidFill>
                  <a:srgbClr val="065A82"/>
                </a:solidFill>
                <a:latin typeface="Calibri" pitchFamily="34" charset="0"/>
                <a:cs typeface="Calibri"/>
              </a:rPr>
              <a:t>CẤU TRÚC PHÂN CẤP — BỘ DỮ LIỆU M5</a:t>
            </a:r>
          </a:p>
        </p:txBody>
      </p:sp>
      <p:sp>
        <p:nvSpPr>
          <p:cNvPr id="11" name="Tx11"/>
          <p:cNvSpPr txBox="1"/>
          <p:nvPr/>
        </p:nvSpPr>
        <p:spPr>
          <a:xfrm>
            <a:off x="546100" y="711200"/>
            <a:ext cx="11099800" cy="431800"/>
          </a:xfrm>
          <a:prstGeom prst="rect">
            <a:avLst/>
          </a:prstGeom>
          <a:noFill/>
        </p:spPr>
        <p:txBody>
          <a:bodyPr wrap="square" lIns="0" tIns="0" rIns="101600" bIns="0" anchor="ctr">
            <a:normAutofit/>
          </a:bodyPr>
          <a:lstStyle/>
          <a:p>
            <a:pPr marL="0" indent="0" algn="l">
              <a:buNone/>
            </a:pPr>
            <a:r>
              <a:rPr lang="en-US" sz="2600" b="1" dirty="0">
                <a:solidFill>
                  <a:srgbClr val="21295C"/>
                </a:solidFill>
                <a:latin typeface="Calibri" pitchFamily="34" charset="0"/>
                <a:cs typeface="Calibri"/>
              </a:rPr>
              <a:t>Cây phân cấp địa lý cửa hàng &amp; phân cấp sản phẩm</a:t>
            </a:r>
          </a:p>
        </p:txBody>
      </p:sp>
      <p:sp>
        <p:nvSpPr>
          <p:cNvPr id="12" name="Tx12"/>
          <p:cNvSpPr txBox="1"/>
          <p:nvPr/>
        </p:nvSpPr>
        <p:spPr>
          <a:xfrm>
            <a:off x="546100" y="1193800"/>
            <a:ext cx="11099800" cy="304800"/>
          </a:xfrm>
          <a:prstGeom prst="rect">
            <a:avLst/>
          </a:prstGeom>
          <a:noFill/>
        </p:spPr>
        <p:txBody>
          <a:bodyPr wrap="square" lIns="0" tIns="0" rIns="101600" bIns="0" anchor="ctr">
            <a:normAutofit/>
          </a:bodyPr>
          <a:lstStyle/>
          <a:p>
            <a:pPr marL="0" indent="0" algn="l">
              <a:buNone/>
            </a:pPr>
            <a:r>
              <a:rPr lang="en-US" sz="1400" dirty="0">
                <a:solidFill>
                  <a:srgbClr val="42555F"/>
                </a:solidFill>
                <a:latin typeface="Calibri" pitchFamily="34" charset="0"/>
                <a:cs typeface="Calibri"/>
              </a:rPr>
              <a:t>M5 Forecasting Accuracy: 3.049 sản phẩm × 10 cửa hàng = 30.490 chuỗi thời gian ở mức lá, trên 1.941 ngày dữ liệu.</a:t>
            </a:r>
          </a:p>
        </p:txBody>
      </p:sp>
      <p:sp>
        <p:nvSpPr>
          <p:cNvPr id="13" name="Sh13"/>
          <p:cNvSpPr/>
          <p:nvPr/>
        </p:nvSpPr>
        <p:spPr>
          <a:xfrm>
            <a:off x="546100" y="1676400"/>
            <a:ext cx="5422900" cy="4038600"/>
          </a:xfrm>
          <a:prstGeom prst="roundRect">
            <a:avLst>
              <a:gd name="adj" fmla="val 12000"/>
            </a:avLst>
          </a:prstGeom>
          <a:solidFill>
            <a:srgbClr val="FFFFFF"/>
          </a:solidFill>
          <a:ln w="12700">
            <a:solidFill>
              <a:srgbClr val="CFE1EA"/>
            </a:solidFill>
          </a:ln>
        </p:spPr>
        <p:txBody>
          <a:bodyPr/>
          <a:lstStyle/>
          <a:p>
            <a:endParaRPr lang="en-US"/>
          </a:p>
        </p:txBody>
      </p:sp>
      <p:sp>
        <p:nvSpPr>
          <p:cNvPr id="14" name="Sh14"/>
          <p:cNvSpPr/>
          <p:nvPr/>
        </p:nvSpPr>
        <p:spPr>
          <a:xfrm>
            <a:off x="546100" y="1676400"/>
            <a:ext cx="5422900" cy="50800"/>
          </a:xfrm>
          <a:prstGeom prst="rect">
            <a:avLst/>
          </a:prstGeom>
          <a:solidFill>
            <a:srgbClr val="1C7293"/>
          </a:solidFill>
          <a:ln>
            <a:noFill/>
          </a:ln>
        </p:spPr>
        <p:txBody>
          <a:bodyPr/>
          <a:lstStyle/>
          <a:p>
            <a:endParaRPr lang="en-US"/>
          </a:p>
        </p:txBody>
      </p:sp>
      <p:sp>
        <p:nvSpPr>
          <p:cNvPr id="15" name="Tx15"/>
          <p:cNvSpPr txBox="1"/>
          <p:nvPr/>
        </p:nvSpPr>
        <p:spPr>
          <a:xfrm>
            <a:off x="749300" y="1854200"/>
            <a:ext cx="5016500" cy="279400"/>
          </a:xfrm>
          <a:prstGeom prst="rect">
            <a:avLst/>
          </a:prstGeom>
          <a:noFill/>
        </p:spPr>
        <p:txBody>
          <a:bodyPr wrap="square" lIns="0" tIns="0" rIns="101600" bIns="0" anchor="ctr">
            <a:normAutofit/>
          </a:bodyPr>
          <a:lstStyle/>
          <a:p>
            <a:pPr marL="0" indent="0" algn="l">
              <a:buNone/>
            </a:pPr>
            <a:r>
              <a:rPr lang="en-US" sz="1400" b="1" spc="120" dirty="0">
                <a:solidFill>
                  <a:srgbClr val="065A82"/>
                </a:solidFill>
                <a:latin typeface="Calibri" pitchFamily="34" charset="0"/>
                <a:cs typeface="Calibri"/>
              </a:rPr>
              <a:t>ĐỊA LÝ CỬA HÀNG</a:t>
            </a:r>
          </a:p>
        </p:txBody>
      </p:sp>
      <p:sp>
        <p:nvSpPr>
          <p:cNvPr id="16" name="Tx16"/>
          <p:cNvSpPr txBox="1"/>
          <p:nvPr/>
        </p:nvSpPr>
        <p:spPr>
          <a:xfrm>
            <a:off x="749300" y="2108200"/>
            <a:ext cx="5016500" cy="254000"/>
          </a:xfrm>
          <a:prstGeom prst="rect">
            <a:avLst/>
          </a:prstGeom>
          <a:noFill/>
        </p:spPr>
        <p:txBody>
          <a:bodyPr wrap="square" lIns="0" tIns="0" rIns="101600" bIns="0" anchor="ctr">
            <a:normAutofit/>
          </a:bodyPr>
          <a:lstStyle/>
          <a:p>
            <a:pPr marL="0" indent="0" algn="l">
              <a:buNone/>
            </a:pPr>
            <a:r>
              <a:rPr lang="en-US" sz="1400" dirty="0">
                <a:solidFill>
                  <a:srgbClr val="42555F"/>
                </a:solidFill>
                <a:latin typeface="Calibri" pitchFamily="34" charset="0"/>
                <a:cs typeface="Calibri"/>
              </a:rPr>
              <a:t>state_id › store_id (3 bang › 10 cửa hàng)</a:t>
            </a:r>
          </a:p>
        </p:txBody>
      </p:sp>
      <p:sp>
        <p:nvSpPr>
          <p:cNvPr id="17" name="Sh17"/>
          <p:cNvSpPr/>
          <p:nvPr/>
        </p:nvSpPr>
        <p:spPr>
          <a:xfrm>
            <a:off x="863600" y="2768600"/>
            <a:ext cx="19050" cy="254000"/>
          </a:xfrm>
          <a:prstGeom prst="rect">
            <a:avLst/>
          </a:prstGeom>
          <a:solidFill>
            <a:srgbClr val="9CB8C6"/>
          </a:solidFill>
          <a:ln>
            <a:noFill/>
          </a:ln>
        </p:spPr>
        <p:txBody>
          <a:bodyPr/>
          <a:lstStyle/>
          <a:p>
            <a:endParaRPr lang="en-US"/>
          </a:p>
        </p:txBody>
      </p:sp>
      <p:sp>
        <p:nvSpPr>
          <p:cNvPr id="18" name="Sh18"/>
          <p:cNvSpPr/>
          <p:nvPr/>
        </p:nvSpPr>
        <p:spPr>
          <a:xfrm>
            <a:off x="863600" y="3013075"/>
            <a:ext cx="241300" cy="19050"/>
          </a:xfrm>
          <a:prstGeom prst="rect">
            <a:avLst/>
          </a:prstGeom>
          <a:solidFill>
            <a:srgbClr val="9CB8C6"/>
          </a:solidFill>
          <a:ln>
            <a:noFill/>
          </a:ln>
        </p:spPr>
        <p:txBody>
          <a:bodyPr/>
          <a:lstStyle/>
          <a:p>
            <a:endParaRPr lang="en-US"/>
          </a:p>
        </p:txBody>
      </p:sp>
      <p:sp>
        <p:nvSpPr>
          <p:cNvPr id="19" name="Sh19"/>
          <p:cNvSpPr/>
          <p:nvPr/>
        </p:nvSpPr>
        <p:spPr>
          <a:xfrm>
            <a:off x="1219200" y="3200400"/>
            <a:ext cx="19050" cy="254000"/>
          </a:xfrm>
          <a:prstGeom prst="rect">
            <a:avLst/>
          </a:prstGeom>
          <a:solidFill>
            <a:srgbClr val="9CB8C6"/>
          </a:solidFill>
          <a:ln>
            <a:noFill/>
          </a:ln>
        </p:spPr>
        <p:txBody>
          <a:bodyPr/>
          <a:lstStyle/>
          <a:p>
            <a:endParaRPr lang="en-US"/>
          </a:p>
        </p:txBody>
      </p:sp>
      <p:sp>
        <p:nvSpPr>
          <p:cNvPr id="20" name="Sh20"/>
          <p:cNvSpPr/>
          <p:nvPr/>
        </p:nvSpPr>
        <p:spPr>
          <a:xfrm>
            <a:off x="1219200" y="3444875"/>
            <a:ext cx="266700" cy="19050"/>
          </a:xfrm>
          <a:prstGeom prst="rect">
            <a:avLst/>
          </a:prstGeom>
          <a:solidFill>
            <a:srgbClr val="9CB8C6"/>
          </a:solidFill>
          <a:ln>
            <a:noFill/>
          </a:ln>
        </p:spPr>
        <p:txBody>
          <a:bodyPr/>
          <a:lstStyle/>
          <a:p>
            <a:endParaRPr lang="en-US"/>
          </a:p>
        </p:txBody>
      </p:sp>
      <p:sp>
        <p:nvSpPr>
          <p:cNvPr id="21" name="Sh21"/>
          <p:cNvSpPr/>
          <p:nvPr/>
        </p:nvSpPr>
        <p:spPr>
          <a:xfrm>
            <a:off x="863600" y="2768600"/>
            <a:ext cx="19050" cy="1117600"/>
          </a:xfrm>
          <a:prstGeom prst="rect">
            <a:avLst/>
          </a:prstGeom>
          <a:solidFill>
            <a:srgbClr val="9CB8C6"/>
          </a:solidFill>
          <a:ln>
            <a:noFill/>
          </a:ln>
        </p:spPr>
        <p:txBody>
          <a:bodyPr/>
          <a:lstStyle/>
          <a:p>
            <a:endParaRPr lang="en-US"/>
          </a:p>
        </p:txBody>
      </p:sp>
      <p:sp>
        <p:nvSpPr>
          <p:cNvPr id="22" name="Sh22"/>
          <p:cNvSpPr/>
          <p:nvPr/>
        </p:nvSpPr>
        <p:spPr>
          <a:xfrm>
            <a:off x="863600" y="3876675"/>
            <a:ext cx="241300" cy="19050"/>
          </a:xfrm>
          <a:prstGeom prst="rect">
            <a:avLst/>
          </a:prstGeom>
          <a:solidFill>
            <a:srgbClr val="9CB8C6"/>
          </a:solidFill>
          <a:ln>
            <a:noFill/>
          </a:ln>
        </p:spPr>
        <p:txBody>
          <a:bodyPr/>
          <a:lstStyle/>
          <a:p>
            <a:endParaRPr lang="en-US"/>
          </a:p>
        </p:txBody>
      </p:sp>
      <p:sp>
        <p:nvSpPr>
          <p:cNvPr id="23" name="Sh23"/>
          <p:cNvSpPr/>
          <p:nvPr/>
        </p:nvSpPr>
        <p:spPr>
          <a:xfrm>
            <a:off x="1219200" y="4064000"/>
            <a:ext cx="19050" cy="254000"/>
          </a:xfrm>
          <a:prstGeom prst="rect">
            <a:avLst/>
          </a:prstGeom>
          <a:solidFill>
            <a:srgbClr val="9CB8C6"/>
          </a:solidFill>
          <a:ln>
            <a:noFill/>
          </a:ln>
        </p:spPr>
        <p:txBody>
          <a:bodyPr/>
          <a:lstStyle/>
          <a:p>
            <a:endParaRPr lang="en-US"/>
          </a:p>
        </p:txBody>
      </p:sp>
      <p:sp>
        <p:nvSpPr>
          <p:cNvPr id="24" name="Sh24"/>
          <p:cNvSpPr/>
          <p:nvPr/>
        </p:nvSpPr>
        <p:spPr>
          <a:xfrm>
            <a:off x="1219200" y="4308475"/>
            <a:ext cx="266700" cy="19050"/>
          </a:xfrm>
          <a:prstGeom prst="rect">
            <a:avLst/>
          </a:prstGeom>
          <a:solidFill>
            <a:srgbClr val="9CB8C6"/>
          </a:solidFill>
          <a:ln>
            <a:noFill/>
          </a:ln>
        </p:spPr>
        <p:txBody>
          <a:bodyPr/>
          <a:lstStyle/>
          <a:p>
            <a:endParaRPr lang="en-US"/>
          </a:p>
        </p:txBody>
      </p:sp>
      <p:sp>
        <p:nvSpPr>
          <p:cNvPr id="25" name="Sh25"/>
          <p:cNvSpPr/>
          <p:nvPr/>
        </p:nvSpPr>
        <p:spPr>
          <a:xfrm>
            <a:off x="863600" y="2768600"/>
            <a:ext cx="19050" cy="1981200"/>
          </a:xfrm>
          <a:prstGeom prst="rect">
            <a:avLst/>
          </a:prstGeom>
          <a:solidFill>
            <a:srgbClr val="9CB8C6"/>
          </a:solidFill>
          <a:ln>
            <a:noFill/>
          </a:ln>
        </p:spPr>
        <p:txBody>
          <a:bodyPr/>
          <a:lstStyle/>
          <a:p>
            <a:endParaRPr lang="en-US"/>
          </a:p>
        </p:txBody>
      </p:sp>
      <p:sp>
        <p:nvSpPr>
          <p:cNvPr id="26" name="Sh26"/>
          <p:cNvSpPr/>
          <p:nvPr/>
        </p:nvSpPr>
        <p:spPr>
          <a:xfrm>
            <a:off x="863600" y="4740275"/>
            <a:ext cx="241300" cy="19050"/>
          </a:xfrm>
          <a:prstGeom prst="rect">
            <a:avLst/>
          </a:prstGeom>
          <a:solidFill>
            <a:srgbClr val="9CB8C6"/>
          </a:solidFill>
          <a:ln>
            <a:noFill/>
          </a:ln>
        </p:spPr>
        <p:txBody>
          <a:bodyPr/>
          <a:lstStyle/>
          <a:p>
            <a:endParaRPr lang="en-US"/>
          </a:p>
        </p:txBody>
      </p:sp>
      <p:sp>
        <p:nvSpPr>
          <p:cNvPr id="27" name="Sh27"/>
          <p:cNvSpPr/>
          <p:nvPr/>
        </p:nvSpPr>
        <p:spPr>
          <a:xfrm>
            <a:off x="1219200" y="4927600"/>
            <a:ext cx="19050" cy="254000"/>
          </a:xfrm>
          <a:prstGeom prst="rect">
            <a:avLst/>
          </a:prstGeom>
          <a:solidFill>
            <a:srgbClr val="9CB8C6"/>
          </a:solidFill>
          <a:ln>
            <a:noFill/>
          </a:ln>
        </p:spPr>
        <p:txBody>
          <a:bodyPr/>
          <a:lstStyle/>
          <a:p>
            <a:endParaRPr lang="en-US"/>
          </a:p>
        </p:txBody>
      </p:sp>
      <p:sp>
        <p:nvSpPr>
          <p:cNvPr id="28" name="Sh28"/>
          <p:cNvSpPr/>
          <p:nvPr/>
        </p:nvSpPr>
        <p:spPr>
          <a:xfrm>
            <a:off x="1219200" y="5172075"/>
            <a:ext cx="266700" cy="19050"/>
          </a:xfrm>
          <a:prstGeom prst="rect">
            <a:avLst/>
          </a:prstGeom>
          <a:solidFill>
            <a:srgbClr val="9CB8C6"/>
          </a:solidFill>
          <a:ln>
            <a:noFill/>
          </a:ln>
        </p:spPr>
        <p:txBody>
          <a:bodyPr/>
          <a:lstStyle/>
          <a:p>
            <a:endParaRPr lang="en-US"/>
          </a:p>
        </p:txBody>
      </p:sp>
      <p:sp>
        <p:nvSpPr>
          <p:cNvPr id="29" name="Sh29"/>
          <p:cNvSpPr/>
          <p:nvPr/>
        </p:nvSpPr>
        <p:spPr>
          <a:xfrm>
            <a:off x="749300" y="2413000"/>
            <a:ext cx="5016500" cy="355600"/>
          </a:xfrm>
          <a:prstGeom prst="roundRect">
            <a:avLst>
              <a:gd name="adj" fmla="val 12000"/>
            </a:avLst>
          </a:prstGeom>
          <a:solidFill>
            <a:srgbClr val="21295C"/>
          </a:solidFill>
          <a:ln>
            <a:noFill/>
          </a:ln>
        </p:spPr>
        <p:txBody>
          <a:bodyPr/>
          <a:lstStyle/>
          <a:p>
            <a:endParaRPr lang="en-US"/>
          </a:p>
        </p:txBody>
      </p:sp>
      <p:sp>
        <p:nvSpPr>
          <p:cNvPr id="30" name="Tx30"/>
          <p:cNvSpPr txBox="1"/>
          <p:nvPr/>
        </p:nvSpPr>
        <p:spPr>
          <a:xfrm>
            <a:off x="749300" y="2413000"/>
            <a:ext cx="4864100" cy="355600"/>
          </a:xfrm>
          <a:prstGeom prst="rect">
            <a:avLst/>
          </a:prstGeom>
          <a:noFill/>
        </p:spPr>
        <p:txBody>
          <a:bodyPr wrap="square" lIns="152400" tIns="0" rIns="101600" bIns="0" anchor="ctr">
            <a:normAutofit/>
          </a:bodyPr>
          <a:lstStyle/>
          <a:p>
            <a:pPr marL="0" indent="0" algn="l">
              <a:buNone/>
            </a:pPr>
            <a:r>
              <a:rPr lang="en-US" sz="1400" b="1" dirty="0">
                <a:solidFill>
                  <a:srgbClr val="FFFFFF"/>
                </a:solidFill>
                <a:latin typeface="Calibri" pitchFamily="34" charset="0"/>
                <a:cs typeface="Calibri"/>
              </a:rPr>
              <a:t>Toàn bộ (Walmart US)</a:t>
            </a:r>
          </a:p>
        </p:txBody>
      </p:sp>
      <p:sp>
        <p:nvSpPr>
          <p:cNvPr id="31" name="Tx31"/>
          <p:cNvSpPr txBox="1"/>
          <p:nvPr/>
        </p:nvSpPr>
        <p:spPr>
          <a:xfrm>
            <a:off x="749300" y="2413000"/>
            <a:ext cx="4864100" cy="355600"/>
          </a:xfrm>
          <a:prstGeom prst="rect">
            <a:avLst/>
          </a:prstGeom>
          <a:noFill/>
        </p:spPr>
        <p:txBody>
          <a:bodyPr wrap="square" lIns="152400" tIns="0" rIns="101600" bIns="0" anchor="ctr">
            <a:normAutofit/>
          </a:bodyPr>
          <a:lstStyle/>
          <a:p>
            <a:pPr marL="0" indent="0" algn="r">
              <a:buNone/>
            </a:pPr>
            <a:r>
              <a:rPr lang="en-US" sz="1400" b="1" dirty="0">
                <a:solidFill>
                  <a:srgbClr val="9FD4E8"/>
                </a:solidFill>
                <a:latin typeface="Calibri" pitchFamily="34" charset="0"/>
                <a:cs typeface="Calibri"/>
              </a:rPr>
              <a:t>10 cửa hàng</a:t>
            </a:r>
          </a:p>
        </p:txBody>
      </p:sp>
      <p:sp>
        <p:nvSpPr>
          <p:cNvPr id="32" name="Sh32"/>
          <p:cNvSpPr/>
          <p:nvPr/>
        </p:nvSpPr>
        <p:spPr>
          <a:xfrm>
            <a:off x="1104900" y="2844800"/>
            <a:ext cx="4660900" cy="355600"/>
          </a:xfrm>
          <a:prstGeom prst="roundRect">
            <a:avLst>
              <a:gd name="adj" fmla="val 12000"/>
            </a:avLst>
          </a:prstGeom>
          <a:solidFill>
            <a:srgbClr val="1C7293"/>
          </a:solidFill>
          <a:ln>
            <a:noFill/>
          </a:ln>
        </p:spPr>
        <p:txBody>
          <a:bodyPr/>
          <a:lstStyle/>
          <a:p>
            <a:endParaRPr lang="en-US"/>
          </a:p>
        </p:txBody>
      </p:sp>
      <p:sp>
        <p:nvSpPr>
          <p:cNvPr id="33" name="Tx33"/>
          <p:cNvSpPr txBox="1"/>
          <p:nvPr/>
        </p:nvSpPr>
        <p:spPr>
          <a:xfrm>
            <a:off x="1104900" y="2844800"/>
            <a:ext cx="4508500" cy="355600"/>
          </a:xfrm>
          <a:prstGeom prst="rect">
            <a:avLst/>
          </a:prstGeom>
          <a:noFill/>
        </p:spPr>
        <p:txBody>
          <a:bodyPr wrap="square" lIns="152400" tIns="0" rIns="101600" bIns="0" anchor="ctr">
            <a:normAutofit/>
          </a:bodyPr>
          <a:lstStyle/>
          <a:p>
            <a:pPr marL="0" indent="0" algn="l">
              <a:buNone/>
            </a:pPr>
            <a:r>
              <a:rPr lang="en-US" sz="1400" b="1" dirty="0">
                <a:solidFill>
                  <a:srgbClr val="FFFFFF"/>
                </a:solidFill>
                <a:latin typeface="Calibri" pitchFamily="34" charset="0"/>
                <a:cs typeface="Calibri"/>
              </a:rPr>
              <a:t>California — CA</a:t>
            </a:r>
          </a:p>
        </p:txBody>
      </p:sp>
      <p:sp>
        <p:nvSpPr>
          <p:cNvPr id="34" name="Tx34"/>
          <p:cNvSpPr txBox="1"/>
          <p:nvPr/>
        </p:nvSpPr>
        <p:spPr>
          <a:xfrm>
            <a:off x="1104900" y="2844800"/>
            <a:ext cx="4508500" cy="3556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4 cửa hàng</a:t>
            </a:r>
          </a:p>
        </p:txBody>
      </p:sp>
      <p:sp>
        <p:nvSpPr>
          <p:cNvPr id="35" name="Sh35"/>
          <p:cNvSpPr/>
          <p:nvPr/>
        </p:nvSpPr>
        <p:spPr>
          <a:xfrm>
            <a:off x="1485900" y="3276600"/>
            <a:ext cx="4279900" cy="355600"/>
          </a:xfrm>
          <a:prstGeom prst="roundRect">
            <a:avLst>
              <a:gd name="adj" fmla="val 12000"/>
            </a:avLst>
          </a:prstGeom>
          <a:solidFill>
            <a:srgbClr val="F5F9FB"/>
          </a:solidFill>
          <a:ln w="12700">
            <a:solidFill>
              <a:srgbClr val="CFE1EA"/>
            </a:solidFill>
          </a:ln>
        </p:spPr>
        <p:txBody>
          <a:bodyPr/>
          <a:lstStyle/>
          <a:p>
            <a:endParaRPr lang="en-US"/>
          </a:p>
        </p:txBody>
      </p:sp>
      <p:sp>
        <p:nvSpPr>
          <p:cNvPr id="36" name="Tx36"/>
          <p:cNvSpPr txBox="1"/>
          <p:nvPr/>
        </p:nvSpPr>
        <p:spPr>
          <a:xfrm>
            <a:off x="1485900" y="3276600"/>
            <a:ext cx="4127500" cy="355600"/>
          </a:xfrm>
          <a:prstGeom prst="rect">
            <a:avLst/>
          </a:prstGeom>
          <a:noFill/>
        </p:spPr>
        <p:txBody>
          <a:bodyPr wrap="square" lIns="152400" tIns="0" rIns="101600" bIns="0" anchor="ctr">
            <a:normAutofit/>
          </a:bodyPr>
          <a:lstStyle/>
          <a:p>
            <a:pPr marL="0" indent="0" algn="l">
              <a:buNone/>
            </a:pPr>
            <a:r>
              <a:rPr lang="en-US" sz="1400" dirty="0">
                <a:solidFill>
                  <a:srgbClr val="21295C"/>
                </a:solidFill>
                <a:latin typeface="Calibri" pitchFamily="34" charset="0"/>
                <a:cs typeface="Calibri"/>
              </a:rPr>
              <a:t>CA_1 · CA_2 · CA_3 · CA_4</a:t>
            </a:r>
          </a:p>
        </p:txBody>
      </p:sp>
      <p:sp>
        <p:nvSpPr>
          <p:cNvPr id="37" name="Tx37"/>
          <p:cNvSpPr txBox="1"/>
          <p:nvPr/>
        </p:nvSpPr>
        <p:spPr>
          <a:xfrm>
            <a:off x="1485900" y="3276600"/>
            <a:ext cx="4127500" cy="355600"/>
          </a:xfrm>
          <a:prstGeom prst="rect">
            <a:avLst/>
          </a:prstGeom>
          <a:noFill/>
        </p:spPr>
        <p:txBody>
          <a:bodyPr wrap="square" lIns="152400" tIns="0" rIns="101600" bIns="0" anchor="ctr">
            <a:normAutofit/>
          </a:bodyPr>
          <a:lstStyle/>
          <a:p>
            <a:pPr marL="0" indent="0" algn="r">
              <a:buNone/>
            </a:pPr>
            <a:r>
              <a:rPr lang="en-US" sz="1400" i="1" dirty="0">
                <a:solidFill>
                  <a:srgbClr val="42555F"/>
                </a:solidFill>
                <a:latin typeface="Calibri" pitchFamily="34" charset="0"/>
                <a:cs typeface="Calibri"/>
              </a:rPr>
              <a:t>store_id</a:t>
            </a:r>
          </a:p>
        </p:txBody>
      </p:sp>
      <p:sp>
        <p:nvSpPr>
          <p:cNvPr id="38" name="Sh38"/>
          <p:cNvSpPr/>
          <p:nvPr/>
        </p:nvSpPr>
        <p:spPr>
          <a:xfrm>
            <a:off x="1104900" y="3708400"/>
            <a:ext cx="4660900" cy="355600"/>
          </a:xfrm>
          <a:prstGeom prst="roundRect">
            <a:avLst>
              <a:gd name="adj" fmla="val 12000"/>
            </a:avLst>
          </a:prstGeom>
          <a:solidFill>
            <a:srgbClr val="1C7293"/>
          </a:solidFill>
          <a:ln>
            <a:noFill/>
          </a:ln>
        </p:spPr>
        <p:txBody>
          <a:bodyPr/>
          <a:lstStyle/>
          <a:p>
            <a:endParaRPr lang="en-US"/>
          </a:p>
        </p:txBody>
      </p:sp>
      <p:sp>
        <p:nvSpPr>
          <p:cNvPr id="39" name="Tx39"/>
          <p:cNvSpPr txBox="1"/>
          <p:nvPr/>
        </p:nvSpPr>
        <p:spPr>
          <a:xfrm>
            <a:off x="1104900" y="3708400"/>
            <a:ext cx="4508500" cy="355600"/>
          </a:xfrm>
          <a:prstGeom prst="rect">
            <a:avLst/>
          </a:prstGeom>
          <a:noFill/>
        </p:spPr>
        <p:txBody>
          <a:bodyPr wrap="square" lIns="152400" tIns="0" rIns="101600" bIns="0" anchor="ctr">
            <a:normAutofit/>
          </a:bodyPr>
          <a:lstStyle/>
          <a:p>
            <a:pPr marL="0" indent="0" algn="l">
              <a:buNone/>
            </a:pPr>
            <a:r>
              <a:rPr lang="en-US" sz="1400" b="1" dirty="0">
                <a:solidFill>
                  <a:srgbClr val="FFFFFF"/>
                </a:solidFill>
                <a:latin typeface="Calibri" pitchFamily="34" charset="0"/>
                <a:cs typeface="Calibri"/>
              </a:rPr>
              <a:t>Texas — TX</a:t>
            </a:r>
          </a:p>
        </p:txBody>
      </p:sp>
      <p:sp>
        <p:nvSpPr>
          <p:cNvPr id="40" name="Tx40"/>
          <p:cNvSpPr txBox="1"/>
          <p:nvPr/>
        </p:nvSpPr>
        <p:spPr>
          <a:xfrm>
            <a:off x="1104900" y="3708400"/>
            <a:ext cx="4508500" cy="3556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3 cửa hàng</a:t>
            </a:r>
          </a:p>
        </p:txBody>
      </p:sp>
      <p:sp>
        <p:nvSpPr>
          <p:cNvPr id="41" name="Sh41"/>
          <p:cNvSpPr/>
          <p:nvPr/>
        </p:nvSpPr>
        <p:spPr>
          <a:xfrm>
            <a:off x="1485900" y="4140200"/>
            <a:ext cx="4279900" cy="355600"/>
          </a:xfrm>
          <a:prstGeom prst="roundRect">
            <a:avLst>
              <a:gd name="adj" fmla="val 12000"/>
            </a:avLst>
          </a:prstGeom>
          <a:solidFill>
            <a:srgbClr val="F5F9FB"/>
          </a:solidFill>
          <a:ln w="12700">
            <a:solidFill>
              <a:srgbClr val="CFE1EA"/>
            </a:solidFill>
          </a:ln>
        </p:spPr>
        <p:txBody>
          <a:bodyPr/>
          <a:lstStyle/>
          <a:p>
            <a:endParaRPr lang="en-US"/>
          </a:p>
        </p:txBody>
      </p:sp>
      <p:sp>
        <p:nvSpPr>
          <p:cNvPr id="42" name="Tx42"/>
          <p:cNvSpPr txBox="1"/>
          <p:nvPr/>
        </p:nvSpPr>
        <p:spPr>
          <a:xfrm>
            <a:off x="1485900" y="4140200"/>
            <a:ext cx="4127500" cy="355600"/>
          </a:xfrm>
          <a:prstGeom prst="rect">
            <a:avLst/>
          </a:prstGeom>
          <a:noFill/>
        </p:spPr>
        <p:txBody>
          <a:bodyPr wrap="square" lIns="152400" tIns="0" rIns="101600" bIns="0" anchor="ctr">
            <a:normAutofit/>
          </a:bodyPr>
          <a:lstStyle/>
          <a:p>
            <a:pPr marL="0" indent="0" algn="l">
              <a:buNone/>
            </a:pPr>
            <a:r>
              <a:rPr lang="en-US" sz="1400" dirty="0">
                <a:solidFill>
                  <a:srgbClr val="21295C"/>
                </a:solidFill>
                <a:latin typeface="Calibri" pitchFamily="34" charset="0"/>
                <a:cs typeface="Calibri"/>
              </a:rPr>
              <a:t>TX_1 · TX_2 · TX_3</a:t>
            </a:r>
          </a:p>
        </p:txBody>
      </p:sp>
      <p:sp>
        <p:nvSpPr>
          <p:cNvPr id="43" name="Tx43"/>
          <p:cNvSpPr txBox="1"/>
          <p:nvPr/>
        </p:nvSpPr>
        <p:spPr>
          <a:xfrm>
            <a:off x="1485900" y="4140200"/>
            <a:ext cx="4127500" cy="355600"/>
          </a:xfrm>
          <a:prstGeom prst="rect">
            <a:avLst/>
          </a:prstGeom>
          <a:noFill/>
        </p:spPr>
        <p:txBody>
          <a:bodyPr wrap="square" lIns="152400" tIns="0" rIns="101600" bIns="0" anchor="ctr">
            <a:normAutofit/>
          </a:bodyPr>
          <a:lstStyle/>
          <a:p>
            <a:pPr marL="0" indent="0" algn="r">
              <a:buNone/>
            </a:pPr>
            <a:r>
              <a:rPr lang="en-US" sz="1400" i="1" dirty="0">
                <a:solidFill>
                  <a:srgbClr val="42555F"/>
                </a:solidFill>
                <a:latin typeface="Calibri" pitchFamily="34" charset="0"/>
                <a:cs typeface="Calibri"/>
              </a:rPr>
              <a:t>store_id</a:t>
            </a:r>
          </a:p>
        </p:txBody>
      </p:sp>
      <p:sp>
        <p:nvSpPr>
          <p:cNvPr id="44" name="Sh44"/>
          <p:cNvSpPr/>
          <p:nvPr/>
        </p:nvSpPr>
        <p:spPr>
          <a:xfrm>
            <a:off x="1104900" y="4572000"/>
            <a:ext cx="4660900" cy="355600"/>
          </a:xfrm>
          <a:prstGeom prst="roundRect">
            <a:avLst>
              <a:gd name="adj" fmla="val 12000"/>
            </a:avLst>
          </a:prstGeom>
          <a:solidFill>
            <a:srgbClr val="1C7293"/>
          </a:solidFill>
          <a:ln>
            <a:noFill/>
          </a:ln>
        </p:spPr>
        <p:txBody>
          <a:bodyPr/>
          <a:lstStyle/>
          <a:p>
            <a:endParaRPr lang="en-US"/>
          </a:p>
        </p:txBody>
      </p:sp>
      <p:sp>
        <p:nvSpPr>
          <p:cNvPr id="45" name="Tx45"/>
          <p:cNvSpPr txBox="1"/>
          <p:nvPr/>
        </p:nvSpPr>
        <p:spPr>
          <a:xfrm>
            <a:off x="1104900" y="4572000"/>
            <a:ext cx="4508500" cy="355600"/>
          </a:xfrm>
          <a:prstGeom prst="rect">
            <a:avLst/>
          </a:prstGeom>
          <a:noFill/>
        </p:spPr>
        <p:txBody>
          <a:bodyPr wrap="square" lIns="152400" tIns="0" rIns="101600" bIns="0" anchor="ctr">
            <a:normAutofit/>
          </a:bodyPr>
          <a:lstStyle/>
          <a:p>
            <a:pPr marL="0" indent="0" algn="l">
              <a:buNone/>
            </a:pPr>
            <a:r>
              <a:rPr lang="en-US" sz="1400" b="1" dirty="0">
                <a:solidFill>
                  <a:srgbClr val="FFFFFF"/>
                </a:solidFill>
                <a:latin typeface="Calibri" pitchFamily="34" charset="0"/>
                <a:cs typeface="Calibri"/>
              </a:rPr>
              <a:t>Wisconsin — WI</a:t>
            </a:r>
          </a:p>
        </p:txBody>
      </p:sp>
      <p:sp>
        <p:nvSpPr>
          <p:cNvPr id="46" name="Tx46"/>
          <p:cNvSpPr txBox="1"/>
          <p:nvPr/>
        </p:nvSpPr>
        <p:spPr>
          <a:xfrm>
            <a:off x="1104900" y="4572000"/>
            <a:ext cx="4508500" cy="3556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3 cửa hàng</a:t>
            </a:r>
          </a:p>
        </p:txBody>
      </p:sp>
      <p:sp>
        <p:nvSpPr>
          <p:cNvPr id="47" name="Sh47"/>
          <p:cNvSpPr/>
          <p:nvPr/>
        </p:nvSpPr>
        <p:spPr>
          <a:xfrm>
            <a:off x="1485900" y="5003800"/>
            <a:ext cx="4279900" cy="355600"/>
          </a:xfrm>
          <a:prstGeom prst="roundRect">
            <a:avLst>
              <a:gd name="adj" fmla="val 12000"/>
            </a:avLst>
          </a:prstGeom>
          <a:solidFill>
            <a:srgbClr val="F5F9FB"/>
          </a:solidFill>
          <a:ln w="12700">
            <a:solidFill>
              <a:srgbClr val="CFE1EA"/>
            </a:solidFill>
          </a:ln>
        </p:spPr>
        <p:txBody>
          <a:bodyPr/>
          <a:lstStyle/>
          <a:p>
            <a:endParaRPr lang="en-US"/>
          </a:p>
        </p:txBody>
      </p:sp>
      <p:sp>
        <p:nvSpPr>
          <p:cNvPr id="48" name="Tx48"/>
          <p:cNvSpPr txBox="1"/>
          <p:nvPr/>
        </p:nvSpPr>
        <p:spPr>
          <a:xfrm>
            <a:off x="1485900" y="5003800"/>
            <a:ext cx="4127500" cy="355600"/>
          </a:xfrm>
          <a:prstGeom prst="rect">
            <a:avLst/>
          </a:prstGeom>
          <a:noFill/>
        </p:spPr>
        <p:txBody>
          <a:bodyPr wrap="square" lIns="152400" tIns="0" rIns="101600" bIns="0" anchor="ctr">
            <a:normAutofit/>
          </a:bodyPr>
          <a:lstStyle/>
          <a:p>
            <a:pPr marL="0" indent="0" algn="l">
              <a:buNone/>
            </a:pPr>
            <a:r>
              <a:rPr lang="en-US" sz="1400" dirty="0">
                <a:solidFill>
                  <a:srgbClr val="21295C"/>
                </a:solidFill>
                <a:latin typeface="Calibri" pitchFamily="34" charset="0"/>
                <a:cs typeface="Calibri"/>
              </a:rPr>
              <a:t>WI_1 · WI_2 · WI_3</a:t>
            </a:r>
          </a:p>
        </p:txBody>
      </p:sp>
      <p:sp>
        <p:nvSpPr>
          <p:cNvPr id="49" name="Tx49"/>
          <p:cNvSpPr txBox="1"/>
          <p:nvPr/>
        </p:nvSpPr>
        <p:spPr>
          <a:xfrm>
            <a:off x="1485900" y="5003800"/>
            <a:ext cx="4127500" cy="355600"/>
          </a:xfrm>
          <a:prstGeom prst="rect">
            <a:avLst/>
          </a:prstGeom>
          <a:noFill/>
        </p:spPr>
        <p:txBody>
          <a:bodyPr wrap="square" lIns="152400" tIns="0" rIns="101600" bIns="0" anchor="ctr">
            <a:normAutofit/>
          </a:bodyPr>
          <a:lstStyle/>
          <a:p>
            <a:pPr marL="0" indent="0" algn="r">
              <a:buNone/>
            </a:pPr>
            <a:r>
              <a:rPr lang="en-US" sz="1400" i="1" dirty="0">
                <a:solidFill>
                  <a:srgbClr val="42555F"/>
                </a:solidFill>
                <a:latin typeface="Calibri" pitchFamily="34" charset="0"/>
                <a:cs typeface="Calibri"/>
              </a:rPr>
              <a:t>store_id</a:t>
            </a:r>
          </a:p>
        </p:txBody>
      </p:sp>
      <p:sp>
        <p:nvSpPr>
          <p:cNvPr id="50" name="Tx50"/>
          <p:cNvSpPr txBox="1"/>
          <p:nvPr/>
        </p:nvSpPr>
        <p:spPr>
          <a:xfrm>
            <a:off x="749300" y="5384800"/>
            <a:ext cx="5016500" cy="254000"/>
          </a:xfrm>
          <a:prstGeom prst="rect">
            <a:avLst/>
          </a:prstGeom>
          <a:noFill/>
        </p:spPr>
        <p:txBody>
          <a:bodyPr wrap="square" lIns="0" tIns="0" rIns="101600" bIns="0" anchor="ctr">
            <a:normAutofit/>
          </a:bodyPr>
          <a:lstStyle/>
          <a:p>
            <a:pPr marL="0" indent="0" algn="l">
              <a:buNone/>
            </a:pPr>
            <a:r>
              <a:rPr lang="en-US" sz="1400" i="1" dirty="0">
                <a:solidFill>
                  <a:srgbClr val="5C6E79"/>
                </a:solidFill>
                <a:latin typeface="Calibri" pitchFamily="34" charset="0"/>
                <a:cs typeface="Calibri"/>
              </a:rPr>
              <a:t>Mỗi cửa hàng chứa toàn bộ 3.049 item → 3.049 chuỗi/cửa hàng.</a:t>
            </a:r>
          </a:p>
        </p:txBody>
      </p:sp>
      <p:sp>
        <p:nvSpPr>
          <p:cNvPr id="51" name="Sh51"/>
          <p:cNvSpPr/>
          <p:nvPr/>
        </p:nvSpPr>
        <p:spPr>
          <a:xfrm>
            <a:off x="6223000" y="1676400"/>
            <a:ext cx="5422900" cy="4038600"/>
          </a:xfrm>
          <a:prstGeom prst="roundRect">
            <a:avLst>
              <a:gd name="adj" fmla="val 12000"/>
            </a:avLst>
          </a:prstGeom>
          <a:solidFill>
            <a:srgbClr val="FFFFFF"/>
          </a:solidFill>
          <a:ln w="12700">
            <a:solidFill>
              <a:srgbClr val="CFE1EA"/>
            </a:solidFill>
          </a:ln>
        </p:spPr>
        <p:txBody>
          <a:bodyPr/>
          <a:lstStyle/>
          <a:p>
            <a:endParaRPr lang="en-US"/>
          </a:p>
        </p:txBody>
      </p:sp>
      <p:sp>
        <p:nvSpPr>
          <p:cNvPr id="52" name="Sh52"/>
          <p:cNvSpPr/>
          <p:nvPr/>
        </p:nvSpPr>
        <p:spPr>
          <a:xfrm>
            <a:off x="6223000" y="1676400"/>
            <a:ext cx="5422900" cy="50800"/>
          </a:xfrm>
          <a:prstGeom prst="rect">
            <a:avLst/>
          </a:prstGeom>
          <a:solidFill>
            <a:srgbClr val="1C7293"/>
          </a:solidFill>
          <a:ln>
            <a:noFill/>
          </a:ln>
        </p:spPr>
        <p:txBody>
          <a:bodyPr/>
          <a:lstStyle/>
          <a:p>
            <a:endParaRPr lang="en-US"/>
          </a:p>
        </p:txBody>
      </p:sp>
      <p:sp>
        <p:nvSpPr>
          <p:cNvPr id="53" name="Tx53"/>
          <p:cNvSpPr txBox="1"/>
          <p:nvPr/>
        </p:nvSpPr>
        <p:spPr>
          <a:xfrm>
            <a:off x="6426200" y="1854200"/>
            <a:ext cx="5016500" cy="279400"/>
          </a:xfrm>
          <a:prstGeom prst="rect">
            <a:avLst/>
          </a:prstGeom>
          <a:noFill/>
        </p:spPr>
        <p:txBody>
          <a:bodyPr wrap="square" lIns="0" tIns="0" rIns="101600" bIns="0" anchor="ctr">
            <a:normAutofit/>
          </a:bodyPr>
          <a:lstStyle/>
          <a:p>
            <a:pPr marL="0" indent="0" algn="l">
              <a:buNone/>
            </a:pPr>
            <a:r>
              <a:rPr lang="en-US" sz="1400" b="1" spc="120" dirty="0">
                <a:solidFill>
                  <a:srgbClr val="065A82"/>
                </a:solidFill>
                <a:latin typeface="Calibri" pitchFamily="34" charset="0"/>
                <a:cs typeface="Calibri"/>
              </a:rPr>
              <a:t>PHÂN CẤP SẢN PHẨM</a:t>
            </a:r>
          </a:p>
        </p:txBody>
      </p:sp>
      <p:sp>
        <p:nvSpPr>
          <p:cNvPr id="54" name="Tx54"/>
          <p:cNvSpPr txBox="1"/>
          <p:nvPr/>
        </p:nvSpPr>
        <p:spPr>
          <a:xfrm>
            <a:off x="6426200" y="2108200"/>
            <a:ext cx="5016500" cy="254000"/>
          </a:xfrm>
          <a:prstGeom prst="rect">
            <a:avLst/>
          </a:prstGeom>
          <a:noFill/>
        </p:spPr>
        <p:txBody>
          <a:bodyPr wrap="square" lIns="0" tIns="0" rIns="101600" bIns="0" anchor="ctr">
            <a:normAutofit/>
          </a:bodyPr>
          <a:lstStyle/>
          <a:p>
            <a:pPr marL="0" indent="0" algn="l">
              <a:buNone/>
            </a:pPr>
            <a:r>
              <a:rPr lang="en-US" sz="1400" dirty="0">
                <a:solidFill>
                  <a:srgbClr val="42555F"/>
                </a:solidFill>
                <a:latin typeface="Calibri" pitchFamily="34" charset="0"/>
                <a:cs typeface="Calibri"/>
              </a:rPr>
              <a:t>cat_id › dept_id › item_id — phân phối 3.049 item</a:t>
            </a:r>
          </a:p>
        </p:txBody>
      </p:sp>
      <p:sp>
        <p:nvSpPr>
          <p:cNvPr id="55" name="Sh55"/>
          <p:cNvSpPr/>
          <p:nvPr/>
        </p:nvSpPr>
        <p:spPr>
          <a:xfrm>
            <a:off x="6540500" y="2667000"/>
            <a:ext cx="19050" cy="165100"/>
          </a:xfrm>
          <a:prstGeom prst="rect">
            <a:avLst/>
          </a:prstGeom>
          <a:solidFill>
            <a:srgbClr val="9CB8C6"/>
          </a:solidFill>
          <a:ln>
            <a:noFill/>
          </a:ln>
        </p:spPr>
        <p:txBody>
          <a:bodyPr/>
          <a:lstStyle/>
          <a:p>
            <a:endParaRPr lang="en-US"/>
          </a:p>
        </p:txBody>
      </p:sp>
      <p:sp>
        <p:nvSpPr>
          <p:cNvPr id="56" name="Sh56"/>
          <p:cNvSpPr/>
          <p:nvPr/>
        </p:nvSpPr>
        <p:spPr>
          <a:xfrm>
            <a:off x="6540500" y="2822575"/>
            <a:ext cx="241300" cy="19050"/>
          </a:xfrm>
          <a:prstGeom prst="rect">
            <a:avLst/>
          </a:prstGeom>
          <a:solidFill>
            <a:srgbClr val="9CB8C6"/>
          </a:solidFill>
          <a:ln>
            <a:noFill/>
          </a:ln>
        </p:spPr>
        <p:txBody>
          <a:bodyPr/>
          <a:lstStyle/>
          <a:p>
            <a:endParaRPr lang="en-US"/>
          </a:p>
        </p:txBody>
      </p:sp>
      <p:sp>
        <p:nvSpPr>
          <p:cNvPr id="57" name="Sh57"/>
          <p:cNvSpPr/>
          <p:nvPr/>
        </p:nvSpPr>
        <p:spPr>
          <a:xfrm>
            <a:off x="6896100" y="2959100"/>
            <a:ext cx="19050" cy="165100"/>
          </a:xfrm>
          <a:prstGeom prst="rect">
            <a:avLst/>
          </a:prstGeom>
          <a:solidFill>
            <a:srgbClr val="9CB8C6"/>
          </a:solidFill>
          <a:ln>
            <a:noFill/>
          </a:ln>
        </p:spPr>
        <p:txBody>
          <a:bodyPr/>
          <a:lstStyle/>
          <a:p>
            <a:endParaRPr lang="en-US"/>
          </a:p>
        </p:txBody>
      </p:sp>
      <p:sp>
        <p:nvSpPr>
          <p:cNvPr id="58" name="Sh58"/>
          <p:cNvSpPr/>
          <p:nvPr/>
        </p:nvSpPr>
        <p:spPr>
          <a:xfrm>
            <a:off x="6896100" y="3114675"/>
            <a:ext cx="266700" cy="19050"/>
          </a:xfrm>
          <a:prstGeom prst="rect">
            <a:avLst/>
          </a:prstGeom>
          <a:solidFill>
            <a:srgbClr val="9CB8C6"/>
          </a:solidFill>
          <a:ln>
            <a:noFill/>
          </a:ln>
        </p:spPr>
        <p:txBody>
          <a:bodyPr/>
          <a:lstStyle/>
          <a:p>
            <a:endParaRPr lang="en-US"/>
          </a:p>
        </p:txBody>
      </p:sp>
      <p:sp>
        <p:nvSpPr>
          <p:cNvPr id="59" name="Sh59"/>
          <p:cNvSpPr/>
          <p:nvPr/>
        </p:nvSpPr>
        <p:spPr>
          <a:xfrm>
            <a:off x="6896100" y="2959100"/>
            <a:ext cx="19050" cy="457200"/>
          </a:xfrm>
          <a:prstGeom prst="rect">
            <a:avLst/>
          </a:prstGeom>
          <a:solidFill>
            <a:srgbClr val="9CB8C6"/>
          </a:solidFill>
          <a:ln>
            <a:noFill/>
          </a:ln>
        </p:spPr>
        <p:txBody>
          <a:bodyPr/>
          <a:lstStyle/>
          <a:p>
            <a:endParaRPr lang="en-US"/>
          </a:p>
        </p:txBody>
      </p:sp>
      <p:sp>
        <p:nvSpPr>
          <p:cNvPr id="60" name="Sh60"/>
          <p:cNvSpPr/>
          <p:nvPr/>
        </p:nvSpPr>
        <p:spPr>
          <a:xfrm>
            <a:off x="6896100" y="3406775"/>
            <a:ext cx="266700" cy="19050"/>
          </a:xfrm>
          <a:prstGeom prst="rect">
            <a:avLst/>
          </a:prstGeom>
          <a:solidFill>
            <a:srgbClr val="9CB8C6"/>
          </a:solidFill>
          <a:ln>
            <a:noFill/>
          </a:ln>
        </p:spPr>
        <p:txBody>
          <a:bodyPr/>
          <a:lstStyle/>
          <a:p>
            <a:endParaRPr lang="en-US"/>
          </a:p>
        </p:txBody>
      </p:sp>
      <p:sp>
        <p:nvSpPr>
          <p:cNvPr id="61" name="Sh61"/>
          <p:cNvSpPr/>
          <p:nvPr/>
        </p:nvSpPr>
        <p:spPr>
          <a:xfrm>
            <a:off x="6896100" y="2959100"/>
            <a:ext cx="19050" cy="749300"/>
          </a:xfrm>
          <a:prstGeom prst="rect">
            <a:avLst/>
          </a:prstGeom>
          <a:solidFill>
            <a:srgbClr val="9CB8C6"/>
          </a:solidFill>
          <a:ln>
            <a:noFill/>
          </a:ln>
        </p:spPr>
        <p:txBody>
          <a:bodyPr/>
          <a:lstStyle/>
          <a:p>
            <a:endParaRPr lang="en-US"/>
          </a:p>
        </p:txBody>
      </p:sp>
      <p:sp>
        <p:nvSpPr>
          <p:cNvPr id="62" name="Sh62"/>
          <p:cNvSpPr/>
          <p:nvPr/>
        </p:nvSpPr>
        <p:spPr>
          <a:xfrm>
            <a:off x="6896100" y="3698875"/>
            <a:ext cx="266700" cy="19050"/>
          </a:xfrm>
          <a:prstGeom prst="rect">
            <a:avLst/>
          </a:prstGeom>
          <a:solidFill>
            <a:srgbClr val="9CB8C6"/>
          </a:solidFill>
          <a:ln>
            <a:noFill/>
          </a:ln>
        </p:spPr>
        <p:txBody>
          <a:bodyPr/>
          <a:lstStyle/>
          <a:p>
            <a:endParaRPr lang="en-US"/>
          </a:p>
        </p:txBody>
      </p:sp>
      <p:sp>
        <p:nvSpPr>
          <p:cNvPr id="63" name="Sh63"/>
          <p:cNvSpPr/>
          <p:nvPr/>
        </p:nvSpPr>
        <p:spPr>
          <a:xfrm>
            <a:off x="6540500" y="2667000"/>
            <a:ext cx="19050" cy="1333500"/>
          </a:xfrm>
          <a:prstGeom prst="rect">
            <a:avLst/>
          </a:prstGeom>
          <a:solidFill>
            <a:srgbClr val="9CB8C6"/>
          </a:solidFill>
          <a:ln>
            <a:noFill/>
          </a:ln>
        </p:spPr>
        <p:txBody>
          <a:bodyPr/>
          <a:lstStyle/>
          <a:p>
            <a:endParaRPr lang="en-US"/>
          </a:p>
        </p:txBody>
      </p:sp>
      <p:sp>
        <p:nvSpPr>
          <p:cNvPr id="64" name="Sh64"/>
          <p:cNvSpPr/>
          <p:nvPr/>
        </p:nvSpPr>
        <p:spPr>
          <a:xfrm>
            <a:off x="6540500" y="3990975"/>
            <a:ext cx="241300" cy="19050"/>
          </a:xfrm>
          <a:prstGeom prst="rect">
            <a:avLst/>
          </a:prstGeom>
          <a:solidFill>
            <a:srgbClr val="9CB8C6"/>
          </a:solidFill>
          <a:ln>
            <a:noFill/>
          </a:ln>
        </p:spPr>
        <p:txBody>
          <a:bodyPr/>
          <a:lstStyle/>
          <a:p>
            <a:endParaRPr lang="en-US"/>
          </a:p>
        </p:txBody>
      </p:sp>
      <p:sp>
        <p:nvSpPr>
          <p:cNvPr id="65" name="Sh65"/>
          <p:cNvSpPr/>
          <p:nvPr/>
        </p:nvSpPr>
        <p:spPr>
          <a:xfrm>
            <a:off x="6896100" y="4127500"/>
            <a:ext cx="19050" cy="165100"/>
          </a:xfrm>
          <a:prstGeom prst="rect">
            <a:avLst/>
          </a:prstGeom>
          <a:solidFill>
            <a:srgbClr val="9CB8C6"/>
          </a:solidFill>
          <a:ln>
            <a:noFill/>
          </a:ln>
        </p:spPr>
        <p:txBody>
          <a:bodyPr/>
          <a:lstStyle/>
          <a:p>
            <a:endParaRPr lang="en-US"/>
          </a:p>
        </p:txBody>
      </p:sp>
      <p:sp>
        <p:nvSpPr>
          <p:cNvPr id="66" name="Sh66"/>
          <p:cNvSpPr/>
          <p:nvPr/>
        </p:nvSpPr>
        <p:spPr>
          <a:xfrm>
            <a:off x="6896100" y="4283075"/>
            <a:ext cx="266700" cy="19050"/>
          </a:xfrm>
          <a:prstGeom prst="rect">
            <a:avLst/>
          </a:prstGeom>
          <a:solidFill>
            <a:srgbClr val="9CB8C6"/>
          </a:solidFill>
          <a:ln>
            <a:noFill/>
          </a:ln>
        </p:spPr>
        <p:txBody>
          <a:bodyPr/>
          <a:lstStyle/>
          <a:p>
            <a:endParaRPr lang="en-US"/>
          </a:p>
        </p:txBody>
      </p:sp>
      <p:sp>
        <p:nvSpPr>
          <p:cNvPr id="67" name="Sh67"/>
          <p:cNvSpPr/>
          <p:nvPr/>
        </p:nvSpPr>
        <p:spPr>
          <a:xfrm>
            <a:off x="6896100" y="4127500"/>
            <a:ext cx="19050" cy="457200"/>
          </a:xfrm>
          <a:prstGeom prst="rect">
            <a:avLst/>
          </a:prstGeom>
          <a:solidFill>
            <a:srgbClr val="9CB8C6"/>
          </a:solidFill>
          <a:ln>
            <a:noFill/>
          </a:ln>
        </p:spPr>
        <p:txBody>
          <a:bodyPr/>
          <a:lstStyle/>
          <a:p>
            <a:endParaRPr lang="en-US"/>
          </a:p>
        </p:txBody>
      </p:sp>
      <p:sp>
        <p:nvSpPr>
          <p:cNvPr id="68" name="Sh68"/>
          <p:cNvSpPr/>
          <p:nvPr/>
        </p:nvSpPr>
        <p:spPr>
          <a:xfrm>
            <a:off x="6896100" y="4575175"/>
            <a:ext cx="266700" cy="19050"/>
          </a:xfrm>
          <a:prstGeom prst="rect">
            <a:avLst/>
          </a:prstGeom>
          <a:solidFill>
            <a:srgbClr val="9CB8C6"/>
          </a:solidFill>
          <a:ln>
            <a:noFill/>
          </a:ln>
        </p:spPr>
        <p:txBody>
          <a:bodyPr/>
          <a:lstStyle/>
          <a:p>
            <a:endParaRPr lang="en-US"/>
          </a:p>
        </p:txBody>
      </p:sp>
      <p:sp>
        <p:nvSpPr>
          <p:cNvPr id="69" name="Sh69"/>
          <p:cNvSpPr/>
          <p:nvPr/>
        </p:nvSpPr>
        <p:spPr>
          <a:xfrm>
            <a:off x="6540500" y="2667000"/>
            <a:ext cx="19050" cy="2209800"/>
          </a:xfrm>
          <a:prstGeom prst="rect">
            <a:avLst/>
          </a:prstGeom>
          <a:solidFill>
            <a:srgbClr val="9CB8C6"/>
          </a:solidFill>
          <a:ln>
            <a:noFill/>
          </a:ln>
        </p:spPr>
        <p:txBody>
          <a:bodyPr/>
          <a:lstStyle/>
          <a:p>
            <a:endParaRPr lang="en-US"/>
          </a:p>
        </p:txBody>
      </p:sp>
      <p:sp>
        <p:nvSpPr>
          <p:cNvPr id="70" name="Sh70"/>
          <p:cNvSpPr/>
          <p:nvPr/>
        </p:nvSpPr>
        <p:spPr>
          <a:xfrm>
            <a:off x="6540500" y="4867275"/>
            <a:ext cx="241300" cy="19050"/>
          </a:xfrm>
          <a:prstGeom prst="rect">
            <a:avLst/>
          </a:prstGeom>
          <a:solidFill>
            <a:srgbClr val="9CB8C6"/>
          </a:solidFill>
          <a:ln>
            <a:noFill/>
          </a:ln>
        </p:spPr>
        <p:txBody>
          <a:bodyPr/>
          <a:lstStyle/>
          <a:p>
            <a:endParaRPr lang="en-US"/>
          </a:p>
        </p:txBody>
      </p:sp>
      <p:sp>
        <p:nvSpPr>
          <p:cNvPr id="71" name="Sh71"/>
          <p:cNvSpPr/>
          <p:nvPr/>
        </p:nvSpPr>
        <p:spPr>
          <a:xfrm>
            <a:off x="6896100" y="5003800"/>
            <a:ext cx="19050" cy="165100"/>
          </a:xfrm>
          <a:prstGeom prst="rect">
            <a:avLst/>
          </a:prstGeom>
          <a:solidFill>
            <a:srgbClr val="9CB8C6"/>
          </a:solidFill>
          <a:ln>
            <a:noFill/>
          </a:ln>
        </p:spPr>
        <p:txBody>
          <a:bodyPr/>
          <a:lstStyle/>
          <a:p>
            <a:endParaRPr lang="en-US"/>
          </a:p>
        </p:txBody>
      </p:sp>
      <p:sp>
        <p:nvSpPr>
          <p:cNvPr id="72" name="Sh72"/>
          <p:cNvSpPr/>
          <p:nvPr/>
        </p:nvSpPr>
        <p:spPr>
          <a:xfrm>
            <a:off x="6896100" y="5159375"/>
            <a:ext cx="266700" cy="19050"/>
          </a:xfrm>
          <a:prstGeom prst="rect">
            <a:avLst/>
          </a:prstGeom>
          <a:solidFill>
            <a:srgbClr val="9CB8C6"/>
          </a:solidFill>
          <a:ln>
            <a:noFill/>
          </a:ln>
        </p:spPr>
        <p:txBody>
          <a:bodyPr/>
          <a:lstStyle/>
          <a:p>
            <a:endParaRPr lang="en-US"/>
          </a:p>
        </p:txBody>
      </p:sp>
      <p:sp>
        <p:nvSpPr>
          <p:cNvPr id="73" name="Sh73"/>
          <p:cNvSpPr/>
          <p:nvPr/>
        </p:nvSpPr>
        <p:spPr>
          <a:xfrm>
            <a:off x="6896100" y="5003800"/>
            <a:ext cx="19050" cy="457200"/>
          </a:xfrm>
          <a:prstGeom prst="rect">
            <a:avLst/>
          </a:prstGeom>
          <a:solidFill>
            <a:srgbClr val="9CB8C6"/>
          </a:solidFill>
          <a:ln>
            <a:noFill/>
          </a:ln>
        </p:spPr>
        <p:txBody>
          <a:bodyPr/>
          <a:lstStyle/>
          <a:p>
            <a:endParaRPr lang="en-US"/>
          </a:p>
        </p:txBody>
      </p:sp>
      <p:sp>
        <p:nvSpPr>
          <p:cNvPr id="74" name="Sh74"/>
          <p:cNvSpPr/>
          <p:nvPr/>
        </p:nvSpPr>
        <p:spPr>
          <a:xfrm>
            <a:off x="6896100" y="5451475"/>
            <a:ext cx="266700" cy="19050"/>
          </a:xfrm>
          <a:prstGeom prst="rect">
            <a:avLst/>
          </a:prstGeom>
          <a:solidFill>
            <a:srgbClr val="9CB8C6"/>
          </a:solidFill>
          <a:ln>
            <a:noFill/>
          </a:ln>
        </p:spPr>
        <p:txBody>
          <a:bodyPr/>
          <a:lstStyle/>
          <a:p>
            <a:endParaRPr lang="en-US"/>
          </a:p>
        </p:txBody>
      </p:sp>
      <p:sp>
        <p:nvSpPr>
          <p:cNvPr id="75" name="Sh75"/>
          <p:cNvSpPr/>
          <p:nvPr/>
        </p:nvSpPr>
        <p:spPr>
          <a:xfrm>
            <a:off x="6426200" y="2413000"/>
            <a:ext cx="5016500" cy="254000"/>
          </a:xfrm>
          <a:prstGeom prst="roundRect">
            <a:avLst>
              <a:gd name="adj" fmla="val 20000"/>
            </a:avLst>
          </a:prstGeom>
          <a:solidFill>
            <a:srgbClr val="21295C"/>
          </a:solidFill>
          <a:ln>
            <a:noFill/>
          </a:ln>
        </p:spPr>
        <p:txBody>
          <a:bodyPr/>
          <a:lstStyle/>
          <a:p>
            <a:endParaRPr lang="en-US"/>
          </a:p>
        </p:txBody>
      </p:sp>
      <p:sp>
        <p:nvSpPr>
          <p:cNvPr id="76" name="Tx76"/>
          <p:cNvSpPr txBox="1"/>
          <p:nvPr/>
        </p:nvSpPr>
        <p:spPr>
          <a:xfrm>
            <a:off x="6426200" y="2413000"/>
            <a:ext cx="4889500" cy="254000"/>
          </a:xfrm>
          <a:prstGeom prst="rect">
            <a:avLst/>
          </a:prstGeom>
          <a:noFill/>
        </p:spPr>
        <p:txBody>
          <a:bodyPr wrap="square" lIns="127000" tIns="0" rIns="101600" bIns="0" anchor="ctr">
            <a:normAutofit/>
          </a:bodyPr>
          <a:lstStyle/>
          <a:p>
            <a:pPr marL="0" indent="0" algn="l">
              <a:buNone/>
            </a:pPr>
            <a:r>
              <a:rPr lang="en-US" sz="1400" b="1" dirty="0">
                <a:solidFill>
                  <a:srgbClr val="FFFFFF"/>
                </a:solidFill>
                <a:latin typeface="Calibri" pitchFamily="34" charset="0"/>
                <a:cs typeface="Calibri"/>
              </a:rPr>
              <a:t>Tất cả sản phẩm</a:t>
            </a:r>
          </a:p>
        </p:txBody>
      </p:sp>
      <p:sp>
        <p:nvSpPr>
          <p:cNvPr id="77" name="Tx77"/>
          <p:cNvSpPr txBox="1"/>
          <p:nvPr/>
        </p:nvSpPr>
        <p:spPr>
          <a:xfrm>
            <a:off x="6426200" y="2413000"/>
            <a:ext cx="4889500" cy="254000"/>
          </a:xfrm>
          <a:prstGeom prst="rect">
            <a:avLst/>
          </a:prstGeom>
          <a:noFill/>
        </p:spPr>
        <p:txBody>
          <a:bodyPr wrap="square" lIns="152400" tIns="0" rIns="101600" bIns="0" anchor="ctr">
            <a:normAutofit/>
          </a:bodyPr>
          <a:lstStyle/>
          <a:p>
            <a:pPr marL="0" indent="0" algn="r">
              <a:buNone/>
            </a:pPr>
            <a:r>
              <a:rPr lang="en-US" sz="1400" b="1" dirty="0">
                <a:solidFill>
                  <a:srgbClr val="9FD4E8"/>
                </a:solidFill>
                <a:latin typeface="Calibri" pitchFamily="34" charset="0"/>
                <a:cs typeface="Calibri"/>
              </a:rPr>
              <a:t>3.049 item</a:t>
            </a:r>
          </a:p>
        </p:txBody>
      </p:sp>
      <p:sp>
        <p:nvSpPr>
          <p:cNvPr id="78" name="Sh78"/>
          <p:cNvSpPr/>
          <p:nvPr/>
        </p:nvSpPr>
        <p:spPr>
          <a:xfrm>
            <a:off x="6781800" y="2705100"/>
            <a:ext cx="4660900" cy="254000"/>
          </a:xfrm>
          <a:prstGeom prst="roundRect">
            <a:avLst>
              <a:gd name="adj" fmla="val 20000"/>
            </a:avLst>
          </a:prstGeom>
          <a:solidFill>
            <a:srgbClr val="1C7293"/>
          </a:solidFill>
          <a:ln>
            <a:noFill/>
          </a:ln>
        </p:spPr>
        <p:txBody>
          <a:bodyPr/>
          <a:lstStyle/>
          <a:p>
            <a:endParaRPr lang="en-US"/>
          </a:p>
        </p:txBody>
      </p:sp>
      <p:sp>
        <p:nvSpPr>
          <p:cNvPr id="79" name="Tx79"/>
          <p:cNvSpPr txBox="1"/>
          <p:nvPr/>
        </p:nvSpPr>
        <p:spPr>
          <a:xfrm>
            <a:off x="6781800" y="2705100"/>
            <a:ext cx="4533900" cy="254000"/>
          </a:xfrm>
          <a:prstGeom prst="rect">
            <a:avLst/>
          </a:prstGeom>
          <a:noFill/>
        </p:spPr>
        <p:txBody>
          <a:bodyPr wrap="square" lIns="127000" tIns="0" rIns="101600" bIns="0" anchor="ctr">
            <a:normAutofit/>
          </a:bodyPr>
          <a:lstStyle/>
          <a:p>
            <a:pPr marL="0" indent="0" algn="l">
              <a:buNone/>
            </a:pPr>
            <a:r>
              <a:rPr lang="en-US" sz="1400" b="1" dirty="0">
                <a:solidFill>
                  <a:srgbClr val="FFFFFF"/>
                </a:solidFill>
                <a:latin typeface="Calibri" pitchFamily="34" charset="0"/>
                <a:cs typeface="Calibri"/>
              </a:rPr>
              <a:t>FOODS</a:t>
            </a:r>
          </a:p>
        </p:txBody>
      </p:sp>
      <p:sp>
        <p:nvSpPr>
          <p:cNvPr id="80" name="Tx80"/>
          <p:cNvSpPr txBox="1"/>
          <p:nvPr/>
        </p:nvSpPr>
        <p:spPr>
          <a:xfrm>
            <a:off x="6781800" y="2705100"/>
            <a:ext cx="4533900" cy="2540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1.437 · 47,1%</a:t>
            </a:r>
          </a:p>
        </p:txBody>
      </p:sp>
      <p:sp>
        <p:nvSpPr>
          <p:cNvPr id="81" name="Sh81"/>
          <p:cNvSpPr/>
          <p:nvPr/>
        </p:nvSpPr>
        <p:spPr>
          <a:xfrm>
            <a:off x="7162800" y="29972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82" name="Sh82"/>
          <p:cNvSpPr/>
          <p:nvPr/>
        </p:nvSpPr>
        <p:spPr>
          <a:xfrm>
            <a:off x="7162800" y="2997200"/>
            <a:ext cx="1123279" cy="254000"/>
          </a:xfrm>
          <a:prstGeom prst="roundRect">
            <a:avLst>
              <a:gd name="adj" fmla="val 20000"/>
            </a:avLst>
          </a:prstGeom>
          <a:solidFill>
            <a:srgbClr val="DCEBF3"/>
          </a:solidFill>
          <a:ln>
            <a:noFill/>
          </a:ln>
        </p:spPr>
        <p:txBody>
          <a:bodyPr/>
          <a:lstStyle/>
          <a:p>
            <a:endParaRPr lang="en-US"/>
          </a:p>
        </p:txBody>
      </p:sp>
      <p:sp>
        <p:nvSpPr>
          <p:cNvPr id="83" name="Tx83"/>
          <p:cNvSpPr txBox="1"/>
          <p:nvPr/>
        </p:nvSpPr>
        <p:spPr>
          <a:xfrm>
            <a:off x="7162800" y="29972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FOODS_1</a:t>
            </a:r>
          </a:p>
        </p:txBody>
      </p:sp>
      <p:sp>
        <p:nvSpPr>
          <p:cNvPr id="84" name="Tx84"/>
          <p:cNvSpPr txBox="1"/>
          <p:nvPr/>
        </p:nvSpPr>
        <p:spPr>
          <a:xfrm>
            <a:off x="7162800" y="29972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216 · 7,1%</a:t>
            </a:r>
          </a:p>
        </p:txBody>
      </p:sp>
      <p:sp>
        <p:nvSpPr>
          <p:cNvPr id="85" name="Sh85"/>
          <p:cNvSpPr/>
          <p:nvPr/>
        </p:nvSpPr>
        <p:spPr>
          <a:xfrm>
            <a:off x="7162800" y="32893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86" name="Sh86"/>
          <p:cNvSpPr/>
          <p:nvPr/>
        </p:nvSpPr>
        <p:spPr>
          <a:xfrm>
            <a:off x="7162800" y="3289300"/>
            <a:ext cx="2069745" cy="254000"/>
          </a:xfrm>
          <a:prstGeom prst="roundRect">
            <a:avLst>
              <a:gd name="adj" fmla="val 20000"/>
            </a:avLst>
          </a:prstGeom>
          <a:solidFill>
            <a:srgbClr val="DCEBF3"/>
          </a:solidFill>
          <a:ln>
            <a:noFill/>
          </a:ln>
        </p:spPr>
        <p:txBody>
          <a:bodyPr/>
          <a:lstStyle/>
          <a:p>
            <a:endParaRPr lang="en-US"/>
          </a:p>
        </p:txBody>
      </p:sp>
      <p:sp>
        <p:nvSpPr>
          <p:cNvPr id="87" name="Tx87"/>
          <p:cNvSpPr txBox="1"/>
          <p:nvPr/>
        </p:nvSpPr>
        <p:spPr>
          <a:xfrm>
            <a:off x="7162800" y="32893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FOODS_2</a:t>
            </a:r>
          </a:p>
        </p:txBody>
      </p:sp>
      <p:sp>
        <p:nvSpPr>
          <p:cNvPr id="88" name="Tx88"/>
          <p:cNvSpPr txBox="1"/>
          <p:nvPr/>
        </p:nvSpPr>
        <p:spPr>
          <a:xfrm>
            <a:off x="7162800" y="32893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398 · 13,1%</a:t>
            </a:r>
          </a:p>
        </p:txBody>
      </p:sp>
      <p:sp>
        <p:nvSpPr>
          <p:cNvPr id="89" name="Sh89"/>
          <p:cNvSpPr/>
          <p:nvPr/>
        </p:nvSpPr>
        <p:spPr>
          <a:xfrm>
            <a:off x="7162800" y="35814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90" name="Sh90"/>
          <p:cNvSpPr/>
          <p:nvPr/>
        </p:nvSpPr>
        <p:spPr>
          <a:xfrm>
            <a:off x="7162800" y="3581400"/>
            <a:ext cx="4279900" cy="254000"/>
          </a:xfrm>
          <a:prstGeom prst="roundRect">
            <a:avLst>
              <a:gd name="adj" fmla="val 20000"/>
            </a:avLst>
          </a:prstGeom>
          <a:solidFill>
            <a:srgbClr val="DCEBF3"/>
          </a:solidFill>
          <a:ln>
            <a:noFill/>
          </a:ln>
        </p:spPr>
        <p:txBody>
          <a:bodyPr/>
          <a:lstStyle/>
          <a:p>
            <a:endParaRPr lang="en-US"/>
          </a:p>
        </p:txBody>
      </p:sp>
      <p:sp>
        <p:nvSpPr>
          <p:cNvPr id="91" name="Tx91"/>
          <p:cNvSpPr txBox="1"/>
          <p:nvPr/>
        </p:nvSpPr>
        <p:spPr>
          <a:xfrm>
            <a:off x="7162800" y="35814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FOODS_3</a:t>
            </a:r>
          </a:p>
        </p:txBody>
      </p:sp>
      <p:sp>
        <p:nvSpPr>
          <p:cNvPr id="92" name="Tx92"/>
          <p:cNvSpPr txBox="1"/>
          <p:nvPr/>
        </p:nvSpPr>
        <p:spPr>
          <a:xfrm>
            <a:off x="7162800" y="35814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823 · 27,0%</a:t>
            </a:r>
          </a:p>
        </p:txBody>
      </p:sp>
      <p:sp>
        <p:nvSpPr>
          <p:cNvPr id="93" name="Sh93"/>
          <p:cNvSpPr/>
          <p:nvPr/>
        </p:nvSpPr>
        <p:spPr>
          <a:xfrm>
            <a:off x="6781800" y="3873500"/>
            <a:ext cx="4660900" cy="254000"/>
          </a:xfrm>
          <a:prstGeom prst="roundRect">
            <a:avLst>
              <a:gd name="adj" fmla="val 20000"/>
            </a:avLst>
          </a:prstGeom>
          <a:solidFill>
            <a:srgbClr val="1C7293"/>
          </a:solidFill>
          <a:ln>
            <a:noFill/>
          </a:ln>
        </p:spPr>
        <p:txBody>
          <a:bodyPr/>
          <a:lstStyle/>
          <a:p>
            <a:endParaRPr lang="en-US"/>
          </a:p>
        </p:txBody>
      </p:sp>
      <p:sp>
        <p:nvSpPr>
          <p:cNvPr id="94" name="Tx94"/>
          <p:cNvSpPr txBox="1"/>
          <p:nvPr/>
        </p:nvSpPr>
        <p:spPr>
          <a:xfrm>
            <a:off x="6781800" y="3873500"/>
            <a:ext cx="4533900" cy="254000"/>
          </a:xfrm>
          <a:prstGeom prst="rect">
            <a:avLst/>
          </a:prstGeom>
          <a:noFill/>
        </p:spPr>
        <p:txBody>
          <a:bodyPr wrap="square" lIns="127000" tIns="0" rIns="101600" bIns="0" anchor="ctr">
            <a:normAutofit/>
          </a:bodyPr>
          <a:lstStyle/>
          <a:p>
            <a:pPr marL="0" indent="0" algn="l">
              <a:buNone/>
            </a:pPr>
            <a:r>
              <a:rPr lang="en-US" sz="1400" b="1" dirty="0">
                <a:solidFill>
                  <a:srgbClr val="FFFFFF"/>
                </a:solidFill>
                <a:latin typeface="Calibri" pitchFamily="34" charset="0"/>
                <a:cs typeface="Calibri"/>
              </a:rPr>
              <a:t>HOUSEHOLD</a:t>
            </a:r>
          </a:p>
        </p:txBody>
      </p:sp>
      <p:sp>
        <p:nvSpPr>
          <p:cNvPr id="95" name="Tx95"/>
          <p:cNvSpPr txBox="1"/>
          <p:nvPr/>
        </p:nvSpPr>
        <p:spPr>
          <a:xfrm>
            <a:off x="6781800" y="3873500"/>
            <a:ext cx="4533900" cy="2540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1.047 · 34,3%</a:t>
            </a:r>
          </a:p>
        </p:txBody>
      </p:sp>
      <p:sp>
        <p:nvSpPr>
          <p:cNvPr id="96" name="Sh96"/>
          <p:cNvSpPr/>
          <p:nvPr/>
        </p:nvSpPr>
        <p:spPr>
          <a:xfrm>
            <a:off x="7162800" y="41656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97" name="Sh97"/>
          <p:cNvSpPr/>
          <p:nvPr/>
        </p:nvSpPr>
        <p:spPr>
          <a:xfrm>
            <a:off x="7162800" y="4165600"/>
            <a:ext cx="2766594" cy="254000"/>
          </a:xfrm>
          <a:prstGeom prst="roundRect">
            <a:avLst>
              <a:gd name="adj" fmla="val 20000"/>
            </a:avLst>
          </a:prstGeom>
          <a:solidFill>
            <a:srgbClr val="DCEBF3"/>
          </a:solidFill>
          <a:ln>
            <a:noFill/>
          </a:ln>
        </p:spPr>
        <p:txBody>
          <a:bodyPr/>
          <a:lstStyle/>
          <a:p>
            <a:endParaRPr lang="en-US"/>
          </a:p>
        </p:txBody>
      </p:sp>
      <p:sp>
        <p:nvSpPr>
          <p:cNvPr id="98" name="Tx98"/>
          <p:cNvSpPr txBox="1"/>
          <p:nvPr/>
        </p:nvSpPr>
        <p:spPr>
          <a:xfrm>
            <a:off x="7162800" y="41656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HOUSEHOLD_1</a:t>
            </a:r>
          </a:p>
        </p:txBody>
      </p:sp>
      <p:sp>
        <p:nvSpPr>
          <p:cNvPr id="99" name="Tx99"/>
          <p:cNvSpPr txBox="1"/>
          <p:nvPr/>
        </p:nvSpPr>
        <p:spPr>
          <a:xfrm>
            <a:off x="7162800" y="41656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532 · 17,4%</a:t>
            </a:r>
          </a:p>
        </p:txBody>
      </p:sp>
      <p:sp>
        <p:nvSpPr>
          <p:cNvPr id="100" name="Sh100"/>
          <p:cNvSpPr/>
          <p:nvPr/>
        </p:nvSpPr>
        <p:spPr>
          <a:xfrm>
            <a:off x="7162800" y="44577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101" name="Sh101"/>
          <p:cNvSpPr/>
          <p:nvPr/>
        </p:nvSpPr>
        <p:spPr>
          <a:xfrm>
            <a:off x="7162800" y="4457700"/>
            <a:ext cx="2678188" cy="254000"/>
          </a:xfrm>
          <a:prstGeom prst="roundRect">
            <a:avLst>
              <a:gd name="adj" fmla="val 20000"/>
            </a:avLst>
          </a:prstGeom>
          <a:solidFill>
            <a:srgbClr val="DCEBF3"/>
          </a:solidFill>
          <a:ln>
            <a:noFill/>
          </a:ln>
        </p:spPr>
        <p:txBody>
          <a:bodyPr/>
          <a:lstStyle/>
          <a:p>
            <a:endParaRPr lang="en-US"/>
          </a:p>
        </p:txBody>
      </p:sp>
      <p:sp>
        <p:nvSpPr>
          <p:cNvPr id="102" name="Tx102"/>
          <p:cNvSpPr txBox="1"/>
          <p:nvPr/>
        </p:nvSpPr>
        <p:spPr>
          <a:xfrm>
            <a:off x="7162800" y="44577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HOUSEHOLD_2</a:t>
            </a:r>
          </a:p>
        </p:txBody>
      </p:sp>
      <p:sp>
        <p:nvSpPr>
          <p:cNvPr id="103" name="Tx103"/>
          <p:cNvSpPr txBox="1"/>
          <p:nvPr/>
        </p:nvSpPr>
        <p:spPr>
          <a:xfrm>
            <a:off x="7162800" y="44577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515 · 16,9%</a:t>
            </a:r>
          </a:p>
        </p:txBody>
      </p:sp>
      <p:sp>
        <p:nvSpPr>
          <p:cNvPr id="104" name="Sh104"/>
          <p:cNvSpPr/>
          <p:nvPr/>
        </p:nvSpPr>
        <p:spPr>
          <a:xfrm>
            <a:off x="6781800" y="4749800"/>
            <a:ext cx="4660900" cy="254000"/>
          </a:xfrm>
          <a:prstGeom prst="roundRect">
            <a:avLst>
              <a:gd name="adj" fmla="val 20000"/>
            </a:avLst>
          </a:prstGeom>
          <a:solidFill>
            <a:srgbClr val="1C7293"/>
          </a:solidFill>
          <a:ln>
            <a:noFill/>
          </a:ln>
        </p:spPr>
        <p:txBody>
          <a:bodyPr/>
          <a:lstStyle/>
          <a:p>
            <a:endParaRPr lang="en-US"/>
          </a:p>
        </p:txBody>
      </p:sp>
      <p:sp>
        <p:nvSpPr>
          <p:cNvPr id="105" name="Tx105"/>
          <p:cNvSpPr txBox="1"/>
          <p:nvPr/>
        </p:nvSpPr>
        <p:spPr>
          <a:xfrm>
            <a:off x="6781800" y="4749800"/>
            <a:ext cx="4533900" cy="254000"/>
          </a:xfrm>
          <a:prstGeom prst="rect">
            <a:avLst/>
          </a:prstGeom>
          <a:noFill/>
        </p:spPr>
        <p:txBody>
          <a:bodyPr wrap="square" lIns="127000" tIns="0" rIns="101600" bIns="0" anchor="ctr">
            <a:normAutofit/>
          </a:bodyPr>
          <a:lstStyle/>
          <a:p>
            <a:pPr marL="0" indent="0" algn="l">
              <a:buNone/>
            </a:pPr>
            <a:r>
              <a:rPr lang="en-US" sz="1400" b="1" dirty="0">
                <a:solidFill>
                  <a:srgbClr val="FFFFFF"/>
                </a:solidFill>
                <a:latin typeface="Calibri" pitchFamily="34" charset="0"/>
                <a:cs typeface="Calibri"/>
              </a:rPr>
              <a:t>HOBBIES</a:t>
            </a:r>
          </a:p>
        </p:txBody>
      </p:sp>
      <p:sp>
        <p:nvSpPr>
          <p:cNvPr id="106" name="Tx106"/>
          <p:cNvSpPr txBox="1"/>
          <p:nvPr/>
        </p:nvSpPr>
        <p:spPr>
          <a:xfrm>
            <a:off x="6781800" y="4749800"/>
            <a:ext cx="4533900" cy="254000"/>
          </a:xfrm>
          <a:prstGeom prst="rect">
            <a:avLst/>
          </a:prstGeom>
          <a:noFill/>
        </p:spPr>
        <p:txBody>
          <a:bodyPr wrap="square" lIns="152400" tIns="0" rIns="101600" bIns="0" anchor="ctr">
            <a:normAutofit/>
          </a:bodyPr>
          <a:lstStyle/>
          <a:p>
            <a:pPr marL="0" indent="0" algn="r">
              <a:buNone/>
            </a:pPr>
            <a:r>
              <a:rPr lang="en-US" sz="1400" b="1" dirty="0">
                <a:solidFill>
                  <a:srgbClr val="FFFFFF"/>
                </a:solidFill>
                <a:latin typeface="Calibri" pitchFamily="34" charset="0"/>
                <a:cs typeface="Calibri"/>
              </a:rPr>
              <a:t>565 · 18,5%</a:t>
            </a:r>
          </a:p>
        </p:txBody>
      </p:sp>
      <p:sp>
        <p:nvSpPr>
          <p:cNvPr id="107" name="Sh107"/>
          <p:cNvSpPr/>
          <p:nvPr/>
        </p:nvSpPr>
        <p:spPr>
          <a:xfrm>
            <a:off x="7162800" y="50419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108" name="Sh108"/>
          <p:cNvSpPr/>
          <p:nvPr/>
        </p:nvSpPr>
        <p:spPr>
          <a:xfrm>
            <a:off x="7162800" y="5041900"/>
            <a:ext cx="2163352" cy="254000"/>
          </a:xfrm>
          <a:prstGeom prst="roundRect">
            <a:avLst>
              <a:gd name="adj" fmla="val 20000"/>
            </a:avLst>
          </a:prstGeom>
          <a:solidFill>
            <a:srgbClr val="DCEBF3"/>
          </a:solidFill>
          <a:ln>
            <a:noFill/>
          </a:ln>
        </p:spPr>
        <p:txBody>
          <a:bodyPr/>
          <a:lstStyle/>
          <a:p>
            <a:endParaRPr lang="en-US"/>
          </a:p>
        </p:txBody>
      </p:sp>
      <p:sp>
        <p:nvSpPr>
          <p:cNvPr id="109" name="Tx109"/>
          <p:cNvSpPr txBox="1"/>
          <p:nvPr/>
        </p:nvSpPr>
        <p:spPr>
          <a:xfrm>
            <a:off x="7162800" y="50419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HOBBIES_1</a:t>
            </a:r>
          </a:p>
        </p:txBody>
      </p:sp>
      <p:sp>
        <p:nvSpPr>
          <p:cNvPr id="110" name="Tx110"/>
          <p:cNvSpPr txBox="1"/>
          <p:nvPr/>
        </p:nvSpPr>
        <p:spPr>
          <a:xfrm>
            <a:off x="7162800" y="50419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416 · 13,6%</a:t>
            </a:r>
          </a:p>
        </p:txBody>
      </p:sp>
      <p:sp>
        <p:nvSpPr>
          <p:cNvPr id="111" name="Sh111"/>
          <p:cNvSpPr/>
          <p:nvPr/>
        </p:nvSpPr>
        <p:spPr>
          <a:xfrm>
            <a:off x="7162800" y="5334000"/>
            <a:ext cx="4279900" cy="254000"/>
          </a:xfrm>
          <a:prstGeom prst="roundRect">
            <a:avLst>
              <a:gd name="adj" fmla="val 20000"/>
            </a:avLst>
          </a:prstGeom>
          <a:solidFill>
            <a:srgbClr val="F5F9FB"/>
          </a:solidFill>
          <a:ln w="12700">
            <a:solidFill>
              <a:srgbClr val="CFE1EA"/>
            </a:solidFill>
          </a:ln>
        </p:spPr>
        <p:txBody>
          <a:bodyPr/>
          <a:lstStyle/>
          <a:p>
            <a:endParaRPr lang="en-US"/>
          </a:p>
        </p:txBody>
      </p:sp>
      <p:sp>
        <p:nvSpPr>
          <p:cNvPr id="112" name="Sh112"/>
          <p:cNvSpPr/>
          <p:nvPr/>
        </p:nvSpPr>
        <p:spPr>
          <a:xfrm>
            <a:off x="7162800" y="5334000"/>
            <a:ext cx="774854" cy="254000"/>
          </a:xfrm>
          <a:prstGeom prst="roundRect">
            <a:avLst>
              <a:gd name="adj" fmla="val 20000"/>
            </a:avLst>
          </a:prstGeom>
          <a:solidFill>
            <a:srgbClr val="DCEBF3"/>
          </a:solidFill>
          <a:ln>
            <a:noFill/>
          </a:ln>
        </p:spPr>
        <p:txBody>
          <a:bodyPr/>
          <a:lstStyle/>
          <a:p>
            <a:endParaRPr lang="en-US"/>
          </a:p>
        </p:txBody>
      </p:sp>
      <p:sp>
        <p:nvSpPr>
          <p:cNvPr id="113" name="Tx113"/>
          <p:cNvSpPr txBox="1"/>
          <p:nvPr/>
        </p:nvSpPr>
        <p:spPr>
          <a:xfrm>
            <a:off x="7162800" y="5334000"/>
            <a:ext cx="4152900" cy="254000"/>
          </a:xfrm>
          <a:prstGeom prst="rect">
            <a:avLst/>
          </a:prstGeom>
          <a:noFill/>
        </p:spPr>
        <p:txBody>
          <a:bodyPr wrap="square" lIns="127000" tIns="0" rIns="101600" bIns="0" anchor="ctr">
            <a:normAutofit/>
          </a:bodyPr>
          <a:lstStyle/>
          <a:p>
            <a:pPr marL="0" indent="0" algn="l">
              <a:buNone/>
            </a:pPr>
            <a:r>
              <a:rPr lang="en-US" sz="1400" dirty="0">
                <a:solidFill>
                  <a:srgbClr val="21295C"/>
                </a:solidFill>
                <a:latin typeface="Calibri" pitchFamily="34" charset="0"/>
                <a:cs typeface="Calibri"/>
              </a:rPr>
              <a:t>HOBBIES_2</a:t>
            </a:r>
          </a:p>
        </p:txBody>
      </p:sp>
      <p:sp>
        <p:nvSpPr>
          <p:cNvPr id="114" name="Tx114"/>
          <p:cNvSpPr txBox="1"/>
          <p:nvPr/>
        </p:nvSpPr>
        <p:spPr>
          <a:xfrm>
            <a:off x="7162800" y="5334000"/>
            <a:ext cx="4152900" cy="254000"/>
          </a:xfrm>
          <a:prstGeom prst="rect">
            <a:avLst/>
          </a:prstGeom>
          <a:noFill/>
        </p:spPr>
        <p:txBody>
          <a:bodyPr wrap="square" lIns="152400" tIns="0" rIns="101600" bIns="0" anchor="ctr">
            <a:normAutofit/>
          </a:bodyPr>
          <a:lstStyle/>
          <a:p>
            <a:pPr marL="0" indent="0" algn="r">
              <a:buNone/>
            </a:pPr>
            <a:r>
              <a:rPr lang="en-US" sz="1400" dirty="0">
                <a:solidFill>
                  <a:srgbClr val="065A82"/>
                </a:solidFill>
                <a:latin typeface="Calibri" pitchFamily="34" charset="0"/>
                <a:cs typeface="Calibri"/>
              </a:rPr>
              <a:t>149 · 4,9%</a:t>
            </a:r>
          </a:p>
        </p:txBody>
      </p:sp>
      <p:sp>
        <p:nvSpPr>
          <p:cNvPr id="115" name="Sh115"/>
          <p:cNvSpPr/>
          <p:nvPr/>
        </p:nvSpPr>
        <p:spPr>
          <a:xfrm>
            <a:off x="546100" y="5816600"/>
            <a:ext cx="11099800" cy="381000"/>
          </a:xfrm>
          <a:prstGeom prst="roundRect">
            <a:avLst>
              <a:gd name="adj" fmla="val 12000"/>
            </a:avLst>
          </a:prstGeom>
          <a:solidFill>
            <a:srgbClr val="F5F9FB"/>
          </a:solidFill>
          <a:ln w="12700">
            <a:solidFill>
              <a:srgbClr val="CFE1EA"/>
            </a:solidFill>
          </a:ln>
        </p:spPr>
        <p:txBody>
          <a:bodyPr/>
          <a:lstStyle/>
          <a:p>
            <a:endParaRPr lang="en-US"/>
          </a:p>
        </p:txBody>
      </p:sp>
      <p:sp>
        <p:nvSpPr>
          <p:cNvPr id="116" name="Tx116"/>
          <p:cNvSpPr txBox="1"/>
          <p:nvPr/>
        </p:nvSpPr>
        <p:spPr>
          <a:xfrm>
            <a:off x="749300" y="5816600"/>
            <a:ext cx="10693400" cy="381000"/>
          </a:xfrm>
          <a:prstGeom prst="rect">
            <a:avLst/>
          </a:prstGeom>
          <a:noFill/>
        </p:spPr>
        <p:txBody>
          <a:bodyPr wrap="square" lIns="0" tIns="0" rIns="101600" bIns="0" anchor="ctr">
            <a:normAutofit/>
          </a:bodyPr>
          <a:lstStyle/>
          <a:p>
            <a:pPr marL="0" indent="0" algn="l">
              <a:buNone/>
            </a:pPr>
            <a:r>
              <a:rPr lang="en-US" sz="1400" dirty="0">
                <a:solidFill>
                  <a:srgbClr val="065A82"/>
                </a:solidFill>
                <a:latin typeface="Calibri" pitchFamily="34" charset="0"/>
                <a:cs typeface="Calibri"/>
              </a:rPr>
              <a:t>Dự báo ở mức lá (store_id × item_id), tổng hợp ngược lên dept / cat / bang — M5 đánh giá 42.840 chuỗi trên 12 mức tổng hợp.</a:t>
            </a:r>
          </a:p>
        </p:txBody>
      </p:sp>
      <p:sp>
        <p:nvSpPr>
          <p:cNvPr id="117" name="Tx117"/>
          <p:cNvSpPr txBox="1"/>
          <p:nvPr/>
        </p:nvSpPr>
        <p:spPr>
          <a:xfrm>
            <a:off x="546100" y="6248400"/>
            <a:ext cx="11099800" cy="254000"/>
          </a:xfrm>
          <a:prstGeom prst="rect">
            <a:avLst/>
          </a:prstGeom>
          <a:noFill/>
        </p:spPr>
        <p:txBody>
          <a:bodyPr wrap="square" lIns="0" tIns="0" rIns="101600" bIns="0" anchor="ctr">
            <a:normAutofit/>
          </a:bodyPr>
          <a:lstStyle/>
          <a:p>
            <a:pPr marL="0" indent="0" algn="l">
              <a:buNone/>
            </a:pPr>
            <a:r>
              <a:rPr lang="en-US" sz="1200" i="1" dirty="0">
                <a:solidFill>
                  <a:srgbClr val="5C6E79"/>
                </a:solidFill>
                <a:latin typeface="Calibri" pitchFamily="34" charset="0"/>
                <a:cs typeface="Calibri"/>
              </a:rPr>
              <a:t>Nguồn: M5 Forecasting — Accuracy (Walmart, Kaggle); dept_id được ẩn danh, không có tên mô tả. Dữ liệu 2011-01-29 → 2016-05-22.</a:t>
            </a:r>
          </a:p>
        </p:txBody>
      </p:sp>
    </p:spTree>
    <p:extLst>
      <p:ext uri="{BB962C8B-B14F-4D97-AF65-F5344CB8AC3E}">
        <p14:creationId xmlns:p14="http://schemas.microsoft.com/office/powerpoint/2010/main" val="1994712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065A82">
              <a:alpha val="45000"/>
            </a:srgbClr>
          </a:solidFill>
          <a:ln/>
        </p:spPr>
        <p:txBody>
          <a:bodyPr/>
          <a:lstStyle/>
          <a:p>
            <a:endParaRPr lang="en-US"/>
          </a:p>
        </p:txBody>
      </p:sp>
      <p:sp>
        <p:nvSpPr>
          <p:cNvPr id="3" name="Shape 1"/>
          <p:cNvSpPr/>
          <p:nvPr/>
        </p:nvSpPr>
        <p:spPr>
          <a:xfrm>
            <a:off x="5394960" y="1828800"/>
            <a:ext cx="1371600" cy="1371600"/>
          </a:xfrm>
          <a:prstGeom prst="ellipse">
            <a:avLst/>
          </a:prstGeom>
          <a:solidFill>
            <a:srgbClr val="065A82"/>
          </a:solidFill>
          <a:ln/>
        </p:spPr>
        <p:txBody>
          <a:bodyPr/>
          <a:lstStyle/>
          <a:p>
            <a:endParaRPr lang="en-US"/>
          </a:p>
        </p:txBody>
      </p:sp>
      <p:pic>
        <p:nvPicPr>
          <p:cNvPr id="4" name="Image 0" descr="/tmp/deck/icon_cogs_white.png"/>
          <p:cNvPicPr>
            <a:picLocks noChangeAspect="1"/>
          </p:cNvPicPr>
          <p:nvPr/>
        </p:nvPicPr>
        <p:blipFill>
          <a:blip r:embed="rId3"/>
          <a:stretch>
            <a:fillRect/>
          </a:stretch>
        </p:blipFill>
        <p:spPr>
          <a:xfrm>
            <a:off x="5573268" y="2007108"/>
            <a:ext cx="1014984" cy="1014984"/>
          </a:xfrm>
          <a:prstGeom prst="rect">
            <a:avLst/>
          </a:prstGeom>
        </p:spPr>
      </p:pic>
      <p:sp>
        <p:nvSpPr>
          <p:cNvPr id="5" name="Text 2"/>
          <p:cNvSpPr/>
          <p:nvPr/>
        </p:nvSpPr>
        <p:spPr>
          <a:xfrm>
            <a:off x="914400" y="3657600"/>
            <a:ext cx="10332720" cy="1463040"/>
          </a:xfrm>
          <a:prstGeom prst="rect">
            <a:avLst/>
          </a:prstGeom>
          <a:noFill/>
          <a:ln/>
        </p:spPr>
        <p:txBody>
          <a:bodyPr wrap="square" rtlCol="0" anchor="ctr"/>
          <a:lstStyle/>
          <a:p>
            <a:pPr marL="0" indent="0" algn="ctr">
              <a:lnSpc>
                <a:spcPts val="3800"/>
              </a:lnSpc>
              <a:buNone/>
            </a:pPr>
            <a:r>
              <a:rPr lang="en-US" sz="3200" b="1" dirty="0">
                <a:solidFill>
                  <a:srgbClr val="FFFFFF"/>
                </a:solidFill>
                <a:latin typeface="Cambria" pitchFamily="34" charset="0"/>
                <a:ea typeface="Cambria" pitchFamily="34" charset="-122"/>
                <a:cs typeface="Cambria" pitchFamily="34" charset="-120"/>
              </a:rPr>
              <a:t>Từ vấn đề domain</a:t>
            </a:r>
            <a:endParaRPr lang="en-US" sz="3200" dirty="0"/>
          </a:p>
          <a:p>
            <a:pPr marL="0" indent="0" algn="ctr">
              <a:lnSpc>
                <a:spcPts val="3800"/>
              </a:lnSpc>
              <a:buNone/>
            </a:pPr>
            <a:r>
              <a:rPr lang="en-US" sz="3200" b="1" dirty="0">
                <a:solidFill>
                  <a:srgbClr val="FFFFFF"/>
                </a:solidFill>
                <a:latin typeface="Cambria" pitchFamily="34" charset="0"/>
                <a:ea typeface="Cambria" pitchFamily="34" charset="-122"/>
                <a:cs typeface="Cambria" pitchFamily="34" charset="-120"/>
              </a:rPr>
              <a:t>đến kiến trúc pipeline</a:t>
            </a:r>
            <a:endParaRPr lang="en-US" sz="3200" dirty="0"/>
          </a:p>
        </p:txBody>
      </p:sp>
      <p:sp>
        <p:nvSpPr>
          <p:cNvPr id="6" name="Text 3"/>
          <p:cNvSpPr/>
          <p:nvPr/>
        </p:nvSpPr>
        <p:spPr>
          <a:xfrm>
            <a:off x="914400" y="5074920"/>
            <a:ext cx="10332720" cy="457200"/>
          </a:xfrm>
          <a:prstGeom prst="rect">
            <a:avLst/>
          </a:prstGeom>
          <a:noFill/>
          <a:ln/>
        </p:spPr>
        <p:txBody>
          <a:bodyPr wrap="square" rtlCol="0" anchor="ctr"/>
          <a:lstStyle/>
          <a:p>
            <a:pPr marL="0" indent="0" algn="ctr">
              <a:buNone/>
            </a:pPr>
            <a:r>
              <a:rPr lang="en-US" sz="1400" i="1" dirty="0">
                <a:solidFill>
                  <a:srgbClr val="CFE8F3"/>
                </a:solidFill>
                <a:latin typeface="Calibri" pitchFamily="34" charset="0"/>
                <a:ea typeface="Calibri" pitchFamily="34" charset="-122"/>
                <a:cs typeface="Calibri" pitchFamily="34" charset="-120"/>
              </a:rPr>
              <a:t>7 vấn đề trên → chuyển thành các quyết định thiết kế cụ thể trong 10 giai đoạn pipeline</a:t>
            </a:r>
            <a:endParaRPr lang="en-US" sz="1400" dirty="0"/>
          </a:p>
        </p:txBody>
      </p:sp>
      <p:sp>
        <p:nvSpPr>
          <p:cNvPr id="7" name="Text 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8FA6C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10" name="Tx10"/>
          <p:cNvSpPr txBox="1"/>
          <p:nvPr/>
        </p:nvSpPr>
        <p:spPr>
          <a:xfrm>
            <a:off x="546100" y="381000"/>
            <a:ext cx="7620000" cy="279400"/>
          </a:xfrm>
          <a:prstGeom prst="rect">
            <a:avLst/>
          </a:prstGeom>
          <a:noFill/>
        </p:spPr>
        <p:txBody>
          <a:bodyPr wrap="square" lIns="0" tIns="0" rIns="0" bIns="0" anchor="t"/>
          <a:lstStyle/>
          <a:p>
            <a:pPr marL="0" indent="0" algn="l">
              <a:lnSpc>
                <a:spcPts val="1500"/>
              </a:lnSpc>
              <a:buNone/>
            </a:pPr>
            <a:r>
              <a:rPr lang="en-US" sz="1200" b="1" spc="200" dirty="0">
                <a:solidFill>
                  <a:srgbClr val="065A82"/>
                </a:solidFill>
                <a:latin typeface="Calibri" pitchFamily="34" charset="0"/>
                <a:cs typeface="Calibri"/>
              </a:rPr>
              <a:t>KIẾN TRÚC</a:t>
            </a:r>
          </a:p>
        </p:txBody>
      </p:sp>
      <p:sp>
        <p:nvSpPr>
          <p:cNvPr id="11" name="Tx11"/>
          <p:cNvSpPr txBox="1"/>
          <p:nvPr/>
        </p:nvSpPr>
        <p:spPr>
          <a:xfrm>
            <a:off x="546100" y="660400"/>
            <a:ext cx="10795000" cy="508000"/>
          </a:xfrm>
          <a:prstGeom prst="rect">
            <a:avLst/>
          </a:prstGeom>
          <a:noFill/>
        </p:spPr>
        <p:txBody>
          <a:bodyPr wrap="square" lIns="0" tIns="0" rIns="0" bIns="0" anchor="t"/>
          <a:lstStyle/>
          <a:p>
            <a:pPr marL="0" indent="0" algn="l">
              <a:lnSpc>
                <a:spcPts val="3400"/>
              </a:lnSpc>
              <a:buNone/>
            </a:pPr>
            <a:r>
              <a:rPr lang="en-US" sz="2800" b="1" dirty="0">
                <a:solidFill>
                  <a:srgbClr val="21295C"/>
                </a:solidFill>
                <a:latin typeface="Cambria" pitchFamily="34" charset="0"/>
                <a:cs typeface="Cambria"/>
              </a:rPr>
              <a:t>Pipeline tổng thể — 10 giai đoạn modular</a:t>
            </a:r>
          </a:p>
        </p:txBody>
      </p:sp>
      <p:sp>
        <p:nvSpPr>
          <p:cNvPr id="12" name="Tx12"/>
          <p:cNvSpPr txBox="1"/>
          <p:nvPr/>
        </p:nvSpPr>
        <p:spPr>
          <a:xfrm>
            <a:off x="546100" y="1219200"/>
            <a:ext cx="10795000" cy="2794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Mỗi giai đoạn = 1 module độc lập, input/output rõ ràng, không rò rỉ thông tin giữa các giai đoạn.</a:t>
            </a:r>
          </a:p>
        </p:txBody>
      </p:sp>
      <p:sp>
        <p:nvSpPr>
          <p:cNvPr id="13" name="Tx13"/>
          <p:cNvSpPr txBox="1"/>
          <p:nvPr/>
        </p:nvSpPr>
        <p:spPr>
          <a:xfrm>
            <a:off x="546100" y="1955800"/>
            <a:ext cx="1498600" cy="558800"/>
          </a:xfrm>
          <a:prstGeom prst="rect">
            <a:avLst/>
          </a:prstGeom>
          <a:noFill/>
        </p:spPr>
        <p:txBody>
          <a:bodyPr wrap="square" lIns="0" tIns="0" rIns="0" bIns="0" anchor="t"/>
          <a:lstStyle/>
          <a:p>
            <a:pPr marL="0" indent="0" algn="l">
              <a:lnSpc>
                <a:spcPts val="1700"/>
              </a:lnSpc>
              <a:buNone/>
            </a:pPr>
            <a:r>
              <a:rPr lang="en-US" sz="1400" b="1" dirty="0">
                <a:solidFill>
                  <a:srgbClr val="065A82"/>
                </a:solidFill>
                <a:latin typeface="Calibri" pitchFamily="34" charset="0"/>
                <a:cs typeface="Calibri"/>
              </a:rPr>
              <a:t>0–3 · DỮ LIỆU</a:t>
            </a:r>
          </a:p>
          <a:p>
            <a:pPr marL="0" indent="0" algn="l">
              <a:lnSpc>
                <a:spcPts val="1700"/>
              </a:lnSpc>
              <a:buNone/>
            </a:pPr>
            <a:r>
              <a:rPr lang="en-US" sz="1400" i="1" dirty="0">
                <a:solidFill>
                  <a:srgbClr val="5C6E79"/>
                </a:solidFill>
                <a:latin typeface="Calibri" pitchFamily="34" charset="0"/>
                <a:cs typeface="Calibri"/>
              </a:rPr>
              <a:t>Chống leakage</a:t>
            </a:r>
          </a:p>
        </p:txBody>
      </p:sp>
      <p:sp>
        <p:nvSpPr>
          <p:cNvPr id="14" name="Sh14"/>
          <p:cNvSpPr/>
          <p:nvPr/>
        </p:nvSpPr>
        <p:spPr>
          <a:xfrm>
            <a:off x="2057400" y="1727200"/>
            <a:ext cx="38100" cy="1143000"/>
          </a:xfrm>
          <a:prstGeom prst="rect">
            <a:avLst/>
          </a:prstGeom>
          <a:solidFill>
            <a:srgbClr val="1C7293"/>
          </a:solidFill>
          <a:ln>
            <a:noFill/>
          </a:ln>
        </p:spPr>
        <p:txBody>
          <a:bodyPr/>
          <a:lstStyle/>
          <a:p>
            <a:endParaRPr lang="en-US"/>
          </a:p>
        </p:txBody>
      </p:sp>
      <p:sp>
        <p:nvSpPr>
          <p:cNvPr id="15" name="Sh15"/>
          <p:cNvSpPr/>
          <p:nvPr/>
        </p:nvSpPr>
        <p:spPr>
          <a:xfrm>
            <a:off x="2184400" y="1727200"/>
            <a:ext cx="2184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16" name="Sh16"/>
          <p:cNvSpPr/>
          <p:nvPr/>
        </p:nvSpPr>
        <p:spPr>
          <a:xfrm>
            <a:off x="2336800" y="1879600"/>
            <a:ext cx="279400" cy="254000"/>
          </a:xfrm>
          <a:prstGeom prst="roundRect">
            <a:avLst>
              <a:gd name="adj" fmla="val 25000"/>
            </a:avLst>
          </a:prstGeom>
          <a:solidFill>
            <a:srgbClr val="1C7293"/>
          </a:solidFill>
          <a:ln>
            <a:noFill/>
          </a:ln>
        </p:spPr>
        <p:txBody>
          <a:bodyPr/>
          <a:lstStyle/>
          <a:p>
            <a:endParaRPr lang="en-US"/>
          </a:p>
        </p:txBody>
      </p:sp>
      <p:sp>
        <p:nvSpPr>
          <p:cNvPr id="17" name="Tx17"/>
          <p:cNvSpPr txBox="1"/>
          <p:nvPr/>
        </p:nvSpPr>
        <p:spPr>
          <a:xfrm>
            <a:off x="2336800" y="1892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0</a:t>
            </a:r>
          </a:p>
        </p:txBody>
      </p:sp>
      <p:sp>
        <p:nvSpPr>
          <p:cNvPr id="18" name="Tx18"/>
          <p:cNvSpPr txBox="1"/>
          <p:nvPr/>
        </p:nvSpPr>
        <p:spPr>
          <a:xfrm>
            <a:off x="2692400" y="1892300"/>
            <a:ext cx="1549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Problem Framing</a:t>
            </a:r>
          </a:p>
        </p:txBody>
      </p:sp>
      <p:sp>
        <p:nvSpPr>
          <p:cNvPr id="19" name="Tx19"/>
          <p:cNvSpPr txBox="1"/>
          <p:nvPr/>
        </p:nvSpPr>
        <p:spPr>
          <a:xfrm>
            <a:off x="2336800" y="2413000"/>
            <a:ext cx="1879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Chốt horizon, chiến lược, metric (WMAPE)</a:t>
            </a:r>
          </a:p>
        </p:txBody>
      </p:sp>
      <p:sp>
        <p:nvSpPr>
          <p:cNvPr id="20" name="Sh20"/>
          <p:cNvSpPr/>
          <p:nvPr/>
        </p:nvSpPr>
        <p:spPr>
          <a:xfrm>
            <a:off x="4610100" y="1727200"/>
            <a:ext cx="2184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21" name="Sh21"/>
          <p:cNvSpPr/>
          <p:nvPr/>
        </p:nvSpPr>
        <p:spPr>
          <a:xfrm>
            <a:off x="4762500" y="1879600"/>
            <a:ext cx="279400" cy="254000"/>
          </a:xfrm>
          <a:prstGeom prst="roundRect">
            <a:avLst>
              <a:gd name="adj" fmla="val 25000"/>
            </a:avLst>
          </a:prstGeom>
          <a:solidFill>
            <a:srgbClr val="1C7293"/>
          </a:solidFill>
          <a:ln>
            <a:noFill/>
          </a:ln>
        </p:spPr>
        <p:txBody>
          <a:bodyPr/>
          <a:lstStyle/>
          <a:p>
            <a:endParaRPr lang="en-US"/>
          </a:p>
        </p:txBody>
      </p:sp>
      <p:sp>
        <p:nvSpPr>
          <p:cNvPr id="22" name="Tx22"/>
          <p:cNvSpPr txBox="1"/>
          <p:nvPr/>
        </p:nvSpPr>
        <p:spPr>
          <a:xfrm>
            <a:off x="4762500" y="1892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1</a:t>
            </a:r>
          </a:p>
        </p:txBody>
      </p:sp>
      <p:sp>
        <p:nvSpPr>
          <p:cNvPr id="23" name="Tx23"/>
          <p:cNvSpPr txBox="1"/>
          <p:nvPr/>
        </p:nvSpPr>
        <p:spPr>
          <a:xfrm>
            <a:off x="5118100" y="1892300"/>
            <a:ext cx="1549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Data Ingestion</a:t>
            </a:r>
          </a:p>
        </p:txBody>
      </p:sp>
      <p:sp>
        <p:nvSpPr>
          <p:cNvPr id="24" name="Tx24"/>
          <p:cNvSpPr txBox="1"/>
          <p:nvPr/>
        </p:nvSpPr>
        <p:spPr>
          <a:xfrm>
            <a:off x="4762500" y="2413000"/>
            <a:ext cx="1879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Validate schema · toàn vẹn thời gian</a:t>
            </a:r>
          </a:p>
        </p:txBody>
      </p:sp>
      <p:sp>
        <p:nvSpPr>
          <p:cNvPr id="25" name="Sh25"/>
          <p:cNvSpPr/>
          <p:nvPr/>
        </p:nvSpPr>
        <p:spPr>
          <a:xfrm>
            <a:off x="7035800" y="1727200"/>
            <a:ext cx="2184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26" name="Sh26"/>
          <p:cNvSpPr/>
          <p:nvPr/>
        </p:nvSpPr>
        <p:spPr>
          <a:xfrm>
            <a:off x="7188200" y="1879600"/>
            <a:ext cx="279400" cy="254000"/>
          </a:xfrm>
          <a:prstGeom prst="roundRect">
            <a:avLst>
              <a:gd name="adj" fmla="val 25000"/>
            </a:avLst>
          </a:prstGeom>
          <a:solidFill>
            <a:srgbClr val="1C7293"/>
          </a:solidFill>
          <a:ln>
            <a:noFill/>
          </a:ln>
        </p:spPr>
        <p:txBody>
          <a:bodyPr/>
          <a:lstStyle/>
          <a:p>
            <a:endParaRPr lang="en-US"/>
          </a:p>
        </p:txBody>
      </p:sp>
      <p:sp>
        <p:nvSpPr>
          <p:cNvPr id="27" name="Tx27"/>
          <p:cNvSpPr txBox="1"/>
          <p:nvPr/>
        </p:nvSpPr>
        <p:spPr>
          <a:xfrm>
            <a:off x="7188200" y="1892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2</a:t>
            </a:r>
          </a:p>
        </p:txBody>
      </p:sp>
      <p:sp>
        <p:nvSpPr>
          <p:cNvPr id="28" name="Tx28"/>
          <p:cNvSpPr txBox="1"/>
          <p:nvPr/>
        </p:nvSpPr>
        <p:spPr>
          <a:xfrm>
            <a:off x="7543800" y="1892300"/>
            <a:ext cx="1549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Temporal Split</a:t>
            </a:r>
          </a:p>
        </p:txBody>
      </p:sp>
      <p:sp>
        <p:nvSpPr>
          <p:cNvPr id="29" name="Tx29"/>
          <p:cNvSpPr txBox="1"/>
          <p:nvPr/>
        </p:nvSpPr>
        <p:spPr>
          <a:xfrm>
            <a:off x="7188200" y="2413000"/>
            <a:ext cx="1879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Cắt mốc thời gian TRƯỚC feature eng.</a:t>
            </a:r>
          </a:p>
        </p:txBody>
      </p:sp>
      <p:sp>
        <p:nvSpPr>
          <p:cNvPr id="30" name="Sh30"/>
          <p:cNvSpPr/>
          <p:nvPr/>
        </p:nvSpPr>
        <p:spPr>
          <a:xfrm>
            <a:off x="9461500" y="1727200"/>
            <a:ext cx="2184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31" name="Sh31"/>
          <p:cNvSpPr/>
          <p:nvPr/>
        </p:nvSpPr>
        <p:spPr>
          <a:xfrm>
            <a:off x="9613900" y="1879600"/>
            <a:ext cx="279400" cy="254000"/>
          </a:xfrm>
          <a:prstGeom prst="roundRect">
            <a:avLst>
              <a:gd name="adj" fmla="val 25000"/>
            </a:avLst>
          </a:prstGeom>
          <a:solidFill>
            <a:srgbClr val="1C7293"/>
          </a:solidFill>
          <a:ln>
            <a:noFill/>
          </a:ln>
        </p:spPr>
        <p:txBody>
          <a:bodyPr/>
          <a:lstStyle/>
          <a:p>
            <a:endParaRPr lang="en-US"/>
          </a:p>
        </p:txBody>
      </p:sp>
      <p:sp>
        <p:nvSpPr>
          <p:cNvPr id="32" name="Tx32"/>
          <p:cNvSpPr txBox="1"/>
          <p:nvPr/>
        </p:nvSpPr>
        <p:spPr>
          <a:xfrm>
            <a:off x="9613900" y="1892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3</a:t>
            </a:r>
          </a:p>
        </p:txBody>
      </p:sp>
      <p:sp>
        <p:nvSpPr>
          <p:cNvPr id="33" name="Tx33"/>
          <p:cNvSpPr txBox="1"/>
          <p:nvPr/>
        </p:nvSpPr>
        <p:spPr>
          <a:xfrm>
            <a:off x="9969500" y="1892300"/>
            <a:ext cx="1549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Feature Eng.</a:t>
            </a:r>
          </a:p>
        </p:txBody>
      </p:sp>
      <p:sp>
        <p:nvSpPr>
          <p:cNvPr id="34" name="Tx34"/>
          <p:cNvSpPr txBox="1"/>
          <p:nvPr/>
        </p:nvSpPr>
        <p:spPr>
          <a:xfrm>
            <a:off x="9613900" y="2413000"/>
            <a:ext cx="1879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Lag · Rolling · Calendar · Price/Promo</a:t>
            </a:r>
          </a:p>
        </p:txBody>
      </p:sp>
      <p:sp>
        <p:nvSpPr>
          <p:cNvPr id="35" name="Tx35"/>
          <p:cNvSpPr txBox="1"/>
          <p:nvPr/>
        </p:nvSpPr>
        <p:spPr>
          <a:xfrm>
            <a:off x="546100" y="3479800"/>
            <a:ext cx="1498600" cy="558800"/>
          </a:xfrm>
          <a:prstGeom prst="rect">
            <a:avLst/>
          </a:prstGeom>
          <a:noFill/>
        </p:spPr>
        <p:txBody>
          <a:bodyPr wrap="square" lIns="0" tIns="0" rIns="0" bIns="0" anchor="t"/>
          <a:lstStyle/>
          <a:p>
            <a:pPr marL="0" indent="0" algn="l">
              <a:lnSpc>
                <a:spcPts val="1700"/>
              </a:lnSpc>
              <a:buNone/>
            </a:pPr>
            <a:r>
              <a:rPr lang="en-US" sz="1400" b="1" dirty="0">
                <a:solidFill>
                  <a:srgbClr val="065A82"/>
                </a:solidFill>
                <a:latin typeface="Calibri" pitchFamily="34" charset="0"/>
                <a:cs typeface="Calibri"/>
              </a:rPr>
              <a:t>4–6 · MÔ HÌNH</a:t>
            </a:r>
          </a:p>
          <a:p>
            <a:pPr marL="0" indent="0" algn="l">
              <a:lnSpc>
                <a:spcPts val="1700"/>
              </a:lnSpc>
              <a:buNone/>
            </a:pPr>
            <a:r>
              <a:rPr lang="en-US" sz="1400" i="1" dirty="0">
                <a:solidFill>
                  <a:srgbClr val="5C6E79"/>
                </a:solidFill>
                <a:latin typeface="Calibri" pitchFamily="34" charset="0"/>
                <a:cs typeface="Calibri"/>
              </a:rPr>
              <a:t>Tree progression</a:t>
            </a:r>
          </a:p>
        </p:txBody>
      </p:sp>
      <p:sp>
        <p:nvSpPr>
          <p:cNvPr id="36" name="Sh36"/>
          <p:cNvSpPr/>
          <p:nvPr/>
        </p:nvSpPr>
        <p:spPr>
          <a:xfrm>
            <a:off x="2057400" y="3251200"/>
            <a:ext cx="38100" cy="1143000"/>
          </a:xfrm>
          <a:prstGeom prst="rect">
            <a:avLst/>
          </a:prstGeom>
          <a:solidFill>
            <a:srgbClr val="065A82"/>
          </a:solidFill>
          <a:ln>
            <a:noFill/>
          </a:ln>
        </p:spPr>
        <p:txBody>
          <a:bodyPr/>
          <a:lstStyle/>
          <a:p>
            <a:endParaRPr lang="en-US"/>
          </a:p>
        </p:txBody>
      </p:sp>
      <p:sp>
        <p:nvSpPr>
          <p:cNvPr id="37" name="Sh37"/>
          <p:cNvSpPr/>
          <p:nvPr/>
        </p:nvSpPr>
        <p:spPr>
          <a:xfrm>
            <a:off x="2184400" y="3251200"/>
            <a:ext cx="2946400" cy="1143000"/>
          </a:xfrm>
          <a:prstGeom prst="roundRect">
            <a:avLst>
              <a:gd name="adj" fmla="val 9000"/>
            </a:avLst>
          </a:prstGeom>
          <a:solidFill>
            <a:srgbClr val="EDF4F8"/>
          </a:solidFill>
          <a:ln w="12700">
            <a:solidFill>
              <a:srgbClr val="9CB8C6"/>
            </a:solidFill>
          </a:ln>
        </p:spPr>
        <p:txBody>
          <a:bodyPr/>
          <a:lstStyle/>
          <a:p>
            <a:endParaRPr lang="en-US"/>
          </a:p>
        </p:txBody>
      </p:sp>
      <p:sp>
        <p:nvSpPr>
          <p:cNvPr id="38" name="Sh38"/>
          <p:cNvSpPr/>
          <p:nvPr/>
        </p:nvSpPr>
        <p:spPr>
          <a:xfrm>
            <a:off x="2336800" y="3403600"/>
            <a:ext cx="279400" cy="254000"/>
          </a:xfrm>
          <a:prstGeom prst="roundRect">
            <a:avLst>
              <a:gd name="adj" fmla="val 25000"/>
            </a:avLst>
          </a:prstGeom>
          <a:solidFill>
            <a:srgbClr val="065A82"/>
          </a:solidFill>
          <a:ln>
            <a:noFill/>
          </a:ln>
        </p:spPr>
        <p:txBody>
          <a:bodyPr/>
          <a:lstStyle/>
          <a:p>
            <a:endParaRPr lang="en-US"/>
          </a:p>
        </p:txBody>
      </p:sp>
      <p:sp>
        <p:nvSpPr>
          <p:cNvPr id="39" name="Tx39"/>
          <p:cNvSpPr txBox="1"/>
          <p:nvPr/>
        </p:nvSpPr>
        <p:spPr>
          <a:xfrm>
            <a:off x="2336800" y="3416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4</a:t>
            </a:r>
          </a:p>
        </p:txBody>
      </p:sp>
      <p:sp>
        <p:nvSpPr>
          <p:cNvPr id="40" name="Tx40"/>
          <p:cNvSpPr txBox="1"/>
          <p:nvPr/>
        </p:nvSpPr>
        <p:spPr>
          <a:xfrm>
            <a:off x="2692400" y="3416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Baseline Models</a:t>
            </a:r>
          </a:p>
        </p:txBody>
      </p:sp>
      <p:sp>
        <p:nvSpPr>
          <p:cNvPr id="41" name="Tx41"/>
          <p:cNvSpPr txBox="1"/>
          <p:nvPr/>
        </p:nvSpPr>
        <p:spPr>
          <a:xfrm>
            <a:off x="2336800" y="3937000"/>
            <a:ext cx="2641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Decision Tree — mốc so sánh</a:t>
            </a:r>
          </a:p>
        </p:txBody>
      </p:sp>
      <p:sp>
        <p:nvSpPr>
          <p:cNvPr id="42" name="Sh42"/>
          <p:cNvSpPr/>
          <p:nvPr/>
        </p:nvSpPr>
        <p:spPr>
          <a:xfrm>
            <a:off x="5441950" y="3251200"/>
            <a:ext cx="2946400" cy="1143000"/>
          </a:xfrm>
          <a:prstGeom prst="roundRect">
            <a:avLst>
              <a:gd name="adj" fmla="val 9000"/>
            </a:avLst>
          </a:prstGeom>
          <a:solidFill>
            <a:srgbClr val="EDF4F8"/>
          </a:solidFill>
          <a:ln w="12700">
            <a:solidFill>
              <a:srgbClr val="9CB8C6"/>
            </a:solidFill>
          </a:ln>
        </p:spPr>
        <p:txBody>
          <a:bodyPr/>
          <a:lstStyle/>
          <a:p>
            <a:endParaRPr lang="en-US"/>
          </a:p>
        </p:txBody>
      </p:sp>
      <p:sp>
        <p:nvSpPr>
          <p:cNvPr id="43" name="Sh43"/>
          <p:cNvSpPr/>
          <p:nvPr/>
        </p:nvSpPr>
        <p:spPr>
          <a:xfrm>
            <a:off x="5594350" y="3403600"/>
            <a:ext cx="279400" cy="254000"/>
          </a:xfrm>
          <a:prstGeom prst="roundRect">
            <a:avLst>
              <a:gd name="adj" fmla="val 25000"/>
            </a:avLst>
          </a:prstGeom>
          <a:solidFill>
            <a:srgbClr val="065A82"/>
          </a:solidFill>
          <a:ln>
            <a:noFill/>
          </a:ln>
        </p:spPr>
        <p:txBody>
          <a:bodyPr/>
          <a:lstStyle/>
          <a:p>
            <a:endParaRPr lang="en-US"/>
          </a:p>
        </p:txBody>
      </p:sp>
      <p:sp>
        <p:nvSpPr>
          <p:cNvPr id="44" name="Tx44"/>
          <p:cNvSpPr txBox="1"/>
          <p:nvPr/>
        </p:nvSpPr>
        <p:spPr>
          <a:xfrm>
            <a:off x="5594350" y="3416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5</a:t>
            </a:r>
          </a:p>
        </p:txBody>
      </p:sp>
      <p:sp>
        <p:nvSpPr>
          <p:cNvPr id="45" name="Tx45"/>
          <p:cNvSpPr txBox="1"/>
          <p:nvPr/>
        </p:nvSpPr>
        <p:spPr>
          <a:xfrm>
            <a:off x="5949950" y="3416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Model Training</a:t>
            </a:r>
          </a:p>
        </p:txBody>
      </p:sp>
      <p:sp>
        <p:nvSpPr>
          <p:cNvPr id="46" name="Tx46"/>
          <p:cNvSpPr txBox="1"/>
          <p:nvPr/>
        </p:nvSpPr>
        <p:spPr>
          <a:xfrm>
            <a:off x="5594350" y="3937000"/>
            <a:ext cx="2641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DT → RF → GBM → LightGBM (chính) → XGBoost</a:t>
            </a:r>
          </a:p>
        </p:txBody>
      </p:sp>
      <p:sp>
        <p:nvSpPr>
          <p:cNvPr id="47" name="Sh47"/>
          <p:cNvSpPr/>
          <p:nvPr/>
        </p:nvSpPr>
        <p:spPr>
          <a:xfrm>
            <a:off x="8699500" y="3251200"/>
            <a:ext cx="2946400" cy="1143000"/>
          </a:xfrm>
          <a:prstGeom prst="roundRect">
            <a:avLst>
              <a:gd name="adj" fmla="val 9000"/>
            </a:avLst>
          </a:prstGeom>
          <a:solidFill>
            <a:srgbClr val="EDF4F8"/>
          </a:solidFill>
          <a:ln w="12700">
            <a:solidFill>
              <a:srgbClr val="9CB8C6"/>
            </a:solidFill>
          </a:ln>
        </p:spPr>
        <p:txBody>
          <a:bodyPr/>
          <a:lstStyle/>
          <a:p>
            <a:endParaRPr lang="en-US"/>
          </a:p>
        </p:txBody>
      </p:sp>
      <p:sp>
        <p:nvSpPr>
          <p:cNvPr id="48" name="Sh48"/>
          <p:cNvSpPr/>
          <p:nvPr/>
        </p:nvSpPr>
        <p:spPr>
          <a:xfrm>
            <a:off x="8851900" y="3403600"/>
            <a:ext cx="279400" cy="254000"/>
          </a:xfrm>
          <a:prstGeom prst="roundRect">
            <a:avLst>
              <a:gd name="adj" fmla="val 25000"/>
            </a:avLst>
          </a:prstGeom>
          <a:solidFill>
            <a:srgbClr val="065A82"/>
          </a:solidFill>
          <a:ln>
            <a:noFill/>
          </a:ln>
        </p:spPr>
        <p:txBody>
          <a:bodyPr/>
          <a:lstStyle/>
          <a:p>
            <a:endParaRPr lang="en-US"/>
          </a:p>
        </p:txBody>
      </p:sp>
      <p:sp>
        <p:nvSpPr>
          <p:cNvPr id="49" name="Tx49"/>
          <p:cNvSpPr txBox="1"/>
          <p:nvPr/>
        </p:nvSpPr>
        <p:spPr>
          <a:xfrm>
            <a:off x="8851900" y="3416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6</a:t>
            </a:r>
          </a:p>
        </p:txBody>
      </p:sp>
      <p:sp>
        <p:nvSpPr>
          <p:cNvPr id="50" name="Tx50"/>
          <p:cNvSpPr txBox="1"/>
          <p:nvPr/>
        </p:nvSpPr>
        <p:spPr>
          <a:xfrm>
            <a:off x="9207500" y="3416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Optuna Tuning</a:t>
            </a:r>
          </a:p>
        </p:txBody>
      </p:sp>
      <p:sp>
        <p:nvSpPr>
          <p:cNvPr id="51" name="Tx51"/>
          <p:cNvSpPr txBox="1"/>
          <p:nvPr/>
        </p:nvSpPr>
        <p:spPr>
          <a:xfrm>
            <a:off x="8851900" y="3937000"/>
            <a:ext cx="2641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Walk-forward validation · log toàn bộ trial</a:t>
            </a:r>
          </a:p>
        </p:txBody>
      </p:sp>
      <p:sp>
        <p:nvSpPr>
          <p:cNvPr id="52" name="Tx52"/>
          <p:cNvSpPr txBox="1"/>
          <p:nvPr/>
        </p:nvSpPr>
        <p:spPr>
          <a:xfrm>
            <a:off x="546100" y="5003800"/>
            <a:ext cx="1498600" cy="558800"/>
          </a:xfrm>
          <a:prstGeom prst="rect">
            <a:avLst/>
          </a:prstGeom>
          <a:noFill/>
        </p:spPr>
        <p:txBody>
          <a:bodyPr wrap="square" lIns="0" tIns="0" rIns="0" bIns="0" anchor="t"/>
          <a:lstStyle/>
          <a:p>
            <a:pPr marL="0" indent="0" algn="l">
              <a:lnSpc>
                <a:spcPts val="1700"/>
              </a:lnSpc>
              <a:buNone/>
            </a:pPr>
            <a:r>
              <a:rPr lang="en-US" sz="1400" b="1" dirty="0">
                <a:solidFill>
                  <a:srgbClr val="065A82"/>
                </a:solidFill>
                <a:latin typeface="Calibri" pitchFamily="34" charset="0"/>
                <a:cs typeface="Calibri"/>
              </a:rPr>
              <a:t>7–9 · KIỂM ĐỊNH</a:t>
            </a:r>
          </a:p>
          <a:p>
            <a:pPr marL="0" indent="0" algn="l">
              <a:lnSpc>
                <a:spcPts val="1700"/>
              </a:lnSpc>
              <a:buNone/>
            </a:pPr>
            <a:r>
              <a:rPr lang="en-US" sz="1400" i="1" dirty="0">
                <a:solidFill>
                  <a:srgbClr val="5C6E79"/>
                </a:solidFill>
                <a:latin typeface="Calibri" pitchFamily="34" charset="0"/>
                <a:cs typeface="Calibri"/>
              </a:rPr>
              <a:t>Giải thích &amp; bàn giao</a:t>
            </a:r>
          </a:p>
        </p:txBody>
      </p:sp>
      <p:sp>
        <p:nvSpPr>
          <p:cNvPr id="53" name="Sh53"/>
          <p:cNvSpPr/>
          <p:nvPr/>
        </p:nvSpPr>
        <p:spPr>
          <a:xfrm>
            <a:off x="2057400" y="4775200"/>
            <a:ext cx="38100" cy="1143000"/>
          </a:xfrm>
          <a:prstGeom prst="rect">
            <a:avLst/>
          </a:prstGeom>
          <a:solidFill>
            <a:srgbClr val="1C7293"/>
          </a:solidFill>
          <a:ln>
            <a:noFill/>
          </a:ln>
        </p:spPr>
        <p:txBody>
          <a:bodyPr/>
          <a:lstStyle/>
          <a:p>
            <a:endParaRPr lang="en-US"/>
          </a:p>
        </p:txBody>
      </p:sp>
      <p:sp>
        <p:nvSpPr>
          <p:cNvPr id="54" name="Sh54"/>
          <p:cNvSpPr/>
          <p:nvPr/>
        </p:nvSpPr>
        <p:spPr>
          <a:xfrm>
            <a:off x="2184400" y="4775200"/>
            <a:ext cx="2946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55" name="Sh55"/>
          <p:cNvSpPr/>
          <p:nvPr/>
        </p:nvSpPr>
        <p:spPr>
          <a:xfrm>
            <a:off x="2336800" y="4927600"/>
            <a:ext cx="279400" cy="254000"/>
          </a:xfrm>
          <a:prstGeom prst="roundRect">
            <a:avLst>
              <a:gd name="adj" fmla="val 25000"/>
            </a:avLst>
          </a:prstGeom>
          <a:solidFill>
            <a:srgbClr val="1C7293"/>
          </a:solidFill>
          <a:ln>
            <a:noFill/>
          </a:ln>
        </p:spPr>
        <p:txBody>
          <a:bodyPr/>
          <a:lstStyle/>
          <a:p>
            <a:endParaRPr lang="en-US"/>
          </a:p>
        </p:txBody>
      </p:sp>
      <p:sp>
        <p:nvSpPr>
          <p:cNvPr id="56" name="Tx56"/>
          <p:cNvSpPr txBox="1"/>
          <p:nvPr/>
        </p:nvSpPr>
        <p:spPr>
          <a:xfrm>
            <a:off x="2336800" y="4940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7</a:t>
            </a:r>
          </a:p>
        </p:txBody>
      </p:sp>
      <p:sp>
        <p:nvSpPr>
          <p:cNvPr id="57" name="Tx57"/>
          <p:cNvSpPr txBox="1"/>
          <p:nvPr/>
        </p:nvSpPr>
        <p:spPr>
          <a:xfrm>
            <a:off x="2692400" y="4940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Evaluation &amp; Error Analysis</a:t>
            </a:r>
          </a:p>
        </p:txBody>
      </p:sp>
      <p:sp>
        <p:nvSpPr>
          <p:cNvPr id="58" name="Tx58"/>
          <p:cNvSpPr txBox="1"/>
          <p:nvPr/>
        </p:nvSpPr>
        <p:spPr>
          <a:xfrm>
            <a:off x="2336800" y="5461000"/>
            <a:ext cx="2641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Theo horizon · fast/slow · có–không promo</a:t>
            </a:r>
          </a:p>
        </p:txBody>
      </p:sp>
      <p:sp>
        <p:nvSpPr>
          <p:cNvPr id="59" name="Sh59"/>
          <p:cNvSpPr/>
          <p:nvPr/>
        </p:nvSpPr>
        <p:spPr>
          <a:xfrm>
            <a:off x="5441950" y="4775200"/>
            <a:ext cx="2946400" cy="1143000"/>
          </a:xfrm>
          <a:prstGeom prst="roundRect">
            <a:avLst>
              <a:gd name="adj" fmla="val 9000"/>
            </a:avLst>
          </a:prstGeom>
          <a:solidFill>
            <a:srgbClr val="F5F9FB"/>
          </a:solidFill>
          <a:ln w="12700">
            <a:solidFill>
              <a:srgbClr val="CFE1EA"/>
            </a:solidFill>
          </a:ln>
        </p:spPr>
        <p:txBody>
          <a:bodyPr/>
          <a:lstStyle/>
          <a:p>
            <a:endParaRPr lang="en-US"/>
          </a:p>
        </p:txBody>
      </p:sp>
      <p:sp>
        <p:nvSpPr>
          <p:cNvPr id="60" name="Sh60"/>
          <p:cNvSpPr/>
          <p:nvPr/>
        </p:nvSpPr>
        <p:spPr>
          <a:xfrm>
            <a:off x="5594350" y="4927600"/>
            <a:ext cx="279400" cy="254000"/>
          </a:xfrm>
          <a:prstGeom prst="roundRect">
            <a:avLst>
              <a:gd name="adj" fmla="val 25000"/>
            </a:avLst>
          </a:prstGeom>
          <a:solidFill>
            <a:srgbClr val="1C7293"/>
          </a:solidFill>
          <a:ln>
            <a:noFill/>
          </a:ln>
        </p:spPr>
        <p:txBody>
          <a:bodyPr/>
          <a:lstStyle/>
          <a:p>
            <a:endParaRPr lang="en-US"/>
          </a:p>
        </p:txBody>
      </p:sp>
      <p:sp>
        <p:nvSpPr>
          <p:cNvPr id="61" name="Tx61"/>
          <p:cNvSpPr txBox="1"/>
          <p:nvPr/>
        </p:nvSpPr>
        <p:spPr>
          <a:xfrm>
            <a:off x="5594350" y="4940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FFFFFF"/>
                </a:solidFill>
                <a:latin typeface="Calibri" pitchFamily="34" charset="0"/>
                <a:cs typeface="Calibri"/>
              </a:rPr>
              <a:t>8</a:t>
            </a:r>
          </a:p>
        </p:txBody>
      </p:sp>
      <p:sp>
        <p:nvSpPr>
          <p:cNvPr id="62" name="Tx62"/>
          <p:cNvSpPr txBox="1"/>
          <p:nvPr/>
        </p:nvSpPr>
        <p:spPr>
          <a:xfrm>
            <a:off x="5949950" y="4940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21295C"/>
                </a:solidFill>
                <a:latin typeface="Cambria" pitchFamily="34" charset="0"/>
                <a:cs typeface="Cambria"/>
              </a:rPr>
              <a:t>TreeSHAP</a:t>
            </a:r>
          </a:p>
        </p:txBody>
      </p:sp>
      <p:sp>
        <p:nvSpPr>
          <p:cNvPr id="63" name="Tx63"/>
          <p:cNvSpPr txBox="1"/>
          <p:nvPr/>
        </p:nvSpPr>
        <p:spPr>
          <a:xfrm>
            <a:off x="5594350" y="5461000"/>
            <a:ext cx="2641600" cy="431800"/>
          </a:xfrm>
          <a:prstGeom prst="rect">
            <a:avLst/>
          </a:prstGeom>
          <a:noFill/>
        </p:spPr>
        <p:txBody>
          <a:bodyPr wrap="square" lIns="0" tIns="0" rIns="0" bIns="0" anchor="t"/>
          <a:lstStyle/>
          <a:p>
            <a:pPr marL="0" indent="0" algn="l">
              <a:lnSpc>
                <a:spcPts val="1650"/>
              </a:lnSpc>
              <a:buNone/>
            </a:pPr>
            <a:r>
              <a:rPr lang="en-US" sz="1400" dirty="0">
                <a:solidFill>
                  <a:srgbClr val="42555F"/>
                </a:solidFill>
                <a:latin typeface="Calibri" pitchFamily="34" charset="0"/>
                <a:cs typeface="Calibri"/>
              </a:rPr>
              <a:t>Importance + dependence plot · ổn định qua fold</a:t>
            </a:r>
          </a:p>
        </p:txBody>
      </p:sp>
      <p:sp>
        <p:nvSpPr>
          <p:cNvPr id="64" name="Sh64"/>
          <p:cNvSpPr/>
          <p:nvPr/>
        </p:nvSpPr>
        <p:spPr>
          <a:xfrm>
            <a:off x="8699500" y="4775200"/>
            <a:ext cx="2946400" cy="1143000"/>
          </a:xfrm>
          <a:prstGeom prst="roundRect">
            <a:avLst>
              <a:gd name="adj" fmla="val 9000"/>
            </a:avLst>
          </a:prstGeom>
          <a:solidFill>
            <a:srgbClr val="21295C"/>
          </a:solidFill>
          <a:ln>
            <a:noFill/>
          </a:ln>
        </p:spPr>
        <p:txBody>
          <a:bodyPr/>
          <a:lstStyle/>
          <a:p>
            <a:endParaRPr lang="en-US"/>
          </a:p>
        </p:txBody>
      </p:sp>
      <p:sp>
        <p:nvSpPr>
          <p:cNvPr id="65" name="Sh65"/>
          <p:cNvSpPr/>
          <p:nvPr/>
        </p:nvSpPr>
        <p:spPr>
          <a:xfrm>
            <a:off x="8851900" y="4927600"/>
            <a:ext cx="279400" cy="254000"/>
          </a:xfrm>
          <a:prstGeom prst="roundRect">
            <a:avLst>
              <a:gd name="adj" fmla="val 25000"/>
            </a:avLst>
          </a:prstGeom>
          <a:solidFill>
            <a:srgbClr val="FFFFFF"/>
          </a:solidFill>
          <a:ln>
            <a:noFill/>
          </a:ln>
        </p:spPr>
        <p:txBody>
          <a:bodyPr/>
          <a:lstStyle/>
          <a:p>
            <a:endParaRPr lang="en-US"/>
          </a:p>
        </p:txBody>
      </p:sp>
      <p:sp>
        <p:nvSpPr>
          <p:cNvPr id="66" name="Tx66"/>
          <p:cNvSpPr txBox="1"/>
          <p:nvPr/>
        </p:nvSpPr>
        <p:spPr>
          <a:xfrm>
            <a:off x="8851900" y="4940300"/>
            <a:ext cx="279400" cy="228600"/>
          </a:xfrm>
          <a:prstGeom prst="rect">
            <a:avLst/>
          </a:prstGeom>
          <a:noFill/>
        </p:spPr>
        <p:txBody>
          <a:bodyPr wrap="square" lIns="0" tIns="0" rIns="0" bIns="0" anchor="t"/>
          <a:lstStyle/>
          <a:p>
            <a:pPr marL="0" indent="0" algn="ctr">
              <a:lnSpc>
                <a:spcPts val="1700"/>
              </a:lnSpc>
              <a:buNone/>
            </a:pPr>
            <a:r>
              <a:rPr lang="en-US" sz="1400" b="1" dirty="0">
                <a:solidFill>
                  <a:srgbClr val="21295C"/>
                </a:solidFill>
                <a:latin typeface="Calibri" pitchFamily="34" charset="0"/>
                <a:cs typeface="Calibri"/>
              </a:rPr>
              <a:t>9</a:t>
            </a:r>
          </a:p>
        </p:txBody>
      </p:sp>
      <p:sp>
        <p:nvSpPr>
          <p:cNvPr id="67" name="Tx67"/>
          <p:cNvSpPr txBox="1"/>
          <p:nvPr/>
        </p:nvSpPr>
        <p:spPr>
          <a:xfrm>
            <a:off x="9207500" y="4940300"/>
            <a:ext cx="2311400" cy="482600"/>
          </a:xfrm>
          <a:prstGeom prst="rect">
            <a:avLst/>
          </a:prstGeom>
          <a:noFill/>
        </p:spPr>
        <p:txBody>
          <a:bodyPr wrap="square" lIns="0" tIns="0" rIns="0" bIns="0" anchor="t"/>
          <a:lstStyle/>
          <a:p>
            <a:pPr marL="0" indent="0" algn="l">
              <a:lnSpc>
                <a:spcPts val="1700"/>
              </a:lnSpc>
              <a:buNone/>
            </a:pPr>
            <a:r>
              <a:rPr lang="en-US" sz="1400" b="1" dirty="0">
                <a:solidFill>
                  <a:srgbClr val="FFFFFF"/>
                </a:solidFill>
                <a:latin typeface="Cambria" pitchFamily="34" charset="0"/>
                <a:cs typeface="Cambria"/>
              </a:rPr>
              <a:t>Reporting &amp; Packaging</a:t>
            </a:r>
          </a:p>
        </p:txBody>
      </p:sp>
      <p:sp>
        <p:nvSpPr>
          <p:cNvPr id="68" name="Tx68"/>
          <p:cNvSpPr txBox="1"/>
          <p:nvPr/>
        </p:nvSpPr>
        <p:spPr>
          <a:xfrm>
            <a:off x="8851900" y="5461000"/>
            <a:ext cx="2641600" cy="431800"/>
          </a:xfrm>
          <a:prstGeom prst="rect">
            <a:avLst/>
          </a:prstGeom>
          <a:noFill/>
        </p:spPr>
        <p:txBody>
          <a:bodyPr wrap="square" lIns="0" tIns="0" rIns="0" bIns="0" anchor="t"/>
          <a:lstStyle/>
          <a:p>
            <a:pPr marL="0" indent="0" algn="l">
              <a:lnSpc>
                <a:spcPts val="1650"/>
              </a:lnSpc>
              <a:buNone/>
            </a:pPr>
            <a:r>
              <a:rPr lang="en-US" sz="1400" dirty="0">
                <a:solidFill>
                  <a:srgbClr val="DCE7EE"/>
                </a:solidFill>
                <a:latin typeface="Calibri" pitchFamily="34" charset="0"/>
                <a:cs typeface="Calibri"/>
              </a:rPr>
              <a:t>Báo cáo kết quả · đóng gói module tái sử dụng</a:t>
            </a:r>
          </a:p>
        </p:txBody>
      </p:sp>
      <p:sp>
        <p:nvSpPr>
          <p:cNvPr id="69" name="Sh69"/>
          <p:cNvSpPr/>
          <p:nvPr/>
        </p:nvSpPr>
        <p:spPr>
          <a:xfrm>
            <a:off x="10534650" y="2870200"/>
            <a:ext cx="38100" cy="127000"/>
          </a:xfrm>
          <a:prstGeom prst="rect">
            <a:avLst/>
          </a:prstGeom>
          <a:solidFill>
            <a:srgbClr val="2F6480"/>
          </a:solidFill>
          <a:ln>
            <a:noFill/>
          </a:ln>
        </p:spPr>
        <p:txBody>
          <a:bodyPr/>
          <a:lstStyle/>
          <a:p>
            <a:endParaRPr lang="en-US"/>
          </a:p>
        </p:txBody>
      </p:sp>
      <p:sp>
        <p:nvSpPr>
          <p:cNvPr id="70" name="Sh70"/>
          <p:cNvSpPr/>
          <p:nvPr/>
        </p:nvSpPr>
        <p:spPr>
          <a:xfrm>
            <a:off x="3657600" y="2978150"/>
            <a:ext cx="6896100" cy="38100"/>
          </a:xfrm>
          <a:prstGeom prst="rect">
            <a:avLst/>
          </a:prstGeom>
          <a:solidFill>
            <a:srgbClr val="2F6480"/>
          </a:solidFill>
          <a:ln>
            <a:noFill/>
          </a:ln>
        </p:spPr>
        <p:txBody>
          <a:bodyPr/>
          <a:lstStyle/>
          <a:p>
            <a:endParaRPr lang="en-US"/>
          </a:p>
        </p:txBody>
      </p:sp>
      <p:sp>
        <p:nvSpPr>
          <p:cNvPr id="71" name="Sh71"/>
          <p:cNvSpPr/>
          <p:nvPr/>
        </p:nvSpPr>
        <p:spPr>
          <a:xfrm>
            <a:off x="10153650" y="4394200"/>
            <a:ext cx="38100" cy="127000"/>
          </a:xfrm>
          <a:prstGeom prst="rect">
            <a:avLst/>
          </a:prstGeom>
          <a:solidFill>
            <a:srgbClr val="2F6480"/>
          </a:solidFill>
          <a:ln>
            <a:noFill/>
          </a:ln>
        </p:spPr>
        <p:txBody>
          <a:bodyPr/>
          <a:lstStyle/>
          <a:p>
            <a:endParaRPr lang="en-US"/>
          </a:p>
        </p:txBody>
      </p:sp>
      <p:sp>
        <p:nvSpPr>
          <p:cNvPr id="72" name="Sh72"/>
          <p:cNvSpPr/>
          <p:nvPr/>
        </p:nvSpPr>
        <p:spPr>
          <a:xfrm>
            <a:off x="3657600" y="4502150"/>
            <a:ext cx="6515100" cy="38100"/>
          </a:xfrm>
          <a:prstGeom prst="rect">
            <a:avLst/>
          </a:prstGeom>
          <a:solidFill>
            <a:srgbClr val="2F6480"/>
          </a:solidFill>
          <a:ln>
            <a:noFill/>
          </a:ln>
        </p:spPr>
        <p:txBody>
          <a:bodyPr/>
          <a:lstStyle/>
          <a:p>
            <a:endParaRPr lang="en-US"/>
          </a:p>
        </p:txBody>
      </p:sp>
      <p:sp>
        <p:nvSpPr>
          <p:cNvPr id="73" name="Sh73"/>
          <p:cNvSpPr/>
          <p:nvPr/>
        </p:nvSpPr>
        <p:spPr>
          <a:xfrm>
            <a:off x="4394200" y="2222500"/>
            <a:ext cx="190500" cy="152400"/>
          </a:xfrm>
          <a:prstGeom prst="rightArrow">
            <a:avLst>
              <a:gd name="adj1" fmla="val 42000"/>
              <a:gd name="adj2" fmla="val 55000"/>
            </a:avLst>
          </a:prstGeom>
          <a:solidFill>
            <a:srgbClr val="2F6480"/>
          </a:solidFill>
          <a:ln>
            <a:noFill/>
          </a:ln>
        </p:spPr>
        <p:txBody>
          <a:bodyPr/>
          <a:lstStyle/>
          <a:p>
            <a:endParaRPr lang="en-US"/>
          </a:p>
        </p:txBody>
      </p:sp>
      <p:sp>
        <p:nvSpPr>
          <p:cNvPr id="74" name="Sh74"/>
          <p:cNvSpPr/>
          <p:nvPr/>
        </p:nvSpPr>
        <p:spPr>
          <a:xfrm>
            <a:off x="6819900" y="2222500"/>
            <a:ext cx="190500" cy="152400"/>
          </a:xfrm>
          <a:prstGeom prst="rightArrow">
            <a:avLst>
              <a:gd name="adj1" fmla="val 42000"/>
              <a:gd name="adj2" fmla="val 55000"/>
            </a:avLst>
          </a:prstGeom>
          <a:solidFill>
            <a:srgbClr val="2F6480"/>
          </a:solidFill>
          <a:ln>
            <a:noFill/>
          </a:ln>
        </p:spPr>
        <p:txBody>
          <a:bodyPr/>
          <a:lstStyle/>
          <a:p>
            <a:endParaRPr lang="en-US"/>
          </a:p>
        </p:txBody>
      </p:sp>
      <p:sp>
        <p:nvSpPr>
          <p:cNvPr id="75" name="Sh75"/>
          <p:cNvSpPr/>
          <p:nvPr/>
        </p:nvSpPr>
        <p:spPr>
          <a:xfrm>
            <a:off x="9245600" y="2222500"/>
            <a:ext cx="190500" cy="152400"/>
          </a:xfrm>
          <a:prstGeom prst="rightArrow">
            <a:avLst>
              <a:gd name="adj1" fmla="val 42000"/>
              <a:gd name="adj2" fmla="val 55000"/>
            </a:avLst>
          </a:prstGeom>
          <a:solidFill>
            <a:srgbClr val="2F6480"/>
          </a:solidFill>
          <a:ln>
            <a:noFill/>
          </a:ln>
        </p:spPr>
        <p:txBody>
          <a:bodyPr/>
          <a:lstStyle/>
          <a:p>
            <a:endParaRPr lang="en-US"/>
          </a:p>
        </p:txBody>
      </p:sp>
      <p:sp>
        <p:nvSpPr>
          <p:cNvPr id="76" name="Sh76"/>
          <p:cNvSpPr/>
          <p:nvPr/>
        </p:nvSpPr>
        <p:spPr>
          <a:xfrm>
            <a:off x="5156200" y="3746500"/>
            <a:ext cx="260350" cy="152400"/>
          </a:xfrm>
          <a:prstGeom prst="rightArrow">
            <a:avLst>
              <a:gd name="adj1" fmla="val 42000"/>
              <a:gd name="adj2" fmla="val 55000"/>
            </a:avLst>
          </a:prstGeom>
          <a:solidFill>
            <a:srgbClr val="2F6480"/>
          </a:solidFill>
          <a:ln>
            <a:noFill/>
          </a:ln>
        </p:spPr>
        <p:txBody>
          <a:bodyPr/>
          <a:lstStyle/>
          <a:p>
            <a:endParaRPr lang="en-US"/>
          </a:p>
        </p:txBody>
      </p:sp>
      <p:sp>
        <p:nvSpPr>
          <p:cNvPr id="77" name="Sh77"/>
          <p:cNvSpPr/>
          <p:nvPr/>
        </p:nvSpPr>
        <p:spPr>
          <a:xfrm>
            <a:off x="8413750" y="3746500"/>
            <a:ext cx="260350" cy="152400"/>
          </a:xfrm>
          <a:prstGeom prst="rightArrow">
            <a:avLst>
              <a:gd name="adj1" fmla="val 42000"/>
              <a:gd name="adj2" fmla="val 55000"/>
            </a:avLst>
          </a:prstGeom>
          <a:solidFill>
            <a:srgbClr val="2F6480"/>
          </a:solidFill>
          <a:ln>
            <a:noFill/>
          </a:ln>
        </p:spPr>
        <p:txBody>
          <a:bodyPr/>
          <a:lstStyle/>
          <a:p>
            <a:endParaRPr lang="en-US"/>
          </a:p>
        </p:txBody>
      </p:sp>
      <p:sp>
        <p:nvSpPr>
          <p:cNvPr id="78" name="Sh78"/>
          <p:cNvSpPr/>
          <p:nvPr/>
        </p:nvSpPr>
        <p:spPr>
          <a:xfrm>
            <a:off x="5156200" y="5270500"/>
            <a:ext cx="260350" cy="152400"/>
          </a:xfrm>
          <a:prstGeom prst="rightArrow">
            <a:avLst>
              <a:gd name="adj1" fmla="val 42000"/>
              <a:gd name="adj2" fmla="val 55000"/>
            </a:avLst>
          </a:prstGeom>
          <a:solidFill>
            <a:srgbClr val="2F6480"/>
          </a:solidFill>
          <a:ln>
            <a:noFill/>
          </a:ln>
        </p:spPr>
        <p:txBody>
          <a:bodyPr/>
          <a:lstStyle/>
          <a:p>
            <a:endParaRPr lang="en-US"/>
          </a:p>
        </p:txBody>
      </p:sp>
      <p:sp>
        <p:nvSpPr>
          <p:cNvPr id="79" name="Sh79"/>
          <p:cNvSpPr/>
          <p:nvPr/>
        </p:nvSpPr>
        <p:spPr>
          <a:xfrm>
            <a:off x="8413750" y="5270500"/>
            <a:ext cx="260350" cy="152400"/>
          </a:xfrm>
          <a:prstGeom prst="rightArrow">
            <a:avLst>
              <a:gd name="adj1" fmla="val 42000"/>
              <a:gd name="adj2" fmla="val 55000"/>
            </a:avLst>
          </a:prstGeom>
          <a:solidFill>
            <a:srgbClr val="2F6480"/>
          </a:solidFill>
          <a:ln>
            <a:noFill/>
          </a:ln>
        </p:spPr>
        <p:txBody>
          <a:bodyPr/>
          <a:lstStyle/>
          <a:p>
            <a:endParaRPr lang="en-US"/>
          </a:p>
        </p:txBody>
      </p:sp>
      <p:sp>
        <p:nvSpPr>
          <p:cNvPr id="80" name="Sh80"/>
          <p:cNvSpPr/>
          <p:nvPr/>
        </p:nvSpPr>
        <p:spPr>
          <a:xfrm>
            <a:off x="3543300" y="2997200"/>
            <a:ext cx="228600" cy="254000"/>
          </a:xfrm>
          <a:prstGeom prst="downArrow">
            <a:avLst>
              <a:gd name="adj1" fmla="val 42000"/>
              <a:gd name="adj2" fmla="val 55000"/>
            </a:avLst>
          </a:prstGeom>
          <a:solidFill>
            <a:srgbClr val="2F6480"/>
          </a:solidFill>
          <a:ln>
            <a:noFill/>
          </a:ln>
        </p:spPr>
        <p:txBody>
          <a:bodyPr/>
          <a:lstStyle/>
          <a:p>
            <a:endParaRPr lang="en-US"/>
          </a:p>
        </p:txBody>
      </p:sp>
      <p:sp>
        <p:nvSpPr>
          <p:cNvPr id="81" name="Sh81"/>
          <p:cNvSpPr/>
          <p:nvPr/>
        </p:nvSpPr>
        <p:spPr>
          <a:xfrm>
            <a:off x="3543300" y="4521200"/>
            <a:ext cx="228600" cy="254000"/>
          </a:xfrm>
          <a:prstGeom prst="downArrow">
            <a:avLst>
              <a:gd name="adj1" fmla="val 42000"/>
              <a:gd name="adj2" fmla="val 55000"/>
            </a:avLst>
          </a:prstGeom>
          <a:solidFill>
            <a:srgbClr val="2F6480"/>
          </a:solidFill>
          <a:ln>
            <a:noFill/>
          </a:ln>
        </p:spPr>
        <p:txBody>
          <a:bodyPr/>
          <a:lstStyle/>
          <a:p>
            <a:endParaRPr lang="en-US"/>
          </a:p>
        </p:txBody>
      </p:sp>
      <p:sp>
        <p:nvSpPr>
          <p:cNvPr id="82" name="Tx82"/>
          <p:cNvSpPr txBox="1"/>
          <p:nvPr/>
        </p:nvSpPr>
        <p:spPr>
          <a:xfrm>
            <a:off x="546100" y="6223000"/>
            <a:ext cx="10795000" cy="279400"/>
          </a:xfrm>
          <a:prstGeom prst="rect">
            <a:avLst/>
          </a:prstGeom>
          <a:noFill/>
        </p:spPr>
        <p:txBody>
          <a:bodyPr wrap="square" lIns="0" tIns="0" rIns="0" bIns="0" anchor="t"/>
          <a:lstStyle/>
          <a:p>
            <a:pPr marL="0" indent="0" algn="l">
              <a:lnSpc>
                <a:spcPts val="1700"/>
              </a:lnSpc>
              <a:buNone/>
            </a:pPr>
            <a:r>
              <a:rPr lang="en-US" sz="1400" dirty="0">
                <a:solidFill>
                  <a:srgbClr val="42555F"/>
                </a:solidFill>
                <a:latin typeface="Calibri" pitchFamily="34" charset="0"/>
                <a:cs typeface="Calibri"/>
              </a:rPr>
              <a:t>Chi tiết kiến trúc chống leakage (giai đoạn 0–3) và modeling/explainability (giai đoạn 4–9) ở 2 slide tiếp theo.</a:t>
            </a:r>
          </a:p>
        </p:txBody>
      </p:sp>
      <p:sp>
        <p:nvSpPr>
          <p:cNvPr id="83" name="Tx83"/>
          <p:cNvSpPr txBox="1"/>
          <p:nvPr/>
        </p:nvSpPr>
        <p:spPr>
          <a:xfrm>
            <a:off x="11303000" y="6477000"/>
            <a:ext cx="723900" cy="254000"/>
          </a:xfrm>
          <a:prstGeom prst="rect">
            <a:avLst/>
          </a:prstGeom>
          <a:noFill/>
        </p:spPr>
        <p:txBody>
          <a:bodyPr wrap="square" lIns="0" tIns="0" rIns="0" bIns="0" anchor="t"/>
          <a:lstStyle/>
          <a:p>
            <a:pPr marL="0" indent="0" algn="r">
              <a:lnSpc>
                <a:spcPts val="1500"/>
              </a:lnSpc>
              <a:buNone/>
            </a:pPr>
            <a:r>
              <a:rPr lang="en-US" sz="1200" dirty="0">
                <a:solidFill>
                  <a:srgbClr val="5C6E79"/>
                </a:solidFill>
                <a:latin typeface="Calibri" pitchFamily="34" charset="0"/>
                <a:cs typeface="Calibri"/>
              </a:rPr>
              <a:t>12</a:t>
            </a:r>
          </a:p>
        </p:txBody>
      </p:sp>
    </p:spTree>
    <p:extLst>
      <p:ext uri="{BB962C8B-B14F-4D97-AF65-F5344CB8AC3E}">
        <p14:creationId xmlns:p14="http://schemas.microsoft.com/office/powerpoint/2010/main" val="2562871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C0392B"/>
          </a:solidFill>
          <a:ln/>
        </p:spPr>
        <p:txBody>
          <a:bodyPr/>
          <a:lstStyle/>
          <a:p>
            <a:endParaRPr lang="en-US"/>
          </a:p>
        </p:txBody>
      </p:sp>
      <p:sp>
        <p:nvSpPr>
          <p:cNvPr id="3" name="Shape 1"/>
          <p:cNvSpPr/>
          <p:nvPr/>
        </p:nvSpPr>
        <p:spPr>
          <a:xfrm>
            <a:off x="457200" y="548640"/>
            <a:ext cx="777240" cy="777240"/>
          </a:xfrm>
          <a:prstGeom prst="ellipse">
            <a:avLst/>
          </a:prstGeom>
          <a:solidFill>
            <a:srgbClr val="8E241A"/>
          </a:solidFill>
          <a:ln/>
        </p:spPr>
        <p:txBody>
          <a:bodyPr/>
          <a:lstStyle/>
          <a:p>
            <a:endParaRPr lang="en-US"/>
          </a:p>
        </p:txBody>
      </p:sp>
      <p:pic>
        <p:nvPicPr>
          <p:cNvPr id="4" name="Image 0" descr="/tmp/deck/icon_shield_white.png"/>
          <p:cNvPicPr>
            <a:picLocks noChangeAspect="1"/>
          </p:cNvPicPr>
          <p:nvPr/>
        </p:nvPicPr>
        <p:blipFill>
          <a:blip r:embed="rId3"/>
          <a:stretch>
            <a:fillRect/>
          </a:stretch>
        </p:blipFill>
        <p:spPr>
          <a:xfrm>
            <a:off x="558241" y="649681"/>
            <a:ext cx="575158" cy="575158"/>
          </a:xfrm>
          <a:prstGeom prst="rect">
            <a:avLst/>
          </a:prstGeom>
        </p:spPr>
      </p:pic>
      <p:sp>
        <p:nvSpPr>
          <p:cNvPr id="5" name="Text 2"/>
          <p:cNvSpPr/>
          <p:nvPr/>
        </p:nvSpPr>
        <p:spPr>
          <a:xfrm>
            <a:off x="457200" y="1463040"/>
            <a:ext cx="2286000" cy="457200"/>
          </a:xfrm>
          <a:prstGeom prst="rect">
            <a:avLst/>
          </a:prstGeom>
          <a:noFill/>
          <a:ln/>
        </p:spPr>
        <p:txBody>
          <a:bodyPr wrap="square" rtlCol="0" anchor="ctr"/>
          <a:lstStyle/>
          <a:p>
            <a:pPr marL="0" indent="0">
              <a:buNone/>
            </a:pPr>
            <a:r>
              <a:rPr lang="en-US" sz="1300" b="1" dirty="0">
                <a:solidFill>
                  <a:srgbClr val="FFD9D3"/>
                </a:solidFill>
                <a:latin typeface="Calibri" pitchFamily="34" charset="0"/>
                <a:ea typeface="Calibri" pitchFamily="34" charset="-122"/>
                <a:cs typeface="Calibri" pitchFamily="34" charset="-120"/>
              </a:rPr>
              <a:t>Giai đoạn 0–3</a:t>
            </a:r>
            <a:endParaRPr lang="en-US" sz="1300" dirty="0"/>
          </a:p>
        </p:txBody>
      </p:sp>
      <p:sp>
        <p:nvSpPr>
          <p:cNvPr id="6" name="Text 3"/>
          <p:cNvSpPr/>
          <p:nvPr/>
        </p:nvSpPr>
        <p:spPr>
          <a:xfrm>
            <a:off x="457200" y="1874520"/>
            <a:ext cx="2286000" cy="1188720"/>
          </a:xfrm>
          <a:prstGeom prst="rect">
            <a:avLst/>
          </a:prstGeom>
          <a:noFill/>
          <a:ln/>
        </p:spPr>
        <p:txBody>
          <a:bodyPr wrap="square" rtlCol="0" anchor="ctr"/>
          <a:lstStyle/>
          <a:p>
            <a:pPr marL="0" indent="0">
              <a:lnSpc>
                <a:spcPts val="2600"/>
              </a:lnSpc>
              <a:buNone/>
            </a:pPr>
            <a:r>
              <a:rPr lang="en-US" sz="2200" b="1" dirty="0">
                <a:solidFill>
                  <a:srgbClr val="FFFFFF"/>
                </a:solidFill>
                <a:latin typeface="Cambria" pitchFamily="34" charset="0"/>
                <a:ea typeface="Cambria" pitchFamily="34" charset="-122"/>
                <a:cs typeface="Cambria" pitchFamily="34" charset="-120"/>
              </a:rPr>
              <a:t>Nền tảng chống</a:t>
            </a:r>
            <a:endParaRPr lang="en-US" sz="2200" dirty="0"/>
          </a:p>
          <a:p>
            <a:pPr marL="0" indent="0">
              <a:lnSpc>
                <a:spcPts val="2600"/>
              </a:lnSpc>
              <a:buNone/>
            </a:pPr>
            <a:r>
              <a:rPr lang="en-US" sz="2200" b="1" dirty="0">
                <a:solidFill>
                  <a:srgbClr val="FFFFFF"/>
                </a:solidFill>
                <a:latin typeface="Cambria" pitchFamily="34" charset="0"/>
                <a:ea typeface="Cambria" pitchFamily="34" charset="-122"/>
                <a:cs typeface="Cambria" pitchFamily="34" charset="-120"/>
              </a:rPr>
              <a:t>Data Leakage</a:t>
            </a:r>
            <a:endParaRPr lang="en-US" sz="2200" dirty="0"/>
          </a:p>
        </p:txBody>
      </p:sp>
      <p:sp>
        <p:nvSpPr>
          <p:cNvPr id="7" name="Text 4"/>
          <p:cNvSpPr/>
          <p:nvPr/>
        </p:nvSpPr>
        <p:spPr>
          <a:xfrm>
            <a:off x="457200" y="3200400"/>
            <a:ext cx="2286000" cy="822960"/>
          </a:xfrm>
          <a:prstGeom prst="rect">
            <a:avLst/>
          </a:prstGeom>
          <a:noFill/>
          <a:ln/>
        </p:spPr>
        <p:txBody>
          <a:bodyPr wrap="square" rtlCol="0" anchor="ctr"/>
          <a:lstStyle/>
          <a:p>
            <a:pPr marL="0" indent="0">
              <a:buNone/>
            </a:pPr>
            <a:r>
              <a:rPr lang="en-US" sz="1150" i="1" dirty="0">
                <a:solidFill>
                  <a:srgbClr val="FFD9D3"/>
                </a:solidFill>
                <a:latin typeface="Calibri" pitchFamily="34" charset="0"/>
                <a:ea typeface="Calibri" pitchFamily="34" charset="-122"/>
                <a:cs typeface="Calibri" pitchFamily="34" charset="-120"/>
              </a:rPr>
              <a:t>Điểm kiến trúc quan trọng nhất trong toàn bộ pipeline.</a:t>
            </a:r>
            <a:endParaRPr lang="en-US" sz="1150" dirty="0"/>
          </a:p>
        </p:txBody>
      </p:sp>
      <p:sp>
        <p:nvSpPr>
          <p:cNvPr id="8" name="Shape 5"/>
          <p:cNvSpPr/>
          <p:nvPr/>
        </p:nvSpPr>
        <p:spPr>
          <a:xfrm>
            <a:off x="3429000" y="585216"/>
            <a:ext cx="118872" cy="118872"/>
          </a:xfrm>
          <a:prstGeom prst="ellipse">
            <a:avLst/>
          </a:prstGeom>
          <a:solidFill>
            <a:srgbClr val="C0392B"/>
          </a:solidFill>
          <a:ln/>
        </p:spPr>
        <p:txBody>
          <a:bodyPr/>
          <a:lstStyle/>
          <a:p>
            <a:endParaRPr lang="en-US"/>
          </a:p>
        </p:txBody>
      </p:sp>
      <p:sp>
        <p:nvSpPr>
          <p:cNvPr id="9" name="Text 6"/>
          <p:cNvSpPr/>
          <p:nvPr/>
        </p:nvSpPr>
        <p:spPr>
          <a:xfrm>
            <a:off x="3703320" y="438912"/>
            <a:ext cx="768096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0 · Problem Framing</a:t>
            </a:r>
            <a:endParaRPr lang="en-US" sz="1400" dirty="0"/>
          </a:p>
        </p:txBody>
      </p:sp>
      <p:sp>
        <p:nvSpPr>
          <p:cNvPr id="10" name="Text 7"/>
          <p:cNvSpPr/>
          <p:nvPr/>
        </p:nvSpPr>
        <p:spPr>
          <a:xfrm>
            <a:off x="3703320" y="804672"/>
            <a:ext cx="7680960" cy="685800"/>
          </a:xfrm>
          <a:prstGeom prst="rect">
            <a:avLst/>
          </a:prstGeom>
          <a:noFill/>
          <a:ln/>
        </p:spPr>
        <p:txBody>
          <a:bodyPr wrap="square" rtlCol="0" anchor="ctr"/>
          <a:lstStyle/>
          <a:p>
            <a:pPr marL="0" indent="0">
              <a:lnSpc>
                <a:spcPts val="1500"/>
              </a:lnSpc>
              <a:buNone/>
            </a:pPr>
            <a:r>
              <a:rPr lang="en-US" sz="1200" dirty="0">
                <a:solidFill>
                  <a:srgbClr val="3A4750"/>
                </a:solidFill>
                <a:latin typeface="Calibri" pitchFamily="34" charset="0"/>
                <a:ea typeface="Calibri" pitchFamily="34" charset="-122"/>
                <a:cs typeface="Calibri" pitchFamily="34" charset="-120"/>
              </a:rPr>
              <a:t>Chốt đơn vị dự báo, horizon, chiến lược (recursive/direct), metric chính (ưu tiên WMAPE) — trước khi chạm EDA.</a:t>
            </a:r>
            <a:endParaRPr lang="en-US" sz="1200" dirty="0"/>
          </a:p>
        </p:txBody>
      </p:sp>
      <p:sp>
        <p:nvSpPr>
          <p:cNvPr id="11" name="Shape 8"/>
          <p:cNvSpPr/>
          <p:nvPr/>
        </p:nvSpPr>
        <p:spPr>
          <a:xfrm>
            <a:off x="3429000" y="2002536"/>
            <a:ext cx="118872" cy="118872"/>
          </a:xfrm>
          <a:prstGeom prst="ellipse">
            <a:avLst/>
          </a:prstGeom>
          <a:solidFill>
            <a:srgbClr val="C0392B"/>
          </a:solidFill>
          <a:ln/>
        </p:spPr>
        <p:txBody>
          <a:bodyPr/>
          <a:lstStyle/>
          <a:p>
            <a:endParaRPr lang="en-US"/>
          </a:p>
        </p:txBody>
      </p:sp>
      <p:sp>
        <p:nvSpPr>
          <p:cNvPr id="12" name="Text 9"/>
          <p:cNvSpPr/>
          <p:nvPr/>
        </p:nvSpPr>
        <p:spPr>
          <a:xfrm>
            <a:off x="3703320" y="1856232"/>
            <a:ext cx="768096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1 · Data Ingestion &amp; Validation</a:t>
            </a:r>
            <a:endParaRPr lang="en-US" sz="1400" dirty="0"/>
          </a:p>
        </p:txBody>
      </p:sp>
      <p:sp>
        <p:nvSpPr>
          <p:cNvPr id="13" name="Text 10"/>
          <p:cNvSpPr/>
          <p:nvPr/>
        </p:nvSpPr>
        <p:spPr>
          <a:xfrm>
            <a:off x="3703320" y="2221992"/>
            <a:ext cx="7680960" cy="685800"/>
          </a:xfrm>
          <a:prstGeom prst="rect">
            <a:avLst/>
          </a:prstGeom>
          <a:noFill/>
          <a:ln/>
        </p:spPr>
        <p:txBody>
          <a:bodyPr wrap="square" rtlCol="0" anchor="ctr"/>
          <a:lstStyle/>
          <a:p>
            <a:pPr marL="0" indent="0">
              <a:lnSpc>
                <a:spcPts val="1500"/>
              </a:lnSpc>
              <a:buNone/>
            </a:pPr>
            <a:r>
              <a:rPr lang="en-US" sz="1200" dirty="0">
                <a:solidFill>
                  <a:srgbClr val="3A4750"/>
                </a:solidFill>
                <a:latin typeface="Calibri" pitchFamily="34" charset="0"/>
                <a:ea typeface="Calibri" pitchFamily="34" charset="-122"/>
                <a:cs typeface="Calibri" pitchFamily="34" charset="-120"/>
              </a:rPr>
              <a:t>Module riêng validate schema, tính toàn vẹn thời gian. "Data contract" — không kiểm tra lặp lại rải rác ở các bước sau.</a:t>
            </a:r>
            <a:endParaRPr lang="en-US" sz="1200" dirty="0"/>
          </a:p>
        </p:txBody>
      </p:sp>
      <p:sp>
        <p:nvSpPr>
          <p:cNvPr id="14" name="Shape 11"/>
          <p:cNvSpPr/>
          <p:nvPr/>
        </p:nvSpPr>
        <p:spPr>
          <a:xfrm>
            <a:off x="3429000" y="3419856"/>
            <a:ext cx="118872" cy="118872"/>
          </a:xfrm>
          <a:prstGeom prst="ellipse">
            <a:avLst/>
          </a:prstGeom>
          <a:solidFill>
            <a:srgbClr val="C0392B"/>
          </a:solidFill>
          <a:ln/>
        </p:spPr>
        <p:txBody>
          <a:bodyPr/>
          <a:lstStyle/>
          <a:p>
            <a:endParaRPr lang="en-US"/>
          </a:p>
        </p:txBody>
      </p:sp>
      <p:sp>
        <p:nvSpPr>
          <p:cNvPr id="15" name="Text 12"/>
          <p:cNvSpPr/>
          <p:nvPr/>
        </p:nvSpPr>
        <p:spPr>
          <a:xfrm>
            <a:off x="3703320" y="3273552"/>
            <a:ext cx="768096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2 · Temporal Split TRƯỚC Feature Engineering</a:t>
            </a:r>
            <a:endParaRPr lang="en-US" sz="1400" dirty="0"/>
          </a:p>
        </p:txBody>
      </p:sp>
      <p:sp>
        <p:nvSpPr>
          <p:cNvPr id="16" name="Text 13"/>
          <p:cNvSpPr/>
          <p:nvPr/>
        </p:nvSpPr>
        <p:spPr>
          <a:xfrm>
            <a:off x="3703320" y="3639312"/>
            <a:ext cx="7680960" cy="685800"/>
          </a:xfrm>
          <a:prstGeom prst="rect">
            <a:avLst/>
          </a:prstGeom>
          <a:noFill/>
          <a:ln/>
        </p:spPr>
        <p:txBody>
          <a:bodyPr wrap="square" rtlCol="0" anchor="ctr"/>
          <a:lstStyle/>
          <a:p>
            <a:pPr marL="0" indent="0">
              <a:lnSpc>
                <a:spcPts val="1500"/>
              </a:lnSpc>
              <a:buNone/>
            </a:pPr>
            <a:r>
              <a:rPr lang="en-US" sz="1200" dirty="0">
                <a:solidFill>
                  <a:srgbClr val="3A4750"/>
                </a:solidFill>
                <a:latin typeface="Calibri" pitchFamily="34" charset="0"/>
                <a:ea typeface="Calibri" pitchFamily="34" charset="-122"/>
                <a:cs typeface="Calibri" pitchFamily="34" charset="-120"/>
              </a:rPr>
              <a:t>Xác định mốc cắt train/val/test theo thời gian trước. Feature engineering là hàm thuần nhận "as-of date" — tại thời điểm t chỉ thấy dữ liệu ≤ t.</a:t>
            </a:r>
            <a:endParaRPr lang="en-US" sz="1200" dirty="0"/>
          </a:p>
        </p:txBody>
      </p:sp>
      <p:sp>
        <p:nvSpPr>
          <p:cNvPr id="17" name="Shape 14"/>
          <p:cNvSpPr/>
          <p:nvPr/>
        </p:nvSpPr>
        <p:spPr>
          <a:xfrm>
            <a:off x="3429000" y="4837176"/>
            <a:ext cx="118872" cy="118872"/>
          </a:xfrm>
          <a:prstGeom prst="ellipse">
            <a:avLst/>
          </a:prstGeom>
          <a:solidFill>
            <a:srgbClr val="C0392B"/>
          </a:solidFill>
          <a:ln/>
        </p:spPr>
        <p:txBody>
          <a:bodyPr/>
          <a:lstStyle/>
          <a:p>
            <a:endParaRPr lang="en-US"/>
          </a:p>
        </p:txBody>
      </p:sp>
      <p:sp>
        <p:nvSpPr>
          <p:cNvPr id="18" name="Text 15"/>
          <p:cNvSpPr/>
          <p:nvPr/>
        </p:nvSpPr>
        <p:spPr>
          <a:xfrm>
            <a:off x="3703320" y="4690872"/>
            <a:ext cx="768096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3 · Feature Engineering theo block độc lập</a:t>
            </a:r>
            <a:endParaRPr lang="en-US" sz="1400" dirty="0"/>
          </a:p>
        </p:txBody>
      </p:sp>
      <p:sp>
        <p:nvSpPr>
          <p:cNvPr id="19" name="Text 16"/>
          <p:cNvSpPr/>
          <p:nvPr/>
        </p:nvSpPr>
        <p:spPr>
          <a:xfrm>
            <a:off x="3703320" y="5056632"/>
            <a:ext cx="7680960" cy="685800"/>
          </a:xfrm>
          <a:prstGeom prst="rect">
            <a:avLst/>
          </a:prstGeom>
          <a:noFill/>
          <a:ln/>
        </p:spPr>
        <p:txBody>
          <a:bodyPr wrap="square" rtlCol="0" anchor="ctr"/>
          <a:lstStyle/>
          <a:p>
            <a:pPr marL="0" indent="0">
              <a:lnSpc>
                <a:spcPts val="1500"/>
              </a:lnSpc>
              <a:buNone/>
            </a:pPr>
            <a:r>
              <a:rPr lang="en-US" sz="1200" dirty="0">
                <a:solidFill>
                  <a:srgbClr val="3A4750"/>
                </a:solidFill>
                <a:latin typeface="Calibri" pitchFamily="34" charset="0"/>
                <a:ea typeface="Calibri" pitchFamily="34" charset="-122"/>
                <a:cs typeface="Calibri" pitchFamily="34" charset="-120"/>
              </a:rPr>
              <a:t>Lag · Rolling · Calendar · Exogenous (price/promo) · Entity encoding — mỗi nhóm bật/tắt độc lập để ablation-test.</a:t>
            </a:r>
            <a:endParaRPr lang="en-US" sz="1200" dirty="0"/>
          </a:p>
        </p:txBody>
      </p:sp>
      <p:sp>
        <p:nvSpPr>
          <p:cNvPr id="20" name="Text 1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6858000"/>
          </a:xfrm>
          <a:prstGeom prst="rect">
            <a:avLst/>
          </a:prstGeom>
          <a:solidFill>
            <a:srgbClr val="21295C"/>
          </a:solidFill>
          <a:ln/>
        </p:spPr>
        <p:txBody>
          <a:bodyPr/>
          <a:lstStyle/>
          <a:p>
            <a:endParaRPr lang="en-US"/>
          </a:p>
        </p:txBody>
      </p:sp>
      <p:sp>
        <p:nvSpPr>
          <p:cNvPr id="3" name="Shape 1"/>
          <p:cNvSpPr/>
          <p:nvPr/>
        </p:nvSpPr>
        <p:spPr>
          <a:xfrm>
            <a:off x="457200" y="548640"/>
            <a:ext cx="777240" cy="777240"/>
          </a:xfrm>
          <a:prstGeom prst="ellipse">
            <a:avLst/>
          </a:prstGeom>
          <a:solidFill>
            <a:srgbClr val="065A82"/>
          </a:solidFill>
          <a:ln/>
        </p:spPr>
        <p:txBody>
          <a:bodyPr/>
          <a:lstStyle/>
          <a:p>
            <a:endParaRPr lang="en-US"/>
          </a:p>
        </p:txBody>
      </p:sp>
      <p:pic>
        <p:nvPicPr>
          <p:cNvPr id="4" name="Image 0" descr="/tmp/deck/icon_flask_white.png"/>
          <p:cNvPicPr>
            <a:picLocks noChangeAspect="1"/>
          </p:cNvPicPr>
          <p:nvPr/>
        </p:nvPicPr>
        <p:blipFill>
          <a:blip r:embed="rId3"/>
          <a:stretch>
            <a:fillRect/>
          </a:stretch>
        </p:blipFill>
        <p:spPr>
          <a:xfrm>
            <a:off x="558241" y="649681"/>
            <a:ext cx="575158" cy="575158"/>
          </a:xfrm>
          <a:prstGeom prst="rect">
            <a:avLst/>
          </a:prstGeom>
        </p:spPr>
      </p:pic>
      <p:sp>
        <p:nvSpPr>
          <p:cNvPr id="5" name="Text 2"/>
          <p:cNvSpPr/>
          <p:nvPr/>
        </p:nvSpPr>
        <p:spPr>
          <a:xfrm>
            <a:off x="457200" y="1463040"/>
            <a:ext cx="2286000" cy="457200"/>
          </a:xfrm>
          <a:prstGeom prst="rect">
            <a:avLst/>
          </a:prstGeom>
          <a:noFill/>
          <a:ln/>
        </p:spPr>
        <p:txBody>
          <a:bodyPr wrap="square" rtlCol="0" anchor="ctr"/>
          <a:lstStyle/>
          <a:p>
            <a:pPr marL="0" indent="0">
              <a:buNone/>
            </a:pPr>
            <a:r>
              <a:rPr lang="en-US" sz="1300" b="1" dirty="0">
                <a:solidFill>
                  <a:srgbClr val="AFC6DE"/>
                </a:solidFill>
                <a:latin typeface="Calibri" pitchFamily="34" charset="0"/>
                <a:ea typeface="Calibri" pitchFamily="34" charset="-122"/>
                <a:cs typeface="Calibri" pitchFamily="34" charset="-120"/>
              </a:rPr>
              <a:t>Giai đoạn 4–9</a:t>
            </a:r>
            <a:endParaRPr lang="en-US" sz="1300" dirty="0"/>
          </a:p>
        </p:txBody>
      </p:sp>
      <p:sp>
        <p:nvSpPr>
          <p:cNvPr id="6" name="Text 3"/>
          <p:cNvSpPr/>
          <p:nvPr/>
        </p:nvSpPr>
        <p:spPr>
          <a:xfrm>
            <a:off x="457200" y="1874520"/>
            <a:ext cx="2286000" cy="1554480"/>
          </a:xfrm>
          <a:prstGeom prst="rect">
            <a:avLst/>
          </a:prstGeom>
          <a:noFill/>
          <a:ln/>
        </p:spPr>
        <p:txBody>
          <a:bodyPr wrap="square" rtlCol="0" anchor="ctr"/>
          <a:lstStyle/>
          <a:p>
            <a:pPr marL="0" indent="0">
              <a:lnSpc>
                <a:spcPts val="2600"/>
              </a:lnSpc>
              <a:buNone/>
            </a:pPr>
            <a:r>
              <a:rPr lang="en-US" sz="2200" b="1" dirty="0">
                <a:solidFill>
                  <a:srgbClr val="FFFFFF"/>
                </a:solidFill>
                <a:latin typeface="Cambria" pitchFamily="34" charset="0"/>
                <a:ea typeface="Cambria" pitchFamily="34" charset="-122"/>
                <a:cs typeface="Cambria" pitchFamily="34" charset="-120"/>
              </a:rPr>
              <a:t>Modeling,</a:t>
            </a:r>
            <a:endParaRPr lang="en-US" sz="2200" dirty="0"/>
          </a:p>
          <a:p>
            <a:pPr marL="0" indent="0">
              <a:lnSpc>
                <a:spcPts val="2600"/>
              </a:lnSpc>
              <a:buNone/>
            </a:pPr>
            <a:r>
              <a:rPr lang="en-US" sz="2200" b="1" dirty="0">
                <a:solidFill>
                  <a:srgbClr val="FFFFFF"/>
                </a:solidFill>
                <a:latin typeface="Cambria" pitchFamily="34" charset="0"/>
                <a:ea typeface="Cambria" pitchFamily="34" charset="-122"/>
                <a:cs typeface="Cambria" pitchFamily="34" charset="-120"/>
              </a:rPr>
              <a:t>Tuning &amp;</a:t>
            </a:r>
            <a:endParaRPr lang="en-US" sz="2200" dirty="0"/>
          </a:p>
          <a:p>
            <a:pPr marL="0" indent="0">
              <a:lnSpc>
                <a:spcPts val="2600"/>
              </a:lnSpc>
              <a:buNone/>
            </a:pPr>
            <a:r>
              <a:rPr lang="en-US" sz="2200" b="1" dirty="0">
                <a:solidFill>
                  <a:srgbClr val="FFFFFF"/>
                </a:solidFill>
                <a:latin typeface="Cambria" pitchFamily="34" charset="0"/>
                <a:ea typeface="Cambria" pitchFamily="34" charset="-122"/>
                <a:cs typeface="Cambria" pitchFamily="34" charset="-120"/>
              </a:rPr>
              <a:t>Explainability</a:t>
            </a:r>
            <a:endParaRPr lang="en-US" sz="2200" dirty="0"/>
          </a:p>
        </p:txBody>
      </p:sp>
      <p:sp>
        <p:nvSpPr>
          <p:cNvPr id="7" name="Shape 4"/>
          <p:cNvSpPr/>
          <p:nvPr/>
        </p:nvSpPr>
        <p:spPr>
          <a:xfrm>
            <a:off x="3429000" y="539496"/>
            <a:ext cx="118872" cy="118872"/>
          </a:xfrm>
          <a:prstGeom prst="ellipse">
            <a:avLst/>
          </a:prstGeom>
          <a:solidFill>
            <a:srgbClr val="1C7293"/>
          </a:solidFill>
          <a:ln/>
        </p:spPr>
        <p:txBody>
          <a:bodyPr/>
          <a:lstStyle/>
          <a:p>
            <a:endParaRPr lang="en-US"/>
          </a:p>
        </p:txBody>
      </p:sp>
      <p:sp>
        <p:nvSpPr>
          <p:cNvPr id="8" name="Text 5"/>
          <p:cNvSpPr/>
          <p:nvPr/>
        </p:nvSpPr>
        <p:spPr>
          <a:xfrm>
            <a:off x="3703320" y="393192"/>
            <a:ext cx="7680960" cy="32004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4 · Baseline Models</a:t>
            </a:r>
            <a:endParaRPr lang="en-US" sz="1350" dirty="0"/>
          </a:p>
        </p:txBody>
      </p:sp>
      <p:sp>
        <p:nvSpPr>
          <p:cNvPr id="9" name="Text 6"/>
          <p:cNvSpPr/>
          <p:nvPr/>
        </p:nvSpPr>
        <p:spPr>
          <a:xfrm>
            <a:off x="3703320" y="722376"/>
            <a:ext cx="7680960" cy="594360"/>
          </a:xfrm>
          <a:prstGeom prst="rect">
            <a:avLst/>
          </a:prstGeom>
          <a:noFill/>
          <a:ln/>
        </p:spPr>
        <p:txBody>
          <a:bodyPr wrap="square" rtlCol="0" anchor="ctr"/>
          <a:lstStyle/>
          <a:p>
            <a:pPr marL="0" indent="0">
              <a:lnSpc>
                <a:spcPts val="1400"/>
              </a:lnSpc>
              <a:buNone/>
            </a:pPr>
            <a:r>
              <a:rPr lang="en-US" sz="1150" dirty="0">
                <a:solidFill>
                  <a:srgbClr val="3A4750"/>
                </a:solidFill>
                <a:latin typeface="Calibri" pitchFamily="34" charset="0"/>
                <a:ea typeface="Calibri" pitchFamily="34" charset="-122"/>
                <a:cs typeface="Calibri" pitchFamily="34" charset="-120"/>
              </a:rPr>
              <a:t>Naive (cùng kỳ tuần trước) + Decision Tree đơn giản. Không phải thủ tục hình thức — là cột mốc đo giá trị mô hình phức tạp.</a:t>
            </a:r>
            <a:endParaRPr lang="en-US" sz="1150" dirty="0"/>
          </a:p>
        </p:txBody>
      </p:sp>
      <p:sp>
        <p:nvSpPr>
          <p:cNvPr id="10" name="Shape 7"/>
          <p:cNvSpPr/>
          <p:nvPr/>
        </p:nvSpPr>
        <p:spPr>
          <a:xfrm>
            <a:off x="3429000" y="1709928"/>
            <a:ext cx="118872" cy="118872"/>
          </a:xfrm>
          <a:prstGeom prst="ellipse">
            <a:avLst/>
          </a:prstGeom>
          <a:solidFill>
            <a:srgbClr val="1C7293"/>
          </a:solidFill>
          <a:ln/>
        </p:spPr>
        <p:txBody>
          <a:bodyPr/>
          <a:lstStyle/>
          <a:p>
            <a:endParaRPr lang="en-US"/>
          </a:p>
        </p:txBody>
      </p:sp>
      <p:sp>
        <p:nvSpPr>
          <p:cNvPr id="11" name="Text 8"/>
          <p:cNvSpPr/>
          <p:nvPr/>
        </p:nvSpPr>
        <p:spPr>
          <a:xfrm>
            <a:off x="3703320" y="1563624"/>
            <a:ext cx="7680960" cy="32004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5 · Model Training (Tree progression)</a:t>
            </a:r>
            <a:endParaRPr lang="en-US" sz="1350" dirty="0"/>
          </a:p>
        </p:txBody>
      </p:sp>
      <p:sp>
        <p:nvSpPr>
          <p:cNvPr id="12" name="Text 9"/>
          <p:cNvSpPr/>
          <p:nvPr/>
        </p:nvSpPr>
        <p:spPr>
          <a:xfrm>
            <a:off x="3703320" y="1892808"/>
            <a:ext cx="7680960" cy="594360"/>
          </a:xfrm>
          <a:prstGeom prst="rect">
            <a:avLst/>
          </a:prstGeom>
          <a:noFill/>
          <a:ln/>
        </p:spPr>
        <p:txBody>
          <a:bodyPr wrap="square" rtlCol="0" anchor="ctr"/>
          <a:lstStyle/>
          <a:p>
            <a:pPr marL="0" indent="0">
              <a:lnSpc>
                <a:spcPts val="1400"/>
              </a:lnSpc>
              <a:buNone/>
            </a:pPr>
            <a:r>
              <a:rPr lang="en-US" sz="1150" dirty="0">
                <a:solidFill>
                  <a:srgbClr val="3A4750"/>
                </a:solidFill>
                <a:latin typeface="Calibri" pitchFamily="34" charset="0"/>
                <a:ea typeface="Calibri" pitchFamily="34" charset="-122"/>
                <a:cs typeface="Calibri" pitchFamily="34" charset="-120"/>
              </a:rPr>
              <a:t>Decision Tree → Random Forest → AdaBoost/GBM → LightGBM (chính) → XGBoost (so sánh). Dùng chung TimeSeriesSplit cho mọi model.</a:t>
            </a:r>
            <a:endParaRPr lang="en-US" sz="1150" dirty="0"/>
          </a:p>
        </p:txBody>
      </p:sp>
      <p:sp>
        <p:nvSpPr>
          <p:cNvPr id="13" name="Shape 10"/>
          <p:cNvSpPr/>
          <p:nvPr/>
        </p:nvSpPr>
        <p:spPr>
          <a:xfrm>
            <a:off x="3429000" y="2880360"/>
            <a:ext cx="118872" cy="118872"/>
          </a:xfrm>
          <a:prstGeom prst="ellipse">
            <a:avLst/>
          </a:prstGeom>
          <a:solidFill>
            <a:srgbClr val="1C7293"/>
          </a:solidFill>
          <a:ln/>
        </p:spPr>
        <p:txBody>
          <a:bodyPr/>
          <a:lstStyle/>
          <a:p>
            <a:endParaRPr lang="en-US"/>
          </a:p>
        </p:txBody>
      </p:sp>
      <p:sp>
        <p:nvSpPr>
          <p:cNvPr id="14" name="Text 11"/>
          <p:cNvSpPr/>
          <p:nvPr/>
        </p:nvSpPr>
        <p:spPr>
          <a:xfrm>
            <a:off x="3703320" y="2734056"/>
            <a:ext cx="7680960" cy="32004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6 · Optuna Tuning</a:t>
            </a:r>
            <a:endParaRPr lang="en-US" sz="1350" dirty="0"/>
          </a:p>
        </p:txBody>
      </p:sp>
      <p:sp>
        <p:nvSpPr>
          <p:cNvPr id="15" name="Text 12"/>
          <p:cNvSpPr/>
          <p:nvPr/>
        </p:nvSpPr>
        <p:spPr>
          <a:xfrm>
            <a:off x="3703320" y="3063240"/>
            <a:ext cx="7680960" cy="594360"/>
          </a:xfrm>
          <a:prstGeom prst="rect">
            <a:avLst/>
          </a:prstGeom>
          <a:noFill/>
          <a:ln/>
        </p:spPr>
        <p:txBody>
          <a:bodyPr wrap="square" rtlCol="0" anchor="ctr"/>
          <a:lstStyle/>
          <a:p>
            <a:pPr marL="0" indent="0">
              <a:lnSpc>
                <a:spcPts val="1400"/>
              </a:lnSpc>
              <a:buNone/>
            </a:pPr>
            <a:r>
              <a:rPr lang="en-US" sz="1150" dirty="0">
                <a:solidFill>
                  <a:srgbClr val="3A4750"/>
                </a:solidFill>
                <a:latin typeface="Calibri" pitchFamily="34" charset="0"/>
                <a:ea typeface="Calibri" pitchFamily="34" charset="-122"/>
                <a:cs typeface="Calibri" pitchFamily="34" charset="-120"/>
              </a:rPr>
              <a:t>Chỉ dùng validation set trong khung walk-forward; log toàn bộ lịch sử trial; tối ưu sau khi đã chốt bộ feature.</a:t>
            </a:r>
            <a:endParaRPr lang="en-US" sz="1150" dirty="0"/>
          </a:p>
        </p:txBody>
      </p:sp>
      <p:sp>
        <p:nvSpPr>
          <p:cNvPr id="16" name="Shape 13"/>
          <p:cNvSpPr/>
          <p:nvPr/>
        </p:nvSpPr>
        <p:spPr>
          <a:xfrm>
            <a:off x="3429000" y="4050792"/>
            <a:ext cx="118872" cy="118872"/>
          </a:xfrm>
          <a:prstGeom prst="ellipse">
            <a:avLst/>
          </a:prstGeom>
          <a:solidFill>
            <a:srgbClr val="1C7293"/>
          </a:solidFill>
          <a:ln/>
        </p:spPr>
        <p:txBody>
          <a:bodyPr/>
          <a:lstStyle/>
          <a:p>
            <a:endParaRPr lang="en-US"/>
          </a:p>
        </p:txBody>
      </p:sp>
      <p:sp>
        <p:nvSpPr>
          <p:cNvPr id="17" name="Text 14"/>
          <p:cNvSpPr/>
          <p:nvPr/>
        </p:nvSpPr>
        <p:spPr>
          <a:xfrm>
            <a:off x="3703320" y="3904488"/>
            <a:ext cx="7680960" cy="32004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7 · Evaluation &amp; Error Analysis</a:t>
            </a:r>
            <a:endParaRPr lang="en-US" sz="1350" dirty="0"/>
          </a:p>
        </p:txBody>
      </p:sp>
      <p:sp>
        <p:nvSpPr>
          <p:cNvPr id="18" name="Text 15"/>
          <p:cNvSpPr/>
          <p:nvPr/>
        </p:nvSpPr>
        <p:spPr>
          <a:xfrm>
            <a:off x="3703320" y="4233672"/>
            <a:ext cx="7680960" cy="594360"/>
          </a:xfrm>
          <a:prstGeom prst="rect">
            <a:avLst/>
          </a:prstGeom>
          <a:noFill/>
          <a:ln/>
        </p:spPr>
        <p:txBody>
          <a:bodyPr wrap="square" rtlCol="0" anchor="ctr"/>
          <a:lstStyle/>
          <a:p>
            <a:pPr marL="0" indent="0">
              <a:lnSpc>
                <a:spcPts val="1400"/>
              </a:lnSpc>
              <a:buNone/>
            </a:pPr>
            <a:r>
              <a:rPr lang="en-US" sz="1150" dirty="0">
                <a:solidFill>
                  <a:srgbClr val="3A4750"/>
                </a:solidFill>
                <a:latin typeface="Calibri" pitchFamily="34" charset="0"/>
                <a:ea typeface="Calibri" pitchFamily="34" charset="-122"/>
                <a:cs typeface="Calibri" pitchFamily="34" charset="-120"/>
              </a:rPr>
              <a:t>Tách theo: horizon · phân khúc sản phẩm (fast/slow) · có/không khuyến mãi · trước/sau Optuna.</a:t>
            </a:r>
            <a:endParaRPr lang="en-US" sz="1150" dirty="0"/>
          </a:p>
        </p:txBody>
      </p:sp>
      <p:sp>
        <p:nvSpPr>
          <p:cNvPr id="19" name="Shape 16"/>
          <p:cNvSpPr/>
          <p:nvPr/>
        </p:nvSpPr>
        <p:spPr>
          <a:xfrm>
            <a:off x="3429000" y="5221224"/>
            <a:ext cx="118872" cy="118872"/>
          </a:xfrm>
          <a:prstGeom prst="ellipse">
            <a:avLst/>
          </a:prstGeom>
          <a:solidFill>
            <a:srgbClr val="1C7293"/>
          </a:solidFill>
          <a:ln/>
        </p:spPr>
        <p:txBody>
          <a:bodyPr/>
          <a:lstStyle/>
          <a:p>
            <a:endParaRPr lang="en-US"/>
          </a:p>
        </p:txBody>
      </p:sp>
      <p:sp>
        <p:nvSpPr>
          <p:cNvPr id="20" name="Text 17"/>
          <p:cNvSpPr/>
          <p:nvPr/>
        </p:nvSpPr>
        <p:spPr>
          <a:xfrm>
            <a:off x="3703320" y="5074920"/>
            <a:ext cx="7680960" cy="320040"/>
          </a:xfrm>
          <a:prstGeom prst="rect">
            <a:avLst/>
          </a:prstGeom>
          <a:noFill/>
          <a:ln/>
        </p:spPr>
        <p:txBody>
          <a:bodyPr wrap="square"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8 · TreeSHAP</a:t>
            </a:r>
            <a:endParaRPr lang="en-US" sz="1350" dirty="0"/>
          </a:p>
        </p:txBody>
      </p:sp>
      <p:sp>
        <p:nvSpPr>
          <p:cNvPr id="21" name="Text 18"/>
          <p:cNvSpPr/>
          <p:nvPr/>
        </p:nvSpPr>
        <p:spPr>
          <a:xfrm>
            <a:off x="3703320" y="5404104"/>
            <a:ext cx="7680960" cy="594360"/>
          </a:xfrm>
          <a:prstGeom prst="rect">
            <a:avLst/>
          </a:prstGeom>
          <a:noFill/>
          <a:ln/>
        </p:spPr>
        <p:txBody>
          <a:bodyPr wrap="square" rtlCol="0" anchor="ctr"/>
          <a:lstStyle/>
          <a:p>
            <a:pPr marL="0" indent="0">
              <a:lnSpc>
                <a:spcPts val="1400"/>
              </a:lnSpc>
              <a:buNone/>
            </a:pPr>
            <a:r>
              <a:rPr lang="en-US" sz="1150" dirty="0">
                <a:solidFill>
                  <a:srgbClr val="3A4750"/>
                </a:solidFill>
                <a:latin typeface="Calibri" pitchFamily="34" charset="0"/>
                <a:ea typeface="Calibri" pitchFamily="34" charset="-122"/>
                <a:cs typeface="Calibri" pitchFamily="34" charset="-120"/>
              </a:rPr>
              <a:t>Feature importance tổng thể + dependence plot kiểm tra tính hợp lý nhân quả (price/promo) + ổn định SHAP qua các fold.</a:t>
            </a:r>
            <a:endParaRPr lang="en-US" sz="1150" dirty="0"/>
          </a:p>
        </p:txBody>
      </p:sp>
      <p:sp>
        <p:nvSpPr>
          <p:cNvPr id="22" name="Text 1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AFDCF0"/>
                </a:solidFill>
                <a:latin typeface="Calibri" pitchFamily="34" charset="0"/>
                <a:ea typeface="Calibri" pitchFamily="34" charset="-122"/>
                <a:cs typeface="Calibri" pitchFamily="34" charset="-120"/>
              </a:rPr>
              <a:t>NGUYÊN TẮC KIẾN TRÚC</a:t>
            </a:r>
            <a:endParaRPr lang="en-US" sz="1200" dirty="0"/>
          </a:p>
        </p:txBody>
      </p:sp>
      <p:sp>
        <p:nvSpPr>
          <p:cNvPr id="3" name="Text 1"/>
          <p:cNvSpPr/>
          <p:nvPr/>
        </p:nvSpPr>
        <p:spPr>
          <a:xfrm>
            <a:off x="548640" y="685800"/>
            <a:ext cx="10515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Chống Tech Debt ngay từ thiết kế</a:t>
            </a:r>
            <a:endParaRPr lang="en-US" sz="2800" dirty="0"/>
          </a:p>
        </p:txBody>
      </p:sp>
      <p:sp>
        <p:nvSpPr>
          <p:cNvPr id="4" name="Shape 2"/>
          <p:cNvSpPr/>
          <p:nvPr/>
        </p:nvSpPr>
        <p:spPr>
          <a:xfrm>
            <a:off x="548640" y="1554480"/>
            <a:ext cx="566928" cy="566928"/>
          </a:xfrm>
          <a:prstGeom prst="ellipse">
            <a:avLst/>
          </a:prstGeom>
          <a:solidFill>
            <a:srgbClr val="065A82"/>
          </a:solidFill>
          <a:ln/>
        </p:spPr>
        <p:txBody>
          <a:bodyPr/>
          <a:lstStyle/>
          <a:p>
            <a:endParaRPr lang="en-US"/>
          </a:p>
        </p:txBody>
      </p:sp>
      <p:pic>
        <p:nvPicPr>
          <p:cNvPr id="5" name="Image 0" descr="/tmp/deck/icon_boxes_white.png"/>
          <p:cNvPicPr>
            <a:picLocks noChangeAspect="1"/>
          </p:cNvPicPr>
          <p:nvPr/>
        </p:nvPicPr>
        <p:blipFill>
          <a:blip r:embed="rId3"/>
          <a:stretch>
            <a:fillRect/>
          </a:stretch>
        </p:blipFill>
        <p:spPr>
          <a:xfrm>
            <a:off x="622341" y="1628181"/>
            <a:ext cx="419527" cy="419527"/>
          </a:xfrm>
          <a:prstGeom prst="rect">
            <a:avLst/>
          </a:prstGeom>
        </p:spPr>
      </p:pic>
      <p:sp>
        <p:nvSpPr>
          <p:cNvPr id="6" name="Text 3"/>
          <p:cNvSpPr/>
          <p:nvPr/>
        </p:nvSpPr>
        <p:spPr>
          <a:xfrm>
            <a:off x="1280160" y="1508760"/>
            <a:ext cx="98755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Tách logic feature khỏi logic time-boundary</a:t>
            </a:r>
            <a:endParaRPr lang="en-US" sz="1450" dirty="0"/>
          </a:p>
        </p:txBody>
      </p:sp>
      <p:sp>
        <p:nvSpPr>
          <p:cNvPr id="7" name="Text 4"/>
          <p:cNvSpPr/>
          <p:nvPr/>
        </p:nvSpPr>
        <p:spPr>
          <a:xfrm>
            <a:off x="1280160" y="1874520"/>
            <a:ext cx="9966960" cy="457200"/>
          </a:xfrm>
          <a:prstGeom prst="rect">
            <a:avLst/>
          </a:prstGeom>
          <a:noFill/>
          <a:ln/>
        </p:spPr>
        <p:txBody>
          <a:bodyPr wrap="square" rtlCol="0" anchor="ctr"/>
          <a:lstStyle/>
          <a:p>
            <a:pPr marL="0" indent="0">
              <a:lnSpc>
                <a:spcPts val="1400"/>
              </a:lnSpc>
              <a:buNone/>
            </a:pPr>
            <a:r>
              <a:rPr lang="en-US" sz="1200" dirty="0">
                <a:solidFill>
                  <a:srgbClr val="C9DFEC"/>
                </a:solidFill>
                <a:latin typeface="Calibri" pitchFamily="34" charset="0"/>
                <a:ea typeface="Calibri" pitchFamily="34" charset="-122"/>
                <a:cs typeface="Calibri" pitchFamily="34" charset="-120"/>
              </a:rPr>
              <a:t>Không trộn 2 việc trong cùng 1 hàm — nguồn gốc phổ biến nhất của leakage bug khó phát hiện.</a:t>
            </a:r>
            <a:endParaRPr lang="en-US" sz="1200" dirty="0"/>
          </a:p>
        </p:txBody>
      </p:sp>
      <p:sp>
        <p:nvSpPr>
          <p:cNvPr id="8" name="Shape 5"/>
          <p:cNvSpPr/>
          <p:nvPr/>
        </p:nvSpPr>
        <p:spPr>
          <a:xfrm>
            <a:off x="548640" y="2468880"/>
            <a:ext cx="566928" cy="566928"/>
          </a:xfrm>
          <a:prstGeom prst="ellipse">
            <a:avLst/>
          </a:prstGeom>
          <a:solidFill>
            <a:srgbClr val="065A82"/>
          </a:solidFill>
          <a:ln/>
        </p:spPr>
        <p:txBody>
          <a:bodyPr/>
          <a:lstStyle/>
          <a:p>
            <a:endParaRPr lang="en-US"/>
          </a:p>
        </p:txBody>
      </p:sp>
      <p:pic>
        <p:nvPicPr>
          <p:cNvPr id="9" name="Image 1" descr="/tmp/deck/icon_layers_white.png"/>
          <p:cNvPicPr>
            <a:picLocks noChangeAspect="1"/>
          </p:cNvPicPr>
          <p:nvPr/>
        </p:nvPicPr>
        <p:blipFill>
          <a:blip r:embed="rId4"/>
          <a:stretch>
            <a:fillRect/>
          </a:stretch>
        </p:blipFill>
        <p:spPr>
          <a:xfrm>
            <a:off x="622341" y="2542581"/>
            <a:ext cx="419527" cy="419527"/>
          </a:xfrm>
          <a:prstGeom prst="rect">
            <a:avLst/>
          </a:prstGeom>
        </p:spPr>
      </p:pic>
      <p:sp>
        <p:nvSpPr>
          <p:cNvPr id="10" name="Text 6"/>
          <p:cNvSpPr/>
          <p:nvPr/>
        </p:nvSpPr>
        <p:spPr>
          <a:xfrm>
            <a:off x="1280160" y="2423160"/>
            <a:ext cx="98755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Feature theo block bật/tắt độc lập</a:t>
            </a:r>
            <a:endParaRPr lang="en-US" sz="1450" dirty="0"/>
          </a:p>
        </p:txBody>
      </p:sp>
      <p:sp>
        <p:nvSpPr>
          <p:cNvPr id="11" name="Text 7"/>
          <p:cNvSpPr/>
          <p:nvPr/>
        </p:nvSpPr>
        <p:spPr>
          <a:xfrm>
            <a:off x="1280160" y="2788920"/>
            <a:ext cx="9966960" cy="457200"/>
          </a:xfrm>
          <a:prstGeom prst="rect">
            <a:avLst/>
          </a:prstGeom>
          <a:noFill/>
          <a:ln/>
        </p:spPr>
        <p:txBody>
          <a:bodyPr wrap="square" rtlCol="0" anchor="ctr"/>
          <a:lstStyle/>
          <a:p>
            <a:pPr marL="0" indent="0">
              <a:lnSpc>
                <a:spcPts val="1400"/>
              </a:lnSpc>
              <a:buNone/>
            </a:pPr>
            <a:r>
              <a:rPr lang="en-US" sz="1200" dirty="0">
                <a:solidFill>
                  <a:srgbClr val="C9DFEC"/>
                </a:solidFill>
                <a:latin typeface="Calibri" pitchFamily="34" charset="0"/>
                <a:ea typeface="Calibri" pitchFamily="34" charset="-122"/>
                <a:cs typeface="Calibri" pitchFamily="34" charset="-120"/>
              </a:rPr>
              <a:t>Ablation-test không đòi hỏi viết lại pipeline.</a:t>
            </a:r>
            <a:endParaRPr lang="en-US" sz="1200" dirty="0"/>
          </a:p>
        </p:txBody>
      </p:sp>
      <p:sp>
        <p:nvSpPr>
          <p:cNvPr id="12" name="Shape 8"/>
          <p:cNvSpPr/>
          <p:nvPr/>
        </p:nvSpPr>
        <p:spPr>
          <a:xfrm>
            <a:off x="548640" y="3383280"/>
            <a:ext cx="566928" cy="566928"/>
          </a:xfrm>
          <a:prstGeom prst="ellipse">
            <a:avLst/>
          </a:prstGeom>
          <a:solidFill>
            <a:srgbClr val="065A82"/>
          </a:solidFill>
          <a:ln/>
        </p:spPr>
        <p:txBody>
          <a:bodyPr/>
          <a:lstStyle/>
          <a:p>
            <a:endParaRPr lang="en-US"/>
          </a:p>
        </p:txBody>
      </p:sp>
      <p:pic>
        <p:nvPicPr>
          <p:cNvPr id="13" name="Image 2" descr="/tmp/deck/icon_balance_white.png"/>
          <p:cNvPicPr>
            <a:picLocks noChangeAspect="1"/>
          </p:cNvPicPr>
          <p:nvPr/>
        </p:nvPicPr>
        <p:blipFill>
          <a:blip r:embed="rId5"/>
          <a:stretch>
            <a:fillRect/>
          </a:stretch>
        </p:blipFill>
        <p:spPr>
          <a:xfrm>
            <a:off x="622341" y="3456981"/>
            <a:ext cx="419527" cy="419527"/>
          </a:xfrm>
          <a:prstGeom prst="rect">
            <a:avLst/>
          </a:prstGeom>
        </p:spPr>
      </p:pic>
      <p:sp>
        <p:nvSpPr>
          <p:cNvPr id="14" name="Text 9"/>
          <p:cNvSpPr/>
          <p:nvPr/>
        </p:nvSpPr>
        <p:spPr>
          <a:xfrm>
            <a:off x="1280160" y="3337560"/>
            <a:ext cx="98755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 evaluation layer dùng chung mọi model</a:t>
            </a:r>
            <a:endParaRPr lang="en-US" sz="1450" dirty="0"/>
          </a:p>
        </p:txBody>
      </p:sp>
      <p:sp>
        <p:nvSpPr>
          <p:cNvPr id="15" name="Text 10"/>
          <p:cNvSpPr/>
          <p:nvPr/>
        </p:nvSpPr>
        <p:spPr>
          <a:xfrm>
            <a:off x="1280160" y="3703320"/>
            <a:ext cx="9966960" cy="457200"/>
          </a:xfrm>
          <a:prstGeom prst="rect">
            <a:avLst/>
          </a:prstGeom>
          <a:noFill/>
          <a:ln/>
        </p:spPr>
        <p:txBody>
          <a:bodyPr wrap="square" rtlCol="0" anchor="ctr"/>
          <a:lstStyle/>
          <a:p>
            <a:pPr marL="0" indent="0">
              <a:lnSpc>
                <a:spcPts val="1400"/>
              </a:lnSpc>
              <a:buNone/>
            </a:pPr>
            <a:r>
              <a:rPr lang="en-US" sz="1200" dirty="0">
                <a:solidFill>
                  <a:srgbClr val="C9DFEC"/>
                </a:solidFill>
                <a:latin typeface="Calibri" pitchFamily="34" charset="0"/>
                <a:ea typeface="Calibri" pitchFamily="34" charset="-122"/>
                <a:cs typeface="Calibri" pitchFamily="34" charset="-120"/>
              </a:rPr>
              <a:t>Baseline → Decision Tree → ... → LightGBM đều so sánh công bằng, cùng 1 cách tính metric.</a:t>
            </a:r>
            <a:endParaRPr lang="en-US" sz="1200" dirty="0"/>
          </a:p>
        </p:txBody>
      </p:sp>
      <p:sp>
        <p:nvSpPr>
          <p:cNvPr id="16" name="Shape 11"/>
          <p:cNvSpPr/>
          <p:nvPr/>
        </p:nvSpPr>
        <p:spPr>
          <a:xfrm>
            <a:off x="548640" y="4297680"/>
            <a:ext cx="566928" cy="566928"/>
          </a:xfrm>
          <a:prstGeom prst="ellipse">
            <a:avLst/>
          </a:prstGeom>
          <a:solidFill>
            <a:srgbClr val="065A82"/>
          </a:solidFill>
          <a:ln/>
        </p:spPr>
        <p:txBody>
          <a:bodyPr/>
          <a:lstStyle/>
          <a:p>
            <a:endParaRPr lang="en-US"/>
          </a:p>
        </p:txBody>
      </p:sp>
      <p:pic>
        <p:nvPicPr>
          <p:cNvPr id="17" name="Image 3" descr="/tmp/deck/icon_search_white.png"/>
          <p:cNvPicPr>
            <a:picLocks noChangeAspect="1"/>
          </p:cNvPicPr>
          <p:nvPr/>
        </p:nvPicPr>
        <p:blipFill>
          <a:blip r:embed="rId6"/>
          <a:stretch>
            <a:fillRect/>
          </a:stretch>
        </p:blipFill>
        <p:spPr>
          <a:xfrm>
            <a:off x="622341" y="4371381"/>
            <a:ext cx="419527" cy="419527"/>
          </a:xfrm>
          <a:prstGeom prst="rect">
            <a:avLst/>
          </a:prstGeom>
        </p:spPr>
      </p:pic>
      <p:sp>
        <p:nvSpPr>
          <p:cNvPr id="18" name="Text 12"/>
          <p:cNvSpPr/>
          <p:nvPr/>
        </p:nvSpPr>
        <p:spPr>
          <a:xfrm>
            <a:off x="1280160" y="4251960"/>
            <a:ext cx="98755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Optuna tái dùng đúng cơ chế walk-forward của Evaluation</a:t>
            </a:r>
            <a:endParaRPr lang="en-US" sz="1450" dirty="0"/>
          </a:p>
        </p:txBody>
      </p:sp>
      <p:sp>
        <p:nvSpPr>
          <p:cNvPr id="19" name="Text 13"/>
          <p:cNvSpPr/>
          <p:nvPr/>
        </p:nvSpPr>
        <p:spPr>
          <a:xfrm>
            <a:off x="1280160" y="4617720"/>
            <a:ext cx="9966960" cy="457200"/>
          </a:xfrm>
          <a:prstGeom prst="rect">
            <a:avLst/>
          </a:prstGeom>
          <a:noFill/>
          <a:ln/>
        </p:spPr>
        <p:txBody>
          <a:bodyPr wrap="square" rtlCol="0" anchor="ctr"/>
          <a:lstStyle/>
          <a:p>
            <a:pPr marL="0" indent="0">
              <a:lnSpc>
                <a:spcPts val="1400"/>
              </a:lnSpc>
              <a:buNone/>
            </a:pPr>
            <a:r>
              <a:rPr lang="en-US" sz="1200" dirty="0">
                <a:solidFill>
                  <a:srgbClr val="C9DFEC"/>
                </a:solidFill>
                <a:latin typeface="Calibri" pitchFamily="34" charset="0"/>
                <a:ea typeface="Calibri" pitchFamily="34" charset="-122"/>
                <a:cs typeface="Calibri" pitchFamily="34" charset="-120"/>
              </a:rPr>
              <a:t>Không viết quy trình đánh giá riêng chỉ cho tuning.</a:t>
            </a:r>
            <a:endParaRPr lang="en-US" sz="1200" dirty="0"/>
          </a:p>
        </p:txBody>
      </p:sp>
      <p:sp>
        <p:nvSpPr>
          <p:cNvPr id="20" name="Shape 14"/>
          <p:cNvSpPr/>
          <p:nvPr/>
        </p:nvSpPr>
        <p:spPr>
          <a:xfrm>
            <a:off x="548640" y="5212080"/>
            <a:ext cx="566928" cy="566928"/>
          </a:xfrm>
          <a:prstGeom prst="ellipse">
            <a:avLst/>
          </a:prstGeom>
          <a:solidFill>
            <a:srgbClr val="065A82"/>
          </a:solidFill>
          <a:ln/>
        </p:spPr>
        <p:txBody>
          <a:bodyPr/>
          <a:lstStyle/>
          <a:p>
            <a:endParaRPr lang="en-US"/>
          </a:p>
        </p:txBody>
      </p:sp>
      <p:pic>
        <p:nvPicPr>
          <p:cNvPr id="21" name="Image 4" descr="/tmp/deck/icon_clipboard_white.png"/>
          <p:cNvPicPr>
            <a:picLocks noChangeAspect="1"/>
          </p:cNvPicPr>
          <p:nvPr/>
        </p:nvPicPr>
        <p:blipFill>
          <a:blip r:embed="rId7"/>
          <a:stretch>
            <a:fillRect/>
          </a:stretch>
        </p:blipFill>
        <p:spPr>
          <a:xfrm>
            <a:off x="622341" y="5285781"/>
            <a:ext cx="419527" cy="419527"/>
          </a:xfrm>
          <a:prstGeom prst="rect">
            <a:avLst/>
          </a:prstGeom>
        </p:spPr>
      </p:pic>
      <p:sp>
        <p:nvSpPr>
          <p:cNvPr id="22" name="Text 15"/>
          <p:cNvSpPr/>
          <p:nvPr/>
        </p:nvSpPr>
        <p:spPr>
          <a:xfrm>
            <a:off x="1280160" y="5166360"/>
            <a:ext cx="98755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Ghi lại quyết định thiết kế từ Giai đoạn 0</a:t>
            </a:r>
            <a:endParaRPr lang="en-US" sz="1450" dirty="0"/>
          </a:p>
        </p:txBody>
      </p:sp>
      <p:sp>
        <p:nvSpPr>
          <p:cNvPr id="23" name="Text 16"/>
          <p:cNvSpPr/>
          <p:nvPr/>
        </p:nvSpPr>
        <p:spPr>
          <a:xfrm>
            <a:off x="1280160" y="5532120"/>
            <a:ext cx="9966960" cy="457200"/>
          </a:xfrm>
          <a:prstGeom prst="rect">
            <a:avLst/>
          </a:prstGeom>
          <a:noFill/>
          <a:ln/>
        </p:spPr>
        <p:txBody>
          <a:bodyPr wrap="square" rtlCol="0" anchor="ctr"/>
          <a:lstStyle/>
          <a:p>
            <a:pPr marL="0" indent="0">
              <a:lnSpc>
                <a:spcPts val="1400"/>
              </a:lnSpc>
              <a:buNone/>
            </a:pPr>
            <a:r>
              <a:rPr lang="en-US" sz="1200" dirty="0">
                <a:solidFill>
                  <a:srgbClr val="C9DFEC"/>
                </a:solidFill>
                <a:latin typeface="Calibri" pitchFamily="34" charset="0"/>
                <a:ea typeface="Calibri" pitchFamily="34" charset="-122"/>
                <a:cs typeface="Calibri" pitchFamily="34" charset="-120"/>
              </a:rPr>
              <a:t>Đơn vị dự báo, horizon, cách chia thời gian — để team không tranh cãi lại giữa chừng dự án.</a:t>
            </a:r>
            <a:endParaRPr lang="en-US" sz="1200" dirty="0"/>
          </a:p>
        </p:txBody>
      </p:sp>
      <p:sp>
        <p:nvSpPr>
          <p:cNvPr id="24" name="Text 1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8FA6C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21295C"/>
          </a:solidFill>
          <a:ln/>
        </p:spPr>
        <p:txBody>
          <a:bodyPr/>
          <a:lstStyle/>
          <a:p>
            <a:endParaRPr lang="en-US"/>
          </a:p>
        </p:txBody>
      </p:sp>
      <p:sp>
        <p:nvSpPr>
          <p:cNvPr id="3" name="Text 1"/>
          <p:cNvSpPr/>
          <p:nvPr/>
        </p:nvSpPr>
        <p:spPr>
          <a:xfrm>
            <a:off x="548640" y="502920"/>
            <a:ext cx="73152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Next Steps</a:t>
            </a:r>
            <a:endParaRPr lang="en-US" sz="2800" dirty="0"/>
          </a:p>
        </p:txBody>
      </p:sp>
      <p:sp>
        <p:nvSpPr>
          <p:cNvPr id="4" name="Shape 2"/>
          <p:cNvSpPr/>
          <p:nvPr/>
        </p:nvSpPr>
        <p:spPr>
          <a:xfrm>
            <a:off x="548640" y="1920240"/>
            <a:ext cx="502920" cy="502920"/>
          </a:xfrm>
          <a:prstGeom prst="ellipse">
            <a:avLst/>
          </a:prstGeom>
          <a:solidFill>
            <a:srgbClr val="065A82"/>
          </a:solidFill>
          <a:ln/>
        </p:spPr>
        <p:txBody>
          <a:bodyPr/>
          <a:lstStyle/>
          <a:p>
            <a:endParaRPr lang="en-US"/>
          </a:p>
        </p:txBody>
      </p:sp>
      <p:sp>
        <p:nvSpPr>
          <p:cNvPr id="5" name="Text 3"/>
          <p:cNvSpPr/>
          <p:nvPr/>
        </p:nvSpPr>
        <p:spPr>
          <a:xfrm>
            <a:off x="548640"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80160" y="1901952"/>
            <a:ext cx="9966960" cy="36576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Chốt Giai đoạn 0</a:t>
            </a:r>
            <a:endParaRPr lang="en-US" sz="1500" dirty="0"/>
          </a:p>
        </p:txBody>
      </p:sp>
      <p:sp>
        <p:nvSpPr>
          <p:cNvPr id="7" name="Text 5"/>
          <p:cNvSpPr/>
          <p:nvPr/>
        </p:nvSpPr>
        <p:spPr>
          <a:xfrm>
            <a:off x="1280160" y="2249424"/>
            <a:ext cx="9966960" cy="457200"/>
          </a:xfrm>
          <a:prstGeom prst="rect">
            <a:avLst/>
          </a:prstGeom>
          <a:noFill/>
          <a:ln/>
        </p:spPr>
        <p:txBody>
          <a:bodyPr wrap="square" rtlCol="0" anchor="ctr"/>
          <a:lstStyle/>
          <a:p>
            <a:pPr marL="0" indent="0">
              <a:lnSpc>
                <a:spcPts val="1400"/>
              </a:lnSpc>
              <a:buNone/>
            </a:pPr>
            <a:r>
              <a:rPr lang="en-US" sz="1200" dirty="0">
                <a:solidFill>
                  <a:srgbClr val="3A4750"/>
                </a:solidFill>
                <a:latin typeface="Calibri" pitchFamily="34" charset="0"/>
                <a:ea typeface="Calibri" pitchFamily="34" charset="-122"/>
                <a:cs typeface="Calibri" pitchFamily="34" charset="-120"/>
              </a:rPr>
              <a:t>Đơn vị dự báo, horizon, metric chính — quyết định cả team đồng thuận</a:t>
            </a:r>
            <a:endParaRPr lang="en-US" sz="1200" dirty="0"/>
          </a:p>
        </p:txBody>
      </p:sp>
      <p:sp>
        <p:nvSpPr>
          <p:cNvPr id="8" name="Shape 6"/>
          <p:cNvSpPr/>
          <p:nvPr/>
        </p:nvSpPr>
        <p:spPr>
          <a:xfrm>
            <a:off x="548640" y="2971800"/>
            <a:ext cx="502920" cy="502920"/>
          </a:xfrm>
          <a:prstGeom prst="ellipse">
            <a:avLst/>
          </a:prstGeom>
          <a:solidFill>
            <a:srgbClr val="065A82"/>
          </a:solidFill>
          <a:ln/>
        </p:spPr>
        <p:txBody>
          <a:bodyPr/>
          <a:lstStyle/>
          <a:p>
            <a:endParaRPr lang="en-US"/>
          </a:p>
        </p:txBody>
      </p:sp>
      <p:sp>
        <p:nvSpPr>
          <p:cNvPr id="9" name="Text 7"/>
          <p:cNvSpPr/>
          <p:nvPr/>
        </p:nvSpPr>
        <p:spPr>
          <a:xfrm>
            <a:off x="548640" y="297180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280160" y="2953512"/>
            <a:ext cx="9966960" cy="36576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Setup Temporal Split + Data Validation</a:t>
            </a:r>
            <a:endParaRPr lang="en-US" sz="1500" dirty="0"/>
          </a:p>
        </p:txBody>
      </p:sp>
      <p:sp>
        <p:nvSpPr>
          <p:cNvPr id="11" name="Text 9"/>
          <p:cNvSpPr/>
          <p:nvPr/>
        </p:nvSpPr>
        <p:spPr>
          <a:xfrm>
            <a:off x="1280160" y="3300984"/>
            <a:ext cx="9966960" cy="457200"/>
          </a:xfrm>
          <a:prstGeom prst="rect">
            <a:avLst/>
          </a:prstGeom>
          <a:noFill/>
          <a:ln/>
        </p:spPr>
        <p:txBody>
          <a:bodyPr wrap="square" rtlCol="0" anchor="ctr"/>
          <a:lstStyle/>
          <a:p>
            <a:pPr marL="0" indent="0">
              <a:lnSpc>
                <a:spcPts val="1400"/>
              </a:lnSpc>
              <a:buNone/>
            </a:pPr>
            <a:r>
              <a:rPr lang="en-US" sz="1200" dirty="0">
                <a:solidFill>
                  <a:srgbClr val="3A4750"/>
                </a:solidFill>
                <a:latin typeface="Calibri" pitchFamily="34" charset="0"/>
                <a:ea typeface="Calibri" pitchFamily="34" charset="-122"/>
                <a:cs typeface="Calibri" pitchFamily="34" charset="-120"/>
              </a:rPr>
              <a:t>Nền tảng chống leakage trước khi ai chạm vào feature engineering</a:t>
            </a:r>
            <a:endParaRPr lang="en-US" sz="1200" dirty="0"/>
          </a:p>
        </p:txBody>
      </p:sp>
      <p:sp>
        <p:nvSpPr>
          <p:cNvPr id="12" name="Shape 10"/>
          <p:cNvSpPr/>
          <p:nvPr/>
        </p:nvSpPr>
        <p:spPr>
          <a:xfrm>
            <a:off x="548640" y="4023360"/>
            <a:ext cx="502920" cy="502920"/>
          </a:xfrm>
          <a:prstGeom prst="ellipse">
            <a:avLst/>
          </a:prstGeom>
          <a:solidFill>
            <a:srgbClr val="065A82"/>
          </a:solidFill>
          <a:ln/>
        </p:spPr>
        <p:txBody>
          <a:bodyPr/>
          <a:lstStyle/>
          <a:p>
            <a:endParaRPr lang="en-US"/>
          </a:p>
        </p:txBody>
      </p:sp>
      <p:sp>
        <p:nvSpPr>
          <p:cNvPr id="13" name="Text 11"/>
          <p:cNvSpPr/>
          <p:nvPr/>
        </p:nvSpPr>
        <p:spPr>
          <a:xfrm>
            <a:off x="548640" y="402336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280160" y="4005072"/>
            <a:ext cx="9966960" cy="36576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Viết spec kỹ thuật ngắn cho mỗi block feature</a:t>
            </a:r>
            <a:endParaRPr lang="en-US" sz="1500" dirty="0"/>
          </a:p>
        </p:txBody>
      </p:sp>
      <p:sp>
        <p:nvSpPr>
          <p:cNvPr id="15" name="Text 13"/>
          <p:cNvSpPr/>
          <p:nvPr/>
        </p:nvSpPr>
        <p:spPr>
          <a:xfrm>
            <a:off x="1280160" y="4352544"/>
            <a:ext cx="9966960" cy="457200"/>
          </a:xfrm>
          <a:prstGeom prst="rect">
            <a:avLst/>
          </a:prstGeom>
          <a:noFill/>
          <a:ln/>
        </p:spPr>
        <p:txBody>
          <a:bodyPr wrap="square" rtlCol="0" anchor="ctr"/>
          <a:lstStyle/>
          <a:p>
            <a:pPr marL="0" indent="0">
              <a:lnSpc>
                <a:spcPts val="1400"/>
              </a:lnSpc>
              <a:buNone/>
            </a:pPr>
            <a:r>
              <a:rPr lang="en-US" sz="1200" dirty="0">
                <a:solidFill>
                  <a:srgbClr val="3A4750"/>
                </a:solidFill>
                <a:latin typeface="Calibri" pitchFamily="34" charset="0"/>
                <a:ea typeface="Calibri" pitchFamily="34" charset="-122"/>
                <a:cs typeface="Calibri" pitchFamily="34" charset="-120"/>
              </a:rPr>
              <a:t>Lag / Rolling / Calendar / Exogenous / Entity — input, output, ranh giới thời gian</a:t>
            </a:r>
            <a:endParaRPr lang="en-US" sz="1200" dirty="0"/>
          </a:p>
        </p:txBody>
      </p:sp>
      <p:sp>
        <p:nvSpPr>
          <p:cNvPr id="16" name="Shape 14"/>
          <p:cNvSpPr/>
          <p:nvPr/>
        </p:nvSpPr>
        <p:spPr>
          <a:xfrm>
            <a:off x="548640" y="5074920"/>
            <a:ext cx="502920" cy="502920"/>
          </a:xfrm>
          <a:prstGeom prst="ellipse">
            <a:avLst/>
          </a:prstGeom>
          <a:solidFill>
            <a:srgbClr val="065A82"/>
          </a:solidFill>
          <a:ln/>
        </p:spPr>
        <p:txBody>
          <a:bodyPr/>
          <a:lstStyle/>
          <a:p>
            <a:endParaRPr lang="en-US"/>
          </a:p>
        </p:txBody>
      </p:sp>
      <p:sp>
        <p:nvSpPr>
          <p:cNvPr id="17" name="Text 15"/>
          <p:cNvSpPr/>
          <p:nvPr/>
        </p:nvSpPr>
        <p:spPr>
          <a:xfrm>
            <a:off x="548640" y="50749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280160" y="5056632"/>
            <a:ext cx="9966960" cy="36576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Thiết kế unit test chống leakage</a:t>
            </a:r>
            <a:endParaRPr lang="en-US" sz="1500" dirty="0"/>
          </a:p>
        </p:txBody>
      </p:sp>
      <p:sp>
        <p:nvSpPr>
          <p:cNvPr id="19" name="Text 17"/>
          <p:cNvSpPr/>
          <p:nvPr/>
        </p:nvSpPr>
        <p:spPr>
          <a:xfrm>
            <a:off x="1280160" y="5404104"/>
            <a:ext cx="9966960" cy="457200"/>
          </a:xfrm>
          <a:prstGeom prst="rect">
            <a:avLst/>
          </a:prstGeom>
          <a:noFill/>
          <a:ln/>
        </p:spPr>
        <p:txBody>
          <a:bodyPr wrap="square" rtlCol="0" anchor="ctr"/>
          <a:lstStyle/>
          <a:p>
            <a:pPr marL="0" indent="0">
              <a:lnSpc>
                <a:spcPts val="1400"/>
              </a:lnSpc>
              <a:buNone/>
            </a:pPr>
            <a:r>
              <a:rPr lang="en-US" sz="1200" dirty="0">
                <a:solidFill>
                  <a:srgbClr val="3A4750"/>
                </a:solidFill>
                <a:latin typeface="Calibri" pitchFamily="34" charset="0"/>
                <a:ea typeface="Calibri" pitchFamily="34" charset="-122"/>
                <a:cs typeface="Calibri" pitchFamily="34" charset="-120"/>
              </a:rPr>
              <a:t>Sanity-check tự động, không phụ thuộc review thủ công</a:t>
            </a:r>
            <a:endParaRPr lang="en-US" sz="1200" dirty="0"/>
          </a:p>
        </p:txBody>
      </p:sp>
      <p:sp>
        <p:nvSpPr>
          <p:cNvPr id="20" name="Shape 18"/>
          <p:cNvSpPr/>
          <p:nvPr/>
        </p:nvSpPr>
        <p:spPr>
          <a:xfrm>
            <a:off x="548640" y="5989320"/>
            <a:ext cx="10881360" cy="548640"/>
          </a:xfrm>
          <a:prstGeom prst="roundRect">
            <a:avLst>
              <a:gd name="adj" fmla="val 13333"/>
            </a:avLst>
          </a:prstGeom>
          <a:solidFill>
            <a:srgbClr val="F5F9FB"/>
          </a:solidFill>
          <a:ln w="12700">
            <a:solidFill>
              <a:srgbClr val="E1E8EC"/>
            </a:solidFill>
            <a:prstDash val="solid"/>
          </a:ln>
        </p:spPr>
        <p:txBody>
          <a:bodyPr/>
          <a:lstStyle/>
          <a:p>
            <a:endParaRPr lang="en-US"/>
          </a:p>
        </p:txBody>
      </p:sp>
      <p:sp>
        <p:nvSpPr>
          <p:cNvPr id="21" name="Text 19"/>
          <p:cNvSpPr/>
          <p:nvPr/>
        </p:nvSpPr>
        <p:spPr>
          <a:xfrm>
            <a:off x="822960" y="5989320"/>
            <a:ext cx="10332720" cy="548640"/>
          </a:xfrm>
          <a:prstGeom prst="rect">
            <a:avLst/>
          </a:prstGeom>
          <a:noFill/>
          <a:ln/>
        </p:spPr>
        <p:txBody>
          <a:bodyPr wrap="square"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Thảo luận &amp; Q&amp;A — góp ý kiến trúc, phạm vi, phân công module</a:t>
            </a:r>
            <a:endParaRPr lang="en-US" sz="1250" dirty="0"/>
          </a:p>
        </p:txBody>
      </p:sp>
      <p:sp>
        <p:nvSpPr>
          <p:cNvPr id="22" name="Text 2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B8B9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3F83263-D8FA-4454-B94D-21665337DCD2}">
  <we:reference id="wa200010001" version="1.0.0.1" store="en-US" storeType="OMEX"/>
  <we:alternateReferences>
    <we:reference id="wa200010001" version="1.0.0.1" store="en-US" storeType="OMEX"/>
  </we:alternateReferences>
  <we:properties>
    <we:property name="claude.fileId" value="&quot;3090c931-5f8e-40e8-9ebc-c16a88bcbc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723</TotalTime>
  <Words>3054</Words>
  <Application>Microsoft Office PowerPoint</Application>
  <PresentationFormat>Widescreen</PresentationFormat>
  <Paragraphs>355</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Trung Can Dao</cp:lastModifiedBy>
  <cp:revision>2</cp:revision>
  <dcterms:created xsi:type="dcterms:W3CDTF">2026-08-17T10:59:43Z</dcterms:created>
  <dcterms:modified xsi:type="dcterms:W3CDTF">2026-08-17T23:07:22Z</dcterms:modified>
</cp:coreProperties>
</file>